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147475702" r:id="rId2"/>
    <p:sldId id="2147475703" r:id="rId3"/>
    <p:sldId id="2147475725" r:id="rId4"/>
    <p:sldId id="2147475803" r:id="rId5"/>
    <p:sldId id="2147475788" r:id="rId6"/>
    <p:sldId id="214747580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366" y="2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E32E7-9740-4D26-B555-6E71D043AFA8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9D01AD-9492-426A-814C-6AA2D1F5EE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87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ABB3F-6A25-4562-8DA4-E5AAFB86D05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616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AE300-B710-3B4B-24BE-1CCC90B8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93FB03-571B-8DC2-6058-BEBA8151C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82B343-B51D-E6B3-4A3D-CCF6B32D5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우리가 이렇게 제시해주면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MD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이렇게 활용할 수 있어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</a:t>
            </a:r>
            <a:r>
              <a:rPr lang="ko-KR" alt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얘기하고 싶고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성공 방정식 </a:t>
            </a:r>
            <a:r>
              <a:rPr lang="ko-KR" alt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제시해주겠따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우리가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</a:p>
          <a:p>
            <a:endParaRPr lang="en-US" altLang="ko-KR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112000"/>
              </a:lnSpc>
            </a:pPr>
            <a:r>
              <a:rPr kumimoji="1" lang="ko-KR" altLang="en-US" sz="12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급변하는 트렌드와 신상품 출시 속도로 인해</a:t>
            </a:r>
            <a:r>
              <a:rPr kumimoji="1" lang="en-US" altLang="ko-KR" sz="12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, </a:t>
            </a:r>
            <a:r>
              <a:rPr kumimoji="1" lang="en" altLang="ko-KR" sz="12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MD</a:t>
            </a:r>
            <a:r>
              <a:rPr kumimoji="1" lang="ko-KR" altLang="en-US" sz="12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는 </a:t>
            </a:r>
            <a:r>
              <a:rPr kumimoji="1" lang="en" altLang="ko-KR" sz="12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PB </a:t>
            </a:r>
            <a:r>
              <a:rPr kumimoji="1" lang="ko-KR" altLang="en-US" sz="12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상품 기획 과정에서 </a:t>
            </a:r>
            <a:endParaRPr kumimoji="1" lang="en-US" altLang="ko-KR" sz="1200"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50" charset="-127"/>
            </a:endParaRPr>
          </a:p>
          <a:p>
            <a:pPr>
              <a:lnSpc>
                <a:spcPct val="112000"/>
              </a:lnSpc>
            </a:pPr>
            <a:r>
              <a:rPr kumimoji="1" lang="ko-KR" altLang="en-US" sz="12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방대한 선택지와 높은 불확실성 속에서 직관적 판단에 의지해야 하는 어려움을 겪고 있습니다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E20728-809E-DBE1-391E-5581708F5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ABB3F-6A25-4562-8DA4-E5AAFB86D05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921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5491E-B686-CC94-B6DA-C84174204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6FDB0B-30E3-72EF-0026-3BC0165E2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C66FD7-8595-6105-7DCC-3F29DA7D4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각각 어떻게 사용됐는지 설명 + </a:t>
            </a:r>
            <a:r>
              <a:rPr lang="ko-KR" altLang="en-US" err="1"/>
              <a:t>전처리</a:t>
            </a:r>
            <a:r>
              <a:rPr lang="ko-KR" altLang="en-US"/>
              <a:t> 방법</a:t>
            </a:r>
          </a:p>
          <a:p>
            <a:r>
              <a:rPr lang="ko-KR" altLang="en-US"/>
              <a:t>1) POS 데이터: 상품별 판매 실적 및 매출 패턴 파악, </a:t>
            </a:r>
            <a:r>
              <a:rPr lang="ko-KR" altLang="en-US" err="1"/>
              <a:t>히트·부진</a:t>
            </a:r>
            <a:r>
              <a:rPr lang="ko-KR" altLang="en-US"/>
              <a:t> 상품 분류 기준으로 활용</a:t>
            </a:r>
          </a:p>
          <a:p>
            <a:r>
              <a:rPr lang="ko-KR" altLang="en-US"/>
              <a:t>2) 프로모션 데이터: 행사 여부에 따른 판매 변동성 보정, 순수 상품 경쟁력 분리</a:t>
            </a:r>
          </a:p>
          <a:p>
            <a:r>
              <a:rPr lang="ko-KR" altLang="en-US"/>
              <a:t>3) APP 데이터: 소비자 </a:t>
            </a:r>
            <a:r>
              <a:rPr lang="ko-KR" altLang="en-US" err="1"/>
              <a:t>탐색·구매</a:t>
            </a:r>
            <a:r>
              <a:rPr lang="ko-KR" altLang="en-US"/>
              <a:t> 행동 기반으로 관심 </a:t>
            </a:r>
            <a:r>
              <a:rPr lang="ko-KR" altLang="en-US" err="1"/>
              <a:t>상품군</a:t>
            </a:r>
            <a:r>
              <a:rPr lang="ko-KR" altLang="en-US"/>
              <a:t> 및 반응 패턴 확인 </a:t>
            </a:r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EC6476-B49A-93B9-23C7-E8F8433ED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ABB3F-6A25-4562-8DA4-E5AAFB86D05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94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6830-B97F-386D-27F4-4F94B5DE3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479A2B-5710-3418-90F6-BF09D0551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1EDF8C-97E8-3E33-133A-4747CA64F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각각 어떻게 사용됐는지 설명 + </a:t>
            </a:r>
            <a:r>
              <a:rPr lang="ko-KR" altLang="en-US" err="1"/>
              <a:t>전처리</a:t>
            </a:r>
            <a:r>
              <a:rPr lang="ko-KR" altLang="en-US"/>
              <a:t> 방법</a:t>
            </a:r>
          </a:p>
          <a:p>
            <a:r>
              <a:rPr lang="ko-KR" altLang="en-US"/>
              <a:t>1) POS 데이터: 상품별 판매 실적 및 매출 패턴 파악, </a:t>
            </a:r>
            <a:r>
              <a:rPr lang="ko-KR" altLang="en-US" err="1"/>
              <a:t>히트·부진</a:t>
            </a:r>
            <a:r>
              <a:rPr lang="ko-KR" altLang="en-US"/>
              <a:t> 상품 분류 기준으로 활용</a:t>
            </a:r>
          </a:p>
          <a:p>
            <a:r>
              <a:rPr lang="ko-KR" altLang="en-US"/>
              <a:t>2) 프로모션 데이터: 행사 여부에 따른 판매 변동성 보정, 순수 상품 경쟁력 분리</a:t>
            </a:r>
          </a:p>
          <a:p>
            <a:r>
              <a:rPr lang="ko-KR" altLang="en-US"/>
              <a:t>3) APP 데이터: 소비자 </a:t>
            </a:r>
            <a:r>
              <a:rPr lang="ko-KR" altLang="en-US" err="1"/>
              <a:t>탐색·구매</a:t>
            </a:r>
            <a:r>
              <a:rPr lang="ko-KR" altLang="en-US"/>
              <a:t> 행동 기반으로 관심 </a:t>
            </a:r>
            <a:r>
              <a:rPr lang="ko-KR" altLang="en-US" err="1"/>
              <a:t>상품군</a:t>
            </a:r>
            <a:r>
              <a:rPr lang="ko-KR" altLang="en-US"/>
              <a:t> 및 반응 패턴 확인 </a:t>
            </a:r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0F3AD7-CBF2-FF1C-B685-BD1304C8C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ABB3F-6A25-4562-8DA4-E5AAFB86D05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461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Transformer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ABB3F-6A25-4562-8DA4-E5AAFB86D05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862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8D994-0805-4BB0-F186-A719D0844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22E1F8-947C-B3E8-D95F-7DFF49511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F5DB7F-7E3B-D01D-C7A1-FE9B03811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EA8D-B277-4A27-97ED-8BFB35478C03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5F2E9-C36B-346B-25F3-C7F7B1DE3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7F1D47-93D4-8A7E-7BF3-8E5A81846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26CA9-5465-4126-9B0E-11BEF324E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683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439F6-4E23-E6B5-46A4-2AD220D68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8C7359-C594-E0A8-B8F8-9DD7364F2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039752-5FCE-AB80-CF86-3714D871E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EA8D-B277-4A27-97ED-8BFB35478C03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B0C7DE-ED70-8A44-C358-53794521D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4C0794-3844-B93A-B8DE-A092891DC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26CA9-5465-4126-9B0E-11BEF324E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043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4AEA6-E6B4-6E1D-9840-4DC37DDD1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776F64-E18C-2207-FF21-25617E2DF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A461A6-8D43-CC4A-5C0F-EB2D78B8A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EA8D-B277-4A27-97ED-8BFB35478C03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02546A-EB05-8AD2-A4BF-13566C74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AFE96F-3F61-4512-6BC3-5215F6A28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26CA9-5465-4126-9B0E-11BEF324E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165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C4DF6D-5E7D-4B96-AEA1-489F9171A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1B4600-DFF1-590A-60B5-9396F77E23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F9BBCA-0640-6258-C33C-912007796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BE6103-321A-8265-1CC5-CA24B3DE3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EA8D-B277-4A27-97ED-8BFB35478C03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735C19-5B35-AD54-FC3A-FC607E5C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456EA9-C9E6-95AC-5F75-807155D82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26CA9-5465-4126-9B0E-11BEF324E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127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E4256A-D305-C95E-1963-7E57C1ABD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008511-1071-DB7F-AEC6-A0F98D1A4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30D848-BE70-54D9-DDA6-545408307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B928710-B049-3A80-4DE7-24DC3C3D64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F3553BC-A675-32EF-762F-D0651DC149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1C267E4-131B-125A-57C4-C9B31C3E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EA8D-B277-4A27-97ED-8BFB35478C03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726F09-3548-D3A7-DBBC-486A27BAC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F8C3B8-913C-8674-45F0-C2B63E54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26CA9-5465-4126-9B0E-11BEF324E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13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9F01E2-2CB1-22B4-43D6-253E1D692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C57BC3-69F1-C60C-FD6D-31261A46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EA8D-B277-4A27-97ED-8BFB35478C03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3629A3-DE33-AE09-1DA5-9CF61DFE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BCF3ED-3098-423B-52FB-88B1A4796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26CA9-5465-4126-9B0E-11BEF324E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453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31F29B7-E1A0-856E-C6E5-AC19AAAB4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EA8D-B277-4A27-97ED-8BFB35478C03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043E50-7DF3-2FAE-07B1-FBD51B2BE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E127F9-ACCB-8C1C-4B7D-74C776988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26CA9-5465-4126-9B0E-11BEF324E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30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53A608-A6E2-AED1-C05C-A8B333C6D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BD111E-ABF8-6232-2A5F-CD1E00C16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924E2D-6FCA-17E6-D2BF-C440F2CAB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67613A-C0B5-578B-A13A-74D307AD2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EA8D-B277-4A27-97ED-8BFB35478C03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EDD99C-09FE-FBAD-5ED3-4E6D136B6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B284A6-4208-6FC8-15F2-3129233B5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26CA9-5465-4126-9B0E-11BEF324E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988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C9C7EE-2083-A146-2487-EC385887A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00C922-D621-C804-3B1C-3C2DE5D4A1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B0D8EE-DF39-7DD4-033F-BDE6D88A9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058B6C-5973-51B2-49F5-033B1B7C8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EA8D-B277-4A27-97ED-8BFB35478C03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B126BC-C2F5-BB07-6CD4-94EAD496A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8BD1D7-8105-B277-727F-065B71948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26CA9-5465-4126-9B0E-11BEF324E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875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6EF52D-9C8A-C87B-276E-B905E75A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5F24E2-A100-16B2-B210-D67956CFA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6DBDDB-87CF-86E2-5044-CBB373CF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EA8D-B277-4A27-97ED-8BFB35478C03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C151A2-DD87-E85A-C0F0-FB746F0A4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8B3EE6-67F1-D338-B83F-18E7F409F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26CA9-5465-4126-9B0E-11BEF324E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500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5FAC613-7834-E105-1117-86EFA2B99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079508-00A7-D298-996B-8451F5D00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6E567F-EC93-7AEC-DFF2-D00981838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EA8D-B277-4A27-97ED-8BFB35478C03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B4FC8F-F8BB-F3FF-F639-F19648A97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5D28A0-CC3F-1309-9509-349D7B97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26CA9-5465-4126-9B0E-11BEF324E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377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8F93419-E7E8-5424-572F-55BAA6A95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B8C616-12B4-26F3-E8CD-D1FBC1921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5E9B15-1FBE-3011-38B5-F49F5C683C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8EA8D-B277-4A27-97ED-8BFB35478C03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BFD306-235B-A8A8-15EB-EEF2EB7D7B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13FB72-B6D8-FEAB-1241-B56D4C4AE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F26CA9-5465-4126-9B0E-11BEF324E8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72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3366423.3380027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" Type="http://schemas.openxmlformats.org/officeDocument/2006/relationships/image" Target="../media/image6.png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04132-8E26-A3CE-7BCC-0DE124B4F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18AEB4C-FC7A-03BB-394C-8120ED3C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A2888-50A6-4659-9E30-8B27A4C58FE7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8DC1A5-11BC-B046-44E0-03AD8B9214F1}"/>
              </a:ext>
            </a:extLst>
          </p:cNvPr>
          <p:cNvSpPr txBox="1"/>
          <p:nvPr/>
        </p:nvSpPr>
        <p:spPr>
          <a:xfrm>
            <a:off x="518319" y="862399"/>
            <a:ext cx="11157744" cy="755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2000"/>
              </a:lnSpc>
            </a:pPr>
            <a:r>
              <a:rPr kumimoji="1" lang="en-US" altLang="ko-KR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PB </a:t>
            </a: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상품 기획 단계에서 발생하는 구조적 문제를 진단하고</a:t>
            </a:r>
            <a:r>
              <a:rPr kumimoji="1" lang="en-US" altLang="ko-KR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,</a:t>
            </a:r>
          </a:p>
          <a:p>
            <a:pPr>
              <a:lnSpc>
                <a:spcPct val="112000"/>
              </a:lnSpc>
            </a:pP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성공 요인의 데이터화를 통해 </a:t>
            </a:r>
            <a:r>
              <a:rPr kumimoji="1" lang="en-US" altLang="ko-KR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MD</a:t>
            </a: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의 기획 의사결정 전 과정을 지원하는 방향으로 분석 방향을 수립했습니다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000662-A561-13C5-6C24-6F335DF62548}"/>
              </a:ext>
            </a:extLst>
          </p:cNvPr>
          <p:cNvSpPr txBox="1"/>
          <p:nvPr/>
        </p:nvSpPr>
        <p:spPr>
          <a:xfrm>
            <a:off x="518317" y="407377"/>
            <a:ext cx="6815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10B981"/>
                </a:solidFill>
                <a:latin typeface="프리젠테이션 6 SemiBold" pitchFamily="2" charset="-127"/>
                <a:ea typeface="프리젠테이션 6 SemiBold" pitchFamily="2" charset="-127"/>
              </a:rPr>
              <a:t>문제 분석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70C39670-F602-3DA1-147E-E618C20423DC}"/>
              </a:ext>
            </a:extLst>
          </p:cNvPr>
          <p:cNvGraphicFramePr>
            <a:graphicFrameLocks/>
          </p:cNvGraphicFramePr>
          <p:nvPr/>
        </p:nvGraphicFramePr>
        <p:xfrm>
          <a:off x="624000" y="2365384"/>
          <a:ext cx="5649583" cy="2055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640">
                  <a:extLst>
                    <a:ext uri="{9D8B030D-6E8A-4147-A177-3AD203B41FA5}">
                      <a16:colId xmlns:a16="http://schemas.microsoft.com/office/drawing/2014/main" val="959709793"/>
                    </a:ext>
                  </a:extLst>
                </a:gridCol>
                <a:gridCol w="2538130">
                  <a:extLst>
                    <a:ext uri="{9D8B030D-6E8A-4147-A177-3AD203B41FA5}">
                      <a16:colId xmlns:a16="http://schemas.microsoft.com/office/drawing/2014/main" val="2989273921"/>
                    </a:ext>
                  </a:extLst>
                </a:gridCol>
                <a:gridCol w="2678813">
                  <a:extLst>
                    <a:ext uri="{9D8B030D-6E8A-4147-A177-3AD203B41FA5}">
                      <a16:colId xmlns:a16="http://schemas.microsoft.com/office/drawing/2014/main" val="25881183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bg1"/>
                        </a:solidFill>
                        <a:latin typeface="프리젠테이션 6 SemiBold" pitchFamily="2" charset="-127"/>
                        <a:ea typeface="프리젠테이션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chemeClr val="bg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인사이트 발굴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chemeClr val="bg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실행</a:t>
                      </a:r>
                      <a:r>
                        <a:rPr lang="en-US" altLang="ko-KR" sz="1200" b="0">
                          <a:solidFill>
                            <a:schemeClr val="bg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 </a:t>
                      </a:r>
                      <a:r>
                        <a:rPr lang="ko-KR" altLang="en-US" sz="1200" b="0">
                          <a:solidFill>
                            <a:schemeClr val="bg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체계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279068"/>
                  </a:ext>
                </a:extLst>
              </a:tr>
              <a:tr h="8907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chemeClr val="bg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성공</a:t>
                      </a:r>
                      <a:endParaRPr lang="en-US" altLang="ko-KR" sz="1200" b="0">
                        <a:solidFill>
                          <a:schemeClr val="bg1"/>
                        </a:solidFill>
                        <a:latin typeface="프리젠테이션 6 SemiBold" pitchFamily="2" charset="-127"/>
                        <a:ea typeface="프리젠테이션 6 SemiBold" pitchFamily="2" charset="-127"/>
                      </a:endParaRPr>
                    </a:p>
                    <a:p>
                      <a:pPr algn="ctr" latinLnBrk="1"/>
                      <a:r>
                        <a:rPr lang="ko-KR" altLang="en-US" sz="1200" b="0">
                          <a:solidFill>
                            <a:schemeClr val="bg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상품</a:t>
                      </a:r>
                      <a:endParaRPr lang="en-US" altLang="ko-KR" sz="1200" b="0">
                        <a:solidFill>
                          <a:schemeClr val="bg1"/>
                        </a:solidFill>
                        <a:latin typeface="프리젠테이션 6 SemiBold" pitchFamily="2" charset="-127"/>
                        <a:ea typeface="프리젠테이션 6 SemiBold" pitchFamily="2" charset="-127"/>
                      </a:endParaRPr>
                    </a:p>
                    <a:p>
                      <a:pPr algn="ctr" latinLnBrk="1"/>
                      <a:r>
                        <a:rPr lang="ko-KR" altLang="en-US" sz="1200" b="0">
                          <a:solidFill>
                            <a:schemeClr val="bg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관리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[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히트 상품 성공 요인 고도화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]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프리젠테이션 6 SemiBold" pitchFamily="2" charset="-127"/>
                        <a:ea typeface="프리젠테이션 6 SemiBold" pitchFamily="2" charset="-127"/>
                      </a:endParaRPr>
                    </a:p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잘 팔린 상품의 성공 요인이 데이터로</a:t>
                      </a:r>
                    </a:p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정리되지 않아 다음 기획으로 이어질</a:t>
                      </a:r>
                    </a:p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구조화된 인사이트 축적이 필요함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프리젠테이션 6 SemiBold" pitchFamily="2" charset="-127"/>
                          <a:ea typeface="프리젠테이션 6 SemiBold" pitchFamily="2" charset="-127"/>
                        </a:rPr>
                        <a:t>[ </a:t>
                      </a:r>
                      <a:r>
                        <a:rPr lang="ko-KR" altLang="en-US" sz="1200">
                          <a:latin typeface="프리젠테이션 6 SemiBold" pitchFamily="2" charset="-127"/>
                          <a:ea typeface="프리젠테이션 6 SemiBold" pitchFamily="2" charset="-127"/>
                        </a:rPr>
                        <a:t>기획 자산의 체계적 활용 </a:t>
                      </a:r>
                      <a:r>
                        <a:rPr lang="en-US" altLang="ko-KR" sz="1200">
                          <a:latin typeface="프리젠테이션 6 SemiBold" pitchFamily="2" charset="-127"/>
                          <a:ea typeface="프리젠테이션 6 SemiBold" pitchFamily="2" charset="-127"/>
                        </a:rPr>
                        <a:t>]</a:t>
                      </a:r>
                    </a:p>
                    <a:p>
                      <a:pPr algn="ctr" latinLnBrk="1"/>
                      <a:r>
                        <a:rPr lang="ko-KR" altLang="en-US" sz="1200">
                          <a:latin typeface="프리젠테이션 3 Light" pitchFamily="2" charset="-127"/>
                          <a:ea typeface="프리젠테이션 3 Light" pitchFamily="2" charset="-127"/>
                        </a:rPr>
                        <a:t>우수 기획안이 제약으로 무산될 때</a:t>
                      </a:r>
                      <a:endParaRPr lang="en-US" altLang="ko-KR" sz="120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  <a:p>
                      <a:pPr algn="ctr" latinLnBrk="1"/>
                      <a:r>
                        <a:rPr lang="ko-KR" altLang="en-US" sz="1200">
                          <a:latin typeface="프리젠테이션 3 Light" pitchFamily="2" charset="-127"/>
                          <a:ea typeface="프리젠테이션 3 Light" pitchFamily="2" charset="-127"/>
                        </a:rPr>
                        <a:t>이를 재활용하는 체계가 없어</a:t>
                      </a:r>
                      <a:endParaRPr lang="en-US" altLang="ko-KR" sz="120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  <a:p>
                      <a:pPr algn="ctr" latinLnBrk="1"/>
                      <a:r>
                        <a:rPr lang="ko-KR" altLang="en-US" sz="1200">
                          <a:latin typeface="프리젠테이션 3 Light" pitchFamily="2" charset="-127"/>
                          <a:ea typeface="프리젠테이션 3 Light" pitchFamily="2" charset="-127"/>
                        </a:rPr>
                        <a:t>노하우가 사장되는 경우가 발생함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391907"/>
                  </a:ext>
                </a:extLst>
              </a:tr>
              <a:tr h="8907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chemeClr val="bg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신규</a:t>
                      </a:r>
                      <a:endParaRPr lang="en-US" altLang="ko-KR" sz="1200" b="0">
                        <a:solidFill>
                          <a:schemeClr val="bg1"/>
                        </a:solidFill>
                        <a:latin typeface="프리젠테이션 6 SemiBold" pitchFamily="2" charset="-127"/>
                        <a:ea typeface="프리젠테이션 6 SemiBold" pitchFamily="2" charset="-127"/>
                      </a:endParaRPr>
                    </a:p>
                    <a:p>
                      <a:pPr algn="ctr" latinLnBrk="1"/>
                      <a:r>
                        <a:rPr lang="ko-KR" altLang="en-US" sz="1200" b="0">
                          <a:solidFill>
                            <a:schemeClr val="bg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기획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[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트렌드 선별 기준 고도화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]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프리젠테이션 6 SemiBold" pitchFamily="2" charset="-127"/>
                        <a:ea typeface="프리젠테이션 6 SemiBold" pitchFamily="2" charset="-127"/>
                      </a:endParaRPr>
                    </a:p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다양한 트렌드 중 실제 구매로</a:t>
                      </a:r>
                    </a:p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이어질 키워드를 선별하는</a:t>
                      </a:r>
                    </a:p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데이터 기반 기준 마련이 필요함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[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기획 판단 기준의 일관성 강화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]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프리젠테이션 6 SemiBold" pitchFamily="2" charset="-127"/>
                        <a:ea typeface="프리젠테이션 6 SemiBold" pitchFamily="2" charset="-127"/>
                      </a:endParaRPr>
                    </a:p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담당자별로 상이한 기획 판단 기준을</a:t>
                      </a:r>
                    </a:p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조직 전반이 공유할 수 있는</a:t>
                      </a:r>
                    </a:p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일관된 의사결정 체계가 필요함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381155"/>
                  </a:ext>
                </a:extLst>
              </a:tr>
            </a:tbl>
          </a:graphicData>
        </a:graphic>
      </p:graphicFrame>
      <p:sp>
        <p:nvSpPr>
          <p:cNvPr id="88" name="직사각형 87">
            <a:extLst>
              <a:ext uri="{FF2B5EF4-FFF2-40B4-BE49-F238E27FC236}">
                <a16:creationId xmlns:a16="http://schemas.microsoft.com/office/drawing/2014/main" id="{5C5CF0D4-7C30-10A9-4FB2-C4684B458087}"/>
              </a:ext>
            </a:extLst>
          </p:cNvPr>
          <p:cNvSpPr/>
          <p:nvPr/>
        </p:nvSpPr>
        <p:spPr>
          <a:xfrm>
            <a:off x="8934506" y="2365384"/>
            <a:ext cx="2633493" cy="985520"/>
          </a:xfrm>
          <a:prstGeom prst="rect">
            <a:avLst/>
          </a:prstGeom>
          <a:solidFill>
            <a:schemeClr val="bg1"/>
          </a:solidFill>
          <a:ln w="12700">
            <a:solidFill>
              <a:srgbClr val="10B98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히트 상품의 성공 요인을 체계화하여</a:t>
            </a:r>
            <a:endParaRPr lang="en-US" altLang="ko-KR" sz="1300">
              <a:solidFill>
                <a:srgbClr val="3F3F3F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algn="ctr"/>
            <a:r>
              <a:rPr lang="ko-KR" altLang="en-US" sz="13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다음 기획으로 연결할 수 있을까</a:t>
            </a:r>
            <a:r>
              <a:rPr lang="en-US" altLang="ko-KR" sz="13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?</a:t>
            </a:r>
            <a:endParaRPr lang="ko-KR" altLang="en-US" sz="1300">
              <a:solidFill>
                <a:srgbClr val="3F3F3F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E1C2D9F-A379-0028-20C6-CF5A25D52FF8}"/>
              </a:ext>
            </a:extLst>
          </p:cNvPr>
          <p:cNvSpPr/>
          <p:nvPr/>
        </p:nvSpPr>
        <p:spPr>
          <a:xfrm>
            <a:off x="8934506" y="3435646"/>
            <a:ext cx="2633493" cy="985520"/>
          </a:xfrm>
          <a:prstGeom prst="rect">
            <a:avLst/>
          </a:prstGeom>
          <a:solidFill>
            <a:schemeClr val="bg1"/>
          </a:solidFill>
          <a:ln w="12700">
            <a:solidFill>
              <a:srgbClr val="10B98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트렌드 실효성을 검증하고</a:t>
            </a:r>
          </a:p>
          <a:p>
            <a:pPr algn="ctr"/>
            <a:r>
              <a:rPr lang="ko-KR" altLang="en-US" sz="13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일관된 기획 기준으로</a:t>
            </a:r>
          </a:p>
          <a:p>
            <a:pPr algn="ctr"/>
            <a:r>
              <a:rPr lang="ko-KR" altLang="en-US" sz="13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신제품을 발굴할 수 있을까</a:t>
            </a:r>
            <a:r>
              <a:rPr lang="en-US" altLang="ko-KR" sz="13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?</a:t>
            </a:r>
            <a:endParaRPr lang="ko-KR" altLang="en-US" sz="1300" err="1">
              <a:solidFill>
                <a:srgbClr val="3F3F3F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91" name="이등변 삼각형 90">
            <a:extLst>
              <a:ext uri="{FF2B5EF4-FFF2-40B4-BE49-F238E27FC236}">
                <a16:creationId xmlns:a16="http://schemas.microsoft.com/office/drawing/2014/main" id="{F262DDB6-B87B-B39D-3B2C-3B041A9E0814}"/>
              </a:ext>
            </a:extLst>
          </p:cNvPr>
          <p:cNvSpPr/>
          <p:nvPr/>
        </p:nvSpPr>
        <p:spPr>
          <a:xfrm rot="5400000">
            <a:off x="6063180" y="5756996"/>
            <a:ext cx="985520" cy="401737"/>
          </a:xfrm>
          <a:prstGeom prst="triangle">
            <a:avLst/>
          </a:prstGeom>
          <a:gradFill flip="none" rotWithShape="1">
            <a:gsLst>
              <a:gs pos="0">
                <a:srgbClr val="EF4444">
                  <a:alpha val="0"/>
                </a:srgbClr>
              </a:gs>
              <a:gs pos="100000">
                <a:srgbClr val="EF4444">
                  <a:alpha val="2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err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93" name="이등변 삼각형 92">
            <a:extLst>
              <a:ext uri="{FF2B5EF4-FFF2-40B4-BE49-F238E27FC236}">
                <a16:creationId xmlns:a16="http://schemas.microsoft.com/office/drawing/2014/main" id="{393BFD11-8172-D4B5-2158-65EF478FD4D0}"/>
              </a:ext>
            </a:extLst>
          </p:cNvPr>
          <p:cNvSpPr/>
          <p:nvPr/>
        </p:nvSpPr>
        <p:spPr>
          <a:xfrm rot="10800000">
            <a:off x="9067612" y="4561525"/>
            <a:ext cx="2367280" cy="410141"/>
          </a:xfrm>
          <a:prstGeom prst="triangle">
            <a:avLst/>
          </a:prstGeom>
          <a:gradFill flip="none" rotWithShape="1">
            <a:gsLst>
              <a:gs pos="0">
                <a:srgbClr val="EF4444">
                  <a:alpha val="0"/>
                </a:srgbClr>
              </a:gs>
              <a:gs pos="100000">
                <a:srgbClr val="EF4444">
                  <a:alpha val="2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err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9CD75727-631F-AE00-06CC-19D30C1585A1}"/>
              </a:ext>
            </a:extLst>
          </p:cNvPr>
          <p:cNvGrpSpPr/>
          <p:nvPr/>
        </p:nvGrpSpPr>
        <p:grpSpPr>
          <a:xfrm>
            <a:off x="6411781" y="2753810"/>
            <a:ext cx="2454885" cy="527837"/>
            <a:chOff x="6411781" y="2704783"/>
            <a:chExt cx="2454885" cy="527837"/>
          </a:xfrm>
        </p:grpSpPr>
        <p:sp>
          <p:nvSpPr>
            <p:cNvPr id="27" name="화살표: 오른쪽 26">
              <a:extLst>
                <a:ext uri="{FF2B5EF4-FFF2-40B4-BE49-F238E27FC236}">
                  <a16:creationId xmlns:a16="http://schemas.microsoft.com/office/drawing/2014/main" id="{F737ADCD-9A11-75D2-482B-5D4F2A42171A}"/>
                </a:ext>
              </a:extLst>
            </p:cNvPr>
            <p:cNvSpPr/>
            <p:nvPr/>
          </p:nvSpPr>
          <p:spPr>
            <a:xfrm>
              <a:off x="6411781" y="2804090"/>
              <a:ext cx="288000" cy="360000"/>
            </a:xfrm>
            <a:prstGeom prst="rightArrow">
              <a:avLst/>
            </a:prstGeom>
            <a:gradFill flip="none" rotWithShape="1">
              <a:gsLst>
                <a:gs pos="0">
                  <a:srgbClr val="10B981">
                    <a:alpha val="0"/>
                  </a:srgbClr>
                </a:gs>
                <a:gs pos="100000">
                  <a:srgbClr val="10B981">
                    <a:alpha val="75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err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8F704DE5-52C5-F247-B753-5D9EFA474398}"/>
                </a:ext>
              </a:extLst>
            </p:cNvPr>
            <p:cNvGrpSpPr/>
            <p:nvPr/>
          </p:nvGrpSpPr>
          <p:grpSpPr>
            <a:xfrm>
              <a:off x="6729542" y="2704783"/>
              <a:ext cx="2137124" cy="527837"/>
              <a:chOff x="6645424" y="2665040"/>
              <a:chExt cx="2137124" cy="527837"/>
            </a:xfrm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40F4061D-C687-015B-A775-9D3DA1E2A295}"/>
                  </a:ext>
                </a:extLst>
              </p:cNvPr>
              <p:cNvSpPr/>
              <p:nvPr/>
            </p:nvSpPr>
            <p:spPr>
              <a:xfrm>
                <a:off x="6753860" y="2665040"/>
                <a:ext cx="1920240" cy="253996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>
                    <a:solidFill>
                      <a:schemeClr val="bg1"/>
                    </a:solidFill>
                    <a:latin typeface="프리젠테이션 6 SemiBold" pitchFamily="2" charset="-127"/>
                    <a:ea typeface="프리젠테이션 6 SemiBold" pitchFamily="2" charset="-127"/>
                  </a:rPr>
                  <a:t>Key Question 1</a:t>
                </a:r>
                <a:endParaRPr lang="ko-KR" altLang="en-US" sz="1200">
                  <a:solidFill>
                    <a:schemeClr val="bg1"/>
                  </a:solidFill>
                  <a:latin typeface="프리젠테이션 6 SemiBold" pitchFamily="2" charset="-127"/>
                  <a:ea typeface="프리젠테이션 6 SemiBold" pitchFamily="2" charset="-127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A565EF9-3A05-0CF6-2C60-641A52895AA3}"/>
                  </a:ext>
                </a:extLst>
              </p:cNvPr>
              <p:cNvSpPr txBox="1"/>
              <p:nvPr/>
            </p:nvSpPr>
            <p:spPr>
              <a:xfrm>
                <a:off x="6645424" y="2946656"/>
                <a:ext cx="21371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000">
                    <a:latin typeface="프리젠테이션 6 SemiBold" pitchFamily="2" charset="-127"/>
                    <a:ea typeface="프리젠테이션 6 SemiBold" pitchFamily="2" charset="-127"/>
                  </a:rPr>
                  <a:t>성공 상품 관리 </a:t>
                </a:r>
                <a:r>
                  <a:rPr lang="en-US" altLang="ko-KR" sz="1000">
                    <a:latin typeface="프리젠테이션 6 SemiBold" pitchFamily="2" charset="-127"/>
                    <a:ea typeface="프리젠테이션 6 SemiBold" pitchFamily="2" charset="-127"/>
                  </a:rPr>
                  <a:t>× </a:t>
                </a:r>
                <a:r>
                  <a:rPr lang="ko-KR" altLang="en-US" sz="1000">
                    <a:latin typeface="프리젠테이션 6 SemiBold" pitchFamily="2" charset="-127"/>
                    <a:ea typeface="프리젠테이션 6 SemiBold" pitchFamily="2" charset="-127"/>
                  </a:rPr>
                  <a:t>인사이트 발굴 </a:t>
                </a:r>
                <a:r>
                  <a:rPr lang="en-US" altLang="ko-KR" sz="1000">
                    <a:latin typeface="프리젠테이션 6 SemiBold" pitchFamily="2" charset="-127"/>
                    <a:ea typeface="프리젠테이션 6 SemiBold" pitchFamily="2" charset="-127"/>
                  </a:rPr>
                  <a:t>+ </a:t>
                </a:r>
                <a:r>
                  <a:rPr lang="ko-KR" altLang="en-US" sz="1000">
                    <a:latin typeface="프리젠테이션 6 SemiBold" pitchFamily="2" charset="-127"/>
                    <a:ea typeface="프리젠테이션 6 SemiBold" pitchFamily="2" charset="-127"/>
                  </a:rPr>
                  <a:t>실행 체계</a:t>
                </a:r>
              </a:p>
            </p:txBody>
          </p:sp>
        </p:grp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36EC8125-E371-EB28-6F6B-3412ED0BE17D}"/>
              </a:ext>
            </a:extLst>
          </p:cNvPr>
          <p:cNvGrpSpPr/>
          <p:nvPr/>
        </p:nvGrpSpPr>
        <p:grpSpPr>
          <a:xfrm>
            <a:off x="6411781" y="3754887"/>
            <a:ext cx="2454883" cy="527837"/>
            <a:chOff x="6411781" y="3841242"/>
            <a:chExt cx="2454883" cy="527837"/>
          </a:xfrm>
        </p:grpSpPr>
        <p:sp>
          <p:nvSpPr>
            <p:cNvPr id="97" name="화살표: 오른쪽 96">
              <a:extLst>
                <a:ext uri="{FF2B5EF4-FFF2-40B4-BE49-F238E27FC236}">
                  <a16:creationId xmlns:a16="http://schemas.microsoft.com/office/drawing/2014/main" id="{A34B3960-86B5-AE35-6F4A-09FF060B0EB0}"/>
                </a:ext>
              </a:extLst>
            </p:cNvPr>
            <p:cNvSpPr/>
            <p:nvPr/>
          </p:nvSpPr>
          <p:spPr>
            <a:xfrm>
              <a:off x="6411781" y="3940549"/>
              <a:ext cx="288000" cy="360000"/>
            </a:xfrm>
            <a:prstGeom prst="rightArrow">
              <a:avLst/>
            </a:prstGeom>
            <a:gradFill flip="none" rotWithShape="1">
              <a:gsLst>
                <a:gs pos="0">
                  <a:srgbClr val="10B981">
                    <a:alpha val="0"/>
                  </a:srgbClr>
                </a:gs>
                <a:gs pos="100000">
                  <a:srgbClr val="10B981">
                    <a:alpha val="75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err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582B6056-D06D-F2E2-02B8-41083DF58B38}"/>
                </a:ext>
              </a:extLst>
            </p:cNvPr>
            <p:cNvGrpSpPr/>
            <p:nvPr/>
          </p:nvGrpSpPr>
          <p:grpSpPr>
            <a:xfrm>
              <a:off x="6729540" y="3841242"/>
              <a:ext cx="2137124" cy="527837"/>
              <a:chOff x="6645422" y="2665040"/>
              <a:chExt cx="2137124" cy="527837"/>
            </a:xfrm>
          </p:grpSpPr>
          <p:sp>
            <p:nvSpPr>
              <p:cNvPr id="99" name="사각형: 둥근 모서리 98">
                <a:extLst>
                  <a:ext uri="{FF2B5EF4-FFF2-40B4-BE49-F238E27FC236}">
                    <a16:creationId xmlns:a16="http://schemas.microsoft.com/office/drawing/2014/main" id="{F4B4CDCC-F59E-A58A-2318-40D920C0BA5A}"/>
                  </a:ext>
                </a:extLst>
              </p:cNvPr>
              <p:cNvSpPr/>
              <p:nvPr/>
            </p:nvSpPr>
            <p:spPr>
              <a:xfrm>
                <a:off x="6753860" y="2665040"/>
                <a:ext cx="1920240" cy="253996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>
                    <a:solidFill>
                      <a:schemeClr val="bg1"/>
                    </a:solidFill>
                    <a:latin typeface="프리젠테이션 6 SemiBold" pitchFamily="2" charset="-127"/>
                    <a:ea typeface="프리젠테이션 6 SemiBold" pitchFamily="2" charset="-127"/>
                  </a:rPr>
                  <a:t>Key Question 2</a:t>
                </a:r>
                <a:endParaRPr lang="ko-KR" altLang="en-US" sz="1200">
                  <a:solidFill>
                    <a:schemeClr val="bg1"/>
                  </a:solidFill>
                  <a:latin typeface="프리젠테이션 6 SemiBold" pitchFamily="2" charset="-127"/>
                  <a:ea typeface="프리젠테이션 6 SemiBold" pitchFamily="2" charset="-127"/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9B3FC7E-0CCE-21A3-6C87-D6F4B2DDCC67}"/>
                  </a:ext>
                </a:extLst>
              </p:cNvPr>
              <p:cNvSpPr txBox="1"/>
              <p:nvPr/>
            </p:nvSpPr>
            <p:spPr>
              <a:xfrm>
                <a:off x="6645422" y="2946656"/>
                <a:ext cx="21371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000">
                    <a:latin typeface="프리젠테이션 6 SemiBold" pitchFamily="2" charset="-127"/>
                    <a:ea typeface="프리젠테이션 6 SemiBold" pitchFamily="2" charset="-127"/>
                  </a:rPr>
                  <a:t>신규 기획 발굴 </a:t>
                </a:r>
                <a:r>
                  <a:rPr lang="en-US" altLang="ko-KR" sz="1000">
                    <a:latin typeface="프리젠테이션 6 SemiBold" pitchFamily="2" charset="-127"/>
                    <a:ea typeface="프리젠테이션 6 SemiBold" pitchFamily="2" charset="-127"/>
                  </a:rPr>
                  <a:t>× </a:t>
                </a:r>
                <a:r>
                  <a:rPr lang="ko-KR" altLang="en-US" sz="1000">
                    <a:latin typeface="프리젠테이션 6 SemiBold" pitchFamily="2" charset="-127"/>
                    <a:ea typeface="프리젠테이션 6 SemiBold" pitchFamily="2" charset="-127"/>
                  </a:rPr>
                  <a:t>인사이트 발굴 </a:t>
                </a:r>
                <a:r>
                  <a:rPr lang="en-US" altLang="ko-KR" sz="1000">
                    <a:latin typeface="프리젠테이션 6 SemiBold" pitchFamily="2" charset="-127"/>
                    <a:ea typeface="프리젠테이션 6 SemiBold" pitchFamily="2" charset="-127"/>
                  </a:rPr>
                  <a:t>+ </a:t>
                </a:r>
                <a:r>
                  <a:rPr lang="ko-KR" altLang="en-US" sz="1000">
                    <a:latin typeface="프리젠테이션 6 SemiBold" pitchFamily="2" charset="-127"/>
                    <a:ea typeface="프리젠테이션 6 SemiBold" pitchFamily="2" charset="-127"/>
                  </a:rPr>
                  <a:t>실행 체계</a:t>
                </a:r>
              </a:p>
            </p:txBody>
          </p:sp>
        </p:grpSp>
      </p:grp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3CC28EEC-7EF8-C5E5-22CB-EBFCFDCC858E}"/>
              </a:ext>
            </a:extLst>
          </p:cNvPr>
          <p:cNvSpPr/>
          <p:nvPr/>
        </p:nvSpPr>
        <p:spPr>
          <a:xfrm rot="5400000">
            <a:off x="2073438" y="4489501"/>
            <a:ext cx="288000" cy="360000"/>
          </a:xfrm>
          <a:prstGeom prst="rightArrow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100000">
                <a:srgbClr val="10B981">
                  <a:alpha val="7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err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3919CDE-FE77-6ABC-745E-0895DE472C66}"/>
              </a:ext>
            </a:extLst>
          </p:cNvPr>
          <p:cNvSpPr/>
          <p:nvPr/>
        </p:nvSpPr>
        <p:spPr>
          <a:xfrm>
            <a:off x="899838" y="5465103"/>
            <a:ext cx="2635200" cy="985520"/>
          </a:xfrm>
          <a:prstGeom prst="rect">
            <a:avLst/>
          </a:prstGeom>
          <a:solidFill>
            <a:schemeClr val="bg1"/>
          </a:solidFill>
          <a:ln w="12700">
            <a:solidFill>
              <a:srgbClr val="10B98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성공</a:t>
            </a:r>
            <a:r>
              <a:rPr lang="en-US" altLang="ko-KR" sz="13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·</a:t>
            </a:r>
            <a:r>
              <a:rPr lang="ko-KR" altLang="en-US" sz="13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트렌드 인사이트를 결합해</a:t>
            </a:r>
          </a:p>
          <a:p>
            <a:pPr algn="ctr"/>
            <a:r>
              <a:rPr lang="ko-KR" altLang="en-US" sz="13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신제품 기획의 성공 가능성을</a:t>
            </a:r>
          </a:p>
          <a:p>
            <a:pPr algn="ctr"/>
            <a:r>
              <a:rPr lang="ko-KR" altLang="en-US" sz="13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사전에 높일 수 있을까</a:t>
            </a:r>
            <a:r>
              <a:rPr lang="en-US" altLang="ko-KR" sz="13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?</a:t>
            </a:r>
            <a:endParaRPr lang="ko-KR" altLang="en-US" sz="1300">
              <a:solidFill>
                <a:srgbClr val="3F3F3F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5B347BD6-9987-861E-CE48-117AE9C3EAC6}"/>
              </a:ext>
            </a:extLst>
          </p:cNvPr>
          <p:cNvGrpSpPr/>
          <p:nvPr/>
        </p:nvGrpSpPr>
        <p:grpSpPr>
          <a:xfrm>
            <a:off x="1039071" y="4858352"/>
            <a:ext cx="2356735" cy="527837"/>
            <a:chOff x="6535611" y="2665040"/>
            <a:chExt cx="2356735" cy="527837"/>
          </a:xfrm>
        </p:grpSpPr>
        <p:sp>
          <p:nvSpPr>
            <p:cNvPr id="102" name="사각형: 둥근 모서리 101">
              <a:extLst>
                <a:ext uri="{FF2B5EF4-FFF2-40B4-BE49-F238E27FC236}">
                  <a16:creationId xmlns:a16="http://schemas.microsoft.com/office/drawing/2014/main" id="{8606CFE5-734C-5C39-78D4-B1A352FA4D3B}"/>
                </a:ext>
              </a:extLst>
            </p:cNvPr>
            <p:cNvSpPr/>
            <p:nvPr/>
          </p:nvSpPr>
          <p:spPr>
            <a:xfrm>
              <a:off x="6753860" y="2665040"/>
              <a:ext cx="1920240" cy="253996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solidFill>
                    <a:schemeClr val="bg1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Key Question 3</a:t>
              </a:r>
              <a:endParaRPr lang="ko-KR" altLang="en-US" sz="12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72CD0CC-DE21-75A7-1CDD-46BB9945A1FC}"/>
                </a:ext>
              </a:extLst>
            </p:cNvPr>
            <p:cNvSpPr txBox="1"/>
            <p:nvPr/>
          </p:nvSpPr>
          <p:spPr>
            <a:xfrm>
              <a:off x="6535611" y="2946656"/>
              <a:ext cx="235673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000">
                  <a:latin typeface="프리젠테이션 6 SemiBold" pitchFamily="2" charset="-127"/>
                  <a:ea typeface="프리젠테이션 6 SemiBold" pitchFamily="2" charset="-127"/>
                </a:rPr>
                <a:t>성공 상품 관리 </a:t>
              </a:r>
              <a:r>
                <a:rPr lang="en-US" altLang="ko-KR" sz="1000">
                  <a:latin typeface="프리젠테이션 6 SemiBold" pitchFamily="2" charset="-127"/>
                  <a:ea typeface="프리젠테이션 6 SemiBold" pitchFamily="2" charset="-127"/>
                </a:rPr>
                <a:t>+ </a:t>
              </a:r>
              <a:r>
                <a:rPr lang="ko-KR" altLang="en-US" sz="1000">
                  <a:latin typeface="프리젠테이션 6 SemiBold" pitchFamily="2" charset="-127"/>
                  <a:ea typeface="프리젠테이션 6 SemiBold" pitchFamily="2" charset="-127"/>
                </a:rPr>
                <a:t>신규 기획 발굴 </a:t>
              </a:r>
              <a:r>
                <a:rPr lang="en-US" altLang="ko-KR" sz="1000">
                  <a:latin typeface="프리젠테이션 6 SemiBold" pitchFamily="2" charset="-127"/>
                  <a:ea typeface="프리젠테이션 6 SemiBold" pitchFamily="2" charset="-127"/>
                </a:rPr>
                <a:t>× </a:t>
              </a:r>
              <a:r>
                <a:rPr lang="ko-KR" altLang="en-US" sz="1000">
                  <a:latin typeface="프리젠테이션 6 SemiBold" pitchFamily="2" charset="-127"/>
                  <a:ea typeface="프리젠테이션 6 SemiBold" pitchFamily="2" charset="-127"/>
                </a:rPr>
                <a:t>인사이트 발굴</a:t>
              </a:r>
            </a:p>
          </p:txBody>
        </p:sp>
      </p:grpSp>
      <p:sp>
        <p:nvSpPr>
          <p:cNvPr id="78" name="화살표: 오른쪽 77">
            <a:extLst>
              <a:ext uri="{FF2B5EF4-FFF2-40B4-BE49-F238E27FC236}">
                <a16:creationId xmlns:a16="http://schemas.microsoft.com/office/drawing/2014/main" id="{383363EE-8B32-35CE-15DE-AADC18A35696}"/>
              </a:ext>
            </a:extLst>
          </p:cNvPr>
          <p:cNvSpPr/>
          <p:nvPr/>
        </p:nvSpPr>
        <p:spPr>
          <a:xfrm rot="5400000">
            <a:off x="4812302" y="4489500"/>
            <a:ext cx="288000" cy="360000"/>
          </a:xfrm>
          <a:prstGeom prst="rightArrow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100000">
                <a:srgbClr val="10B981">
                  <a:alpha val="7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err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56DA65D8-84F8-B9A1-67AC-39D3BD496DE2}"/>
              </a:ext>
            </a:extLst>
          </p:cNvPr>
          <p:cNvSpPr/>
          <p:nvPr/>
        </p:nvSpPr>
        <p:spPr>
          <a:xfrm>
            <a:off x="3638702" y="5465103"/>
            <a:ext cx="2635200" cy="985520"/>
          </a:xfrm>
          <a:prstGeom prst="rect">
            <a:avLst/>
          </a:prstGeom>
          <a:solidFill>
            <a:schemeClr val="bg1"/>
          </a:solidFill>
          <a:ln w="12700">
            <a:solidFill>
              <a:srgbClr val="10B98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축적된 기획 자산과 </a:t>
            </a:r>
            <a:endParaRPr lang="en-US" altLang="ko-KR" sz="1300">
              <a:solidFill>
                <a:srgbClr val="3F3F3F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algn="ctr"/>
            <a:r>
              <a:rPr lang="ko-KR" altLang="en-US" sz="13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일관된 기준을 바탕으로</a:t>
            </a:r>
            <a:endParaRPr lang="en-US" altLang="ko-KR" sz="1300">
              <a:solidFill>
                <a:srgbClr val="3F3F3F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algn="ctr"/>
            <a:r>
              <a:rPr lang="ko-KR" altLang="en-US" sz="13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기획 효율을 지속적으로 높일 수 있을까</a:t>
            </a:r>
            <a:r>
              <a:rPr lang="en-US" altLang="ko-KR" sz="13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?</a:t>
            </a:r>
            <a:endParaRPr lang="ko-KR" altLang="en-US" sz="1300" err="1">
              <a:solidFill>
                <a:srgbClr val="3F3F3F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5AFD4E3F-F09E-912B-3C1C-82BCD22DC4B9}"/>
              </a:ext>
            </a:extLst>
          </p:cNvPr>
          <p:cNvGrpSpPr/>
          <p:nvPr/>
        </p:nvGrpSpPr>
        <p:grpSpPr>
          <a:xfrm>
            <a:off x="3875718" y="4858352"/>
            <a:ext cx="2161169" cy="527837"/>
            <a:chOff x="6633396" y="2665040"/>
            <a:chExt cx="2161169" cy="527837"/>
          </a:xfrm>
        </p:grpSpPr>
        <p:sp>
          <p:nvSpPr>
            <p:cNvPr id="105" name="사각형: 둥근 모서리 104">
              <a:extLst>
                <a:ext uri="{FF2B5EF4-FFF2-40B4-BE49-F238E27FC236}">
                  <a16:creationId xmlns:a16="http://schemas.microsoft.com/office/drawing/2014/main" id="{B9CB3E4D-00E3-7AFE-9AD1-769E4ECC71B9}"/>
                </a:ext>
              </a:extLst>
            </p:cNvPr>
            <p:cNvSpPr/>
            <p:nvPr/>
          </p:nvSpPr>
          <p:spPr>
            <a:xfrm>
              <a:off x="6753860" y="2665040"/>
              <a:ext cx="1920240" cy="253996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solidFill>
                    <a:schemeClr val="bg1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Key Question 4</a:t>
              </a:r>
              <a:endParaRPr lang="ko-KR" altLang="en-US" sz="12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E37BDCA-A60E-7CB3-DF6C-92345A210B4D}"/>
                </a:ext>
              </a:extLst>
            </p:cNvPr>
            <p:cNvSpPr txBox="1"/>
            <p:nvPr/>
          </p:nvSpPr>
          <p:spPr>
            <a:xfrm>
              <a:off x="6633396" y="2946656"/>
              <a:ext cx="216116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000">
                  <a:latin typeface="프리젠테이션 6 SemiBold" pitchFamily="2" charset="-127"/>
                  <a:ea typeface="프리젠테이션 6 SemiBold" pitchFamily="2" charset="-127"/>
                </a:rPr>
                <a:t>성공 상품 관리 </a:t>
              </a:r>
              <a:r>
                <a:rPr lang="en-US" altLang="ko-KR" sz="1000">
                  <a:latin typeface="프리젠테이션 6 SemiBold" pitchFamily="2" charset="-127"/>
                  <a:ea typeface="프리젠테이션 6 SemiBold" pitchFamily="2" charset="-127"/>
                </a:rPr>
                <a:t>+ </a:t>
              </a:r>
              <a:r>
                <a:rPr lang="ko-KR" altLang="en-US" sz="1000">
                  <a:latin typeface="프리젠테이션 6 SemiBold" pitchFamily="2" charset="-127"/>
                  <a:ea typeface="프리젠테이션 6 SemiBold" pitchFamily="2" charset="-127"/>
                </a:rPr>
                <a:t>신규 기획 발굴 </a:t>
              </a:r>
              <a:r>
                <a:rPr lang="en-US" altLang="ko-KR" sz="1000">
                  <a:latin typeface="프리젠테이션 6 SemiBold" pitchFamily="2" charset="-127"/>
                  <a:ea typeface="프리젠테이션 6 SemiBold" pitchFamily="2" charset="-127"/>
                </a:rPr>
                <a:t>× </a:t>
              </a:r>
              <a:r>
                <a:rPr lang="ko-KR" altLang="en-US" sz="1000">
                  <a:latin typeface="프리젠테이션 6 SemiBold" pitchFamily="2" charset="-127"/>
                  <a:ea typeface="프리젠테이션 6 SemiBold" pitchFamily="2" charset="-127"/>
                </a:rPr>
                <a:t>실행 체계</a:t>
              </a:r>
            </a:p>
          </p:txBody>
        </p:sp>
      </p:grp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95935CB4-0BF4-9513-DCDD-C68ADC20AC7F}"/>
              </a:ext>
            </a:extLst>
          </p:cNvPr>
          <p:cNvSpPr/>
          <p:nvPr/>
        </p:nvSpPr>
        <p:spPr>
          <a:xfrm>
            <a:off x="6855509" y="5052541"/>
            <a:ext cx="4712491" cy="1398081"/>
          </a:xfrm>
          <a:prstGeom prst="roundRect">
            <a:avLst>
              <a:gd name="adj" fmla="val 6493"/>
            </a:avLst>
          </a:prstGeom>
          <a:solidFill>
            <a:srgbClr val="FCE378">
              <a:alpha val="10000"/>
            </a:srgbClr>
          </a:solidFill>
          <a:ln w="12700">
            <a:solidFill>
              <a:srgbClr val="FCE3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성공 상품의 요인을 데이터로 구조화하고</a:t>
            </a:r>
            <a:r>
              <a:rPr lang="en-US" altLang="ko-KR" sz="16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,</a:t>
            </a:r>
          </a:p>
          <a:p>
            <a:pPr algn="ctr"/>
            <a:r>
              <a:rPr lang="en-US" altLang="ko-KR" sz="16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MD</a:t>
            </a:r>
            <a:r>
              <a:rPr lang="ko-KR" altLang="en-US" sz="16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의 기획 의사결정 전 과정을</a:t>
            </a:r>
            <a:endParaRPr lang="en-US" altLang="ko-KR" sz="160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algn="ctr"/>
            <a:r>
              <a:rPr lang="ko-KR" altLang="en-US" sz="16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체계적으로 지원하는</a:t>
            </a:r>
            <a:r>
              <a:rPr lang="en-US" altLang="ko-KR" sz="16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6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시스템이 필요함</a:t>
            </a:r>
            <a:endParaRPr lang="en-US" altLang="ko-KR" sz="160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D8F9A5A-905B-1705-8A78-C4AD23F10023}"/>
              </a:ext>
            </a:extLst>
          </p:cNvPr>
          <p:cNvGrpSpPr/>
          <p:nvPr/>
        </p:nvGrpSpPr>
        <p:grpSpPr>
          <a:xfrm>
            <a:off x="518319" y="1898341"/>
            <a:ext cx="11060833" cy="348516"/>
            <a:chOff x="518319" y="1898341"/>
            <a:chExt cx="11060833" cy="34851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54A3431-4CE0-67EE-06D1-8D478E34DC39}"/>
                </a:ext>
              </a:extLst>
            </p:cNvPr>
            <p:cNvSpPr/>
            <p:nvPr/>
          </p:nvSpPr>
          <p:spPr>
            <a:xfrm flipV="1">
              <a:off x="612277" y="2236057"/>
              <a:ext cx="10872000" cy="108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err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FB7035E-D94C-E598-1A11-070A33A98A91}"/>
                </a:ext>
              </a:extLst>
            </p:cNvPr>
            <p:cNvSpPr txBox="1"/>
            <p:nvPr/>
          </p:nvSpPr>
          <p:spPr>
            <a:xfrm>
              <a:off x="518319" y="1898341"/>
              <a:ext cx="36606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>
                  <a:solidFill>
                    <a:srgbClr val="3F3F3F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PB </a:t>
              </a:r>
              <a:r>
                <a:rPr lang="ko-KR" altLang="en-US" sz="1600">
                  <a:solidFill>
                    <a:srgbClr val="3F3F3F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상품 기획 </a:t>
              </a:r>
              <a:r>
                <a:rPr lang="en-US" altLang="ko-KR" sz="1600">
                  <a:solidFill>
                    <a:srgbClr val="3F3F3F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Pain Points &amp; Key Questions</a:t>
              </a:r>
              <a:endParaRPr lang="ko-KR" altLang="en-US" sz="16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E217A8D-E51D-144E-CF8C-AC4C47717358}"/>
                </a:ext>
              </a:extLst>
            </p:cNvPr>
            <p:cNvSpPr/>
            <p:nvPr/>
          </p:nvSpPr>
          <p:spPr>
            <a:xfrm flipV="1">
              <a:off x="6395152" y="2236057"/>
              <a:ext cx="5184000" cy="108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err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7832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274A5-8D99-C4DE-2CC0-FE87164E2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3F7F7EBB-4442-01B1-8FD6-0FFB03E52B1B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981663" y="4715472"/>
            <a:ext cx="3795057" cy="652439"/>
          </a:xfrm>
          <a:prstGeom prst="bentConnector3">
            <a:avLst>
              <a:gd name="adj1" fmla="val 71434"/>
            </a:avLst>
          </a:prstGeom>
          <a:ln>
            <a:solidFill>
              <a:srgbClr val="A6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8C9FEC25-12EF-8D43-FD4A-A568CE924A54}"/>
              </a:ext>
            </a:extLst>
          </p:cNvPr>
          <p:cNvCxnSpPr>
            <a:cxnSpLocks/>
          </p:cNvCxnSpPr>
          <p:nvPr/>
        </p:nvCxnSpPr>
        <p:spPr>
          <a:xfrm flipV="1">
            <a:off x="2981663" y="3403188"/>
            <a:ext cx="3795057" cy="1296000"/>
          </a:xfrm>
          <a:prstGeom prst="bentConnector3">
            <a:avLst>
              <a:gd name="adj1" fmla="val 71417"/>
            </a:avLst>
          </a:prstGeom>
          <a:ln>
            <a:solidFill>
              <a:srgbClr val="A6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4EF96566-CE0E-A72E-97CA-5CF78E57A509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27816" y="2912650"/>
            <a:ext cx="14400" cy="1008000"/>
          </a:xfrm>
          <a:prstGeom prst="bentConnector3">
            <a:avLst>
              <a:gd name="adj1" fmla="val 1800000"/>
            </a:avLst>
          </a:prstGeom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8E864CF5-AE46-5863-99FB-E4668D5402F3}"/>
              </a:ext>
            </a:extLst>
          </p:cNvPr>
          <p:cNvCxnSpPr>
            <a:cxnSpLocks/>
          </p:cNvCxnSpPr>
          <p:nvPr/>
        </p:nvCxnSpPr>
        <p:spPr>
          <a:xfrm>
            <a:off x="2973865" y="3514995"/>
            <a:ext cx="399614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13830898-D31A-D9B7-54BD-340526C9B5AC}"/>
              </a:ext>
            </a:extLst>
          </p:cNvPr>
          <p:cNvCxnSpPr>
            <a:cxnSpLocks/>
          </p:cNvCxnSpPr>
          <p:nvPr/>
        </p:nvCxnSpPr>
        <p:spPr>
          <a:xfrm>
            <a:off x="2973865" y="4715472"/>
            <a:ext cx="399614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8D09A8E5-F2E7-90E8-108C-817419C84609}"/>
              </a:ext>
            </a:extLst>
          </p:cNvPr>
          <p:cNvCxnSpPr>
            <a:cxnSpLocks/>
          </p:cNvCxnSpPr>
          <p:nvPr/>
        </p:nvCxnSpPr>
        <p:spPr>
          <a:xfrm>
            <a:off x="2973865" y="5915948"/>
            <a:ext cx="399614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19A428-2DD5-BBC4-D675-2781B5060C99}"/>
              </a:ext>
            </a:extLst>
          </p:cNvPr>
          <p:cNvSpPr/>
          <p:nvPr/>
        </p:nvSpPr>
        <p:spPr>
          <a:xfrm>
            <a:off x="3366438" y="2365384"/>
            <a:ext cx="2227271" cy="4087804"/>
          </a:xfrm>
          <a:prstGeom prst="rect">
            <a:avLst/>
          </a:prstGeom>
          <a:solidFill>
            <a:srgbClr val="D0F1E6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ko-KR" altLang="en-US" sz="1200" b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46AC91-FD63-4A19-7593-7977C7C70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A2888-50A6-4659-9E30-8B27A4C58FE7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FD437C-B9F1-916E-A24B-DA992CF59D76}"/>
              </a:ext>
            </a:extLst>
          </p:cNvPr>
          <p:cNvSpPr txBox="1"/>
          <p:nvPr/>
        </p:nvSpPr>
        <p:spPr>
          <a:xfrm>
            <a:off x="518319" y="862399"/>
            <a:ext cx="11157744" cy="756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2000"/>
              </a:lnSpc>
            </a:pP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성공 상품 속성 분석을 기반으로 신상품 기획 프레임워크를 대시보드로 제시하여</a:t>
            </a:r>
            <a:r>
              <a:rPr kumimoji="1" lang="en-US" altLang="ko-KR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, </a:t>
            </a:r>
          </a:p>
          <a:p>
            <a:pPr>
              <a:lnSpc>
                <a:spcPct val="112000"/>
              </a:lnSpc>
            </a:pP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신상품 조합</a:t>
            </a:r>
            <a:r>
              <a:rPr kumimoji="1" lang="en-US" altLang="ko-KR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·</a:t>
            </a: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히트 상품 파생</a:t>
            </a:r>
            <a:r>
              <a:rPr kumimoji="1" lang="en-US" altLang="ko-KR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·</a:t>
            </a: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상품 리뉴얼까지 </a:t>
            </a:r>
            <a:r>
              <a:rPr kumimoji="1" lang="en" altLang="ko-KR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MD</a:t>
            </a: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의 기획 의사결정 전 과정을 체계화합니다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E9A87A-C158-9174-EAD8-00055D8B476E}"/>
              </a:ext>
            </a:extLst>
          </p:cNvPr>
          <p:cNvSpPr txBox="1"/>
          <p:nvPr/>
        </p:nvSpPr>
        <p:spPr>
          <a:xfrm>
            <a:off x="518317" y="407377"/>
            <a:ext cx="6815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10B981"/>
                </a:solidFill>
                <a:latin typeface="프리젠테이션 6 SemiBold" pitchFamily="2" charset="-127"/>
                <a:ea typeface="프리젠테이션 6 SemiBold" pitchFamily="2" charset="-127"/>
              </a:rPr>
              <a:t>전략 제안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4BEED32-4058-CE2D-BC78-9F73CF3995FC}"/>
              </a:ext>
            </a:extLst>
          </p:cNvPr>
          <p:cNvSpPr/>
          <p:nvPr/>
        </p:nvSpPr>
        <p:spPr>
          <a:xfrm>
            <a:off x="3458483" y="2974995"/>
            <a:ext cx="2043180" cy="1008000"/>
          </a:xfrm>
          <a:prstGeom prst="rect">
            <a:avLst/>
          </a:prstGeom>
          <a:solidFill>
            <a:schemeClr val="bg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4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신상품 차별화 경쟁 가속화</a:t>
            </a:r>
            <a:endParaRPr lang="en-US" altLang="ko-KR" sz="140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2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트렌드 반영 속도가 조금만 늦어져도 시장 선점 기회를 빼앗길 수 있음</a:t>
            </a:r>
            <a:endParaRPr lang="ko-KR" altLang="en-US" sz="1200" b="1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E96BB39-3345-E3C9-45F4-1B2C563B422C}"/>
              </a:ext>
            </a:extLst>
          </p:cNvPr>
          <p:cNvSpPr/>
          <p:nvPr/>
        </p:nvSpPr>
        <p:spPr>
          <a:xfrm>
            <a:off x="3458483" y="4175472"/>
            <a:ext cx="2043180" cy="1008000"/>
          </a:xfrm>
          <a:prstGeom prst="rect">
            <a:avLst/>
          </a:prstGeom>
          <a:solidFill>
            <a:schemeClr val="bg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4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트렌드 실효성 검증 기준 부재</a:t>
            </a:r>
            <a:endParaRPr lang="en-US" altLang="ko-KR" sz="140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2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쏟아지는 트렌드 키워드 중 실매출로 이어질 키워드를 선별할 기준이 없음</a:t>
            </a:r>
            <a:endParaRPr lang="ko-KR" altLang="en-US" sz="1200" b="1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7022BD1-FDA6-6B97-E7DE-9D6AA3D442BE}"/>
              </a:ext>
            </a:extLst>
          </p:cNvPr>
          <p:cNvSpPr/>
          <p:nvPr/>
        </p:nvSpPr>
        <p:spPr>
          <a:xfrm>
            <a:off x="3458483" y="5375948"/>
            <a:ext cx="2043180" cy="1008000"/>
          </a:xfrm>
          <a:prstGeom prst="rect">
            <a:avLst/>
          </a:prstGeom>
          <a:solidFill>
            <a:schemeClr val="bg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4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성공 속성 조합 파악 불가</a:t>
            </a:r>
          </a:p>
          <a:p>
            <a:pPr algn="ctr">
              <a:lnSpc>
                <a:spcPct val="120000"/>
              </a:lnSpc>
            </a:pPr>
            <a:r>
              <a:rPr lang="ko-KR" altLang="en-US" sz="12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어떤 맛</a:t>
            </a:r>
            <a:r>
              <a:rPr lang="en-US" altLang="ko-KR" sz="12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00" err="1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식감</a:t>
            </a:r>
            <a:r>
              <a:rPr lang="en-US" altLang="ko-KR" sz="12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가격대 조합이 뜨는지 체계적인 데이터베이스가 없음</a:t>
            </a:r>
            <a:endParaRPr lang="ko-KR" altLang="en-US" sz="1200" b="1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B791ECC-6976-5082-E798-5E63AB58BE7C}"/>
              </a:ext>
            </a:extLst>
          </p:cNvPr>
          <p:cNvSpPr/>
          <p:nvPr/>
        </p:nvSpPr>
        <p:spPr>
          <a:xfrm>
            <a:off x="624000" y="2365384"/>
            <a:ext cx="2357663" cy="489134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CBCB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400" b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현재 상황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8EF790F1-6A3D-08AA-F8F5-3FB1A6EC678D}"/>
              </a:ext>
            </a:extLst>
          </p:cNvPr>
          <p:cNvSpPr/>
          <p:nvPr/>
        </p:nvSpPr>
        <p:spPr>
          <a:xfrm>
            <a:off x="4365074" y="3964234"/>
            <a:ext cx="229999" cy="229999"/>
          </a:xfrm>
          <a:prstGeom prst="ellipse">
            <a:avLst/>
          </a:prstGeom>
          <a:solidFill>
            <a:srgbClr val="0D1F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latin typeface="프리젠테이션 6 SemiBold" pitchFamily="2" charset="-127"/>
                <a:ea typeface="프리젠테이션 6 SemiBold" pitchFamily="2" charset="-127"/>
              </a:rPr>
              <a:t>+</a:t>
            </a:r>
            <a:endParaRPr lang="ko-KR" altLang="en-US" b="1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8E00A673-823F-27C3-6C03-F76E8A983882}"/>
              </a:ext>
            </a:extLst>
          </p:cNvPr>
          <p:cNvSpPr/>
          <p:nvPr/>
        </p:nvSpPr>
        <p:spPr>
          <a:xfrm>
            <a:off x="4365074" y="5164711"/>
            <a:ext cx="229999" cy="229999"/>
          </a:xfrm>
          <a:prstGeom prst="ellipse">
            <a:avLst/>
          </a:prstGeom>
          <a:solidFill>
            <a:srgbClr val="0D1F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latin typeface="프리젠테이션 6 SemiBold" pitchFamily="2" charset="-127"/>
                <a:ea typeface="프리젠테이션 6 SemiBold" pitchFamily="2" charset="-127"/>
              </a:rPr>
              <a:t>+</a:t>
            </a:r>
            <a:endParaRPr lang="ko-KR" altLang="en-US" b="1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DD6CD8-0F1A-F45F-954E-75AD16412871}"/>
              </a:ext>
            </a:extLst>
          </p:cNvPr>
          <p:cNvSpPr txBox="1"/>
          <p:nvPr/>
        </p:nvSpPr>
        <p:spPr>
          <a:xfrm>
            <a:off x="3924061" y="2525672"/>
            <a:ext cx="11120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normalizeH="0" noProof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Pain </a:t>
            </a:r>
            <a:r>
              <a:rPr lang="en-US" altLang="ko-KR" sz="1400" b="1">
                <a:solidFill>
                  <a:srgbClr val="2C2C2C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Po</a:t>
            </a:r>
            <a:r>
              <a:rPr kumimoji="0" lang="en-US" altLang="ko-KR" sz="1400" b="1" i="0" u="none" strike="noStrike" kern="1200" cap="none" normalizeH="0" noProof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ints</a:t>
            </a:r>
            <a:endParaRPr kumimoji="0" lang="ko-KR" altLang="en-US" sz="1400" b="1" i="0" u="none" strike="noStrike" kern="1200" cap="none" normalizeH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16430AF-D5E1-6178-A3FA-6B48395086F8}"/>
              </a:ext>
            </a:extLst>
          </p:cNvPr>
          <p:cNvSpPr/>
          <p:nvPr/>
        </p:nvSpPr>
        <p:spPr>
          <a:xfrm>
            <a:off x="8524241" y="3370585"/>
            <a:ext cx="3054911" cy="91204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3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외부 트렌드와의 결합을 통해</a:t>
            </a:r>
            <a:endParaRPr lang="en-US" altLang="ko-KR" sz="130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3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트렌드와 상품 조합 추천까지 제시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4F6F1AF4-A94E-45C7-8A41-96629CC6114C}"/>
              </a:ext>
            </a:extLst>
          </p:cNvPr>
          <p:cNvSpPr/>
          <p:nvPr/>
        </p:nvSpPr>
        <p:spPr>
          <a:xfrm>
            <a:off x="6992194" y="3370585"/>
            <a:ext cx="1440000" cy="912049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트렌드 키워드 연계</a:t>
            </a:r>
            <a:endParaRPr lang="en-US" altLang="ko-KR" sz="1300" b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C9EF048-7E55-0008-6C82-896F342C025B}"/>
              </a:ext>
            </a:extLst>
          </p:cNvPr>
          <p:cNvSpPr/>
          <p:nvPr/>
        </p:nvSpPr>
        <p:spPr>
          <a:xfrm>
            <a:off x="8524240" y="2376369"/>
            <a:ext cx="3054912" cy="91204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3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맛</a:t>
            </a:r>
            <a:r>
              <a:rPr lang="en-US" altLang="ko-KR" sz="13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00" err="1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식감</a:t>
            </a:r>
            <a:r>
              <a:rPr lang="en-US" altLang="ko-KR" sz="13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가격</a:t>
            </a:r>
            <a:r>
              <a:rPr lang="en-US" altLang="ko-KR" sz="13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트렌드 속성 조합 성공</a:t>
            </a:r>
            <a:r>
              <a:rPr lang="en-US" altLang="ko-KR" sz="13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방정식을</a:t>
            </a:r>
            <a:endParaRPr lang="en-US" altLang="ko-KR" sz="130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3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데이터로 추출하여 </a:t>
            </a:r>
            <a:r>
              <a:rPr lang="en-US" altLang="ko-KR" sz="13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차별화 기획 방향 제시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57F9DFB-F72F-2043-FF53-2049B7E4C05C}"/>
              </a:ext>
            </a:extLst>
          </p:cNvPr>
          <p:cNvSpPr/>
          <p:nvPr/>
        </p:nvSpPr>
        <p:spPr>
          <a:xfrm>
            <a:off x="6992194" y="2376369"/>
            <a:ext cx="1440000" cy="912049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상품 속성 네트워크</a:t>
            </a:r>
            <a:endParaRPr lang="en-US" altLang="ko-KR" sz="1300" b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1300" b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 기반 성공 방정식 도출</a:t>
            </a:r>
          </a:p>
        </p:txBody>
      </p:sp>
      <p:sp>
        <p:nvSpPr>
          <p:cNvPr id="68" name="사각형: 둥근 모서리 51">
            <a:extLst>
              <a:ext uri="{FF2B5EF4-FFF2-40B4-BE49-F238E27FC236}">
                <a16:creationId xmlns:a16="http://schemas.microsoft.com/office/drawing/2014/main" id="{C02C9BAE-2F65-FEA7-1E89-E6C914142785}"/>
              </a:ext>
            </a:extLst>
          </p:cNvPr>
          <p:cNvSpPr/>
          <p:nvPr/>
        </p:nvSpPr>
        <p:spPr>
          <a:xfrm>
            <a:off x="5890399" y="3172204"/>
            <a:ext cx="648000" cy="540000"/>
          </a:xfrm>
          <a:prstGeom prst="roundRect">
            <a:avLst>
              <a:gd name="adj" fmla="val 26432"/>
            </a:avLst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문제</a:t>
            </a:r>
            <a:br>
              <a:rPr lang="en-US" altLang="ko-KR" sz="1400" b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</a:br>
            <a:r>
              <a:rPr lang="ko-KR" altLang="en-US" sz="1400" b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해결</a:t>
            </a:r>
          </a:p>
        </p:txBody>
      </p:sp>
      <p:sp>
        <p:nvSpPr>
          <p:cNvPr id="75" name="사각형: 둥근 모서리 58">
            <a:extLst>
              <a:ext uri="{FF2B5EF4-FFF2-40B4-BE49-F238E27FC236}">
                <a16:creationId xmlns:a16="http://schemas.microsoft.com/office/drawing/2014/main" id="{0A5D58C0-5397-DB51-24D3-75176ED6623F}"/>
              </a:ext>
            </a:extLst>
          </p:cNvPr>
          <p:cNvSpPr/>
          <p:nvPr/>
        </p:nvSpPr>
        <p:spPr>
          <a:xfrm>
            <a:off x="5890399" y="5139730"/>
            <a:ext cx="648000" cy="540000"/>
          </a:xfrm>
          <a:prstGeom prst="roundRect">
            <a:avLst>
              <a:gd name="adj" fmla="val 26432"/>
            </a:avLst>
          </a:prstGeom>
          <a:solidFill>
            <a:srgbClr val="CFF1E6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기대효과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7D1ADDE-467A-2923-9D76-FE4ADE8BFD84}"/>
              </a:ext>
            </a:extLst>
          </p:cNvPr>
          <p:cNvGrpSpPr/>
          <p:nvPr/>
        </p:nvGrpSpPr>
        <p:grpSpPr>
          <a:xfrm>
            <a:off x="624000" y="2974995"/>
            <a:ext cx="2357663" cy="1080000"/>
            <a:chOff x="624000" y="2976835"/>
            <a:chExt cx="2357663" cy="1080000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8FA83F3F-10DE-239F-3E30-48B232ACE625}"/>
                </a:ext>
              </a:extLst>
            </p:cNvPr>
            <p:cNvSpPr/>
            <p:nvPr/>
          </p:nvSpPr>
          <p:spPr>
            <a:xfrm>
              <a:off x="624000" y="2976835"/>
              <a:ext cx="2357663" cy="108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CBCBC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kumimoji="1" lang="ko-KR" altLang="en-US" sz="12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 SemiBold" panose="02000703000000020004" pitchFamily="50" charset="-127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A7D027D9-167D-BE17-3705-D7131D788113}"/>
                </a:ext>
              </a:extLst>
            </p:cNvPr>
            <p:cNvGrpSpPr/>
            <p:nvPr/>
          </p:nvGrpSpPr>
          <p:grpSpPr>
            <a:xfrm>
              <a:off x="792885" y="3119151"/>
              <a:ext cx="2019893" cy="836008"/>
              <a:chOff x="785087" y="3119211"/>
              <a:chExt cx="2019893" cy="836008"/>
            </a:xfrm>
          </p:grpSpPr>
          <p:sp>
            <p:nvSpPr>
              <p:cNvPr id="8" name="사각형: 둥근 모서리 25">
                <a:extLst>
                  <a:ext uri="{FF2B5EF4-FFF2-40B4-BE49-F238E27FC236}">
                    <a16:creationId xmlns:a16="http://schemas.microsoft.com/office/drawing/2014/main" id="{B52973FD-559E-E225-1619-01D5AAC4303D}"/>
                  </a:ext>
                </a:extLst>
              </p:cNvPr>
              <p:cNvSpPr/>
              <p:nvPr/>
            </p:nvSpPr>
            <p:spPr>
              <a:xfrm>
                <a:off x="785087" y="3119211"/>
                <a:ext cx="2019893" cy="288000"/>
              </a:xfrm>
              <a:prstGeom prst="roundRect">
                <a:avLst>
                  <a:gd name="adj" fmla="val 26432"/>
                </a:avLst>
              </a:prstGeom>
              <a:solidFill>
                <a:schemeClr val="bg1"/>
              </a:solidFill>
              <a:ln w="12700">
                <a:solidFill>
                  <a:srgbClr val="CBCBC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  <a:cs typeface="Pretendard" panose="02000503000000020004" pitchFamily="2" charset="-127"/>
                  </a:rPr>
                  <a:t>편의점 시장의 </a:t>
                </a:r>
                <a:r>
                  <a:rPr lang="en-US" altLang="ko-KR" sz="120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  <a:cs typeface="Pretendard" panose="02000503000000020004" pitchFamily="2" charset="-127"/>
                  </a:rPr>
                  <a:t>PB </a:t>
                </a:r>
                <a:r>
                  <a:rPr lang="ko-KR" altLang="en-US" sz="120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  <a:cs typeface="Pretendard" panose="02000503000000020004" pitchFamily="2" charset="-127"/>
                  </a:rPr>
                  <a:t>경쟁 심화</a:t>
                </a:r>
                <a:endParaRPr lang="ko-KR" altLang="en-US" sz="1200">
                  <a:solidFill>
                    <a:schemeClr val="tx1"/>
                  </a:solidFill>
                  <a:latin typeface="프리젠테이션 6 SemiBold" pitchFamily="2" charset="-127"/>
                  <a:ea typeface="프리젠테이션 6 SemiBold" pitchFamily="2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7A05DC-9300-86B7-B317-94DE431EFA48}"/>
                  </a:ext>
                </a:extLst>
              </p:cNvPr>
              <p:cNvSpPr txBox="1"/>
              <p:nvPr/>
            </p:nvSpPr>
            <p:spPr>
              <a:xfrm>
                <a:off x="837079" y="3438411"/>
                <a:ext cx="1915909" cy="516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kumimoji="1" lang="ko-KR" altLang="en-US" sz="1200">
                    <a:latin typeface="프리젠테이션 4 Regular" pitchFamily="2" charset="-127"/>
                    <a:ea typeface="프리젠테이션 4 Regular" pitchFamily="2" charset="-127"/>
                    <a:cs typeface="Pretendard SemiBold" panose="02000703000000020004" pitchFamily="50" charset="-127"/>
                  </a:rPr>
                  <a:t>소비 트렌드를 신속하게 반영하는</a:t>
                </a:r>
                <a:endParaRPr kumimoji="1" lang="en-US" altLang="ko-KR" sz="1200">
                  <a:latin typeface="프리젠테이션 4 Regular" pitchFamily="2" charset="-127"/>
                  <a:ea typeface="프리젠테이션 4 Regular" pitchFamily="2" charset="-127"/>
                  <a:cs typeface="Pretendard SemiBold" panose="02000703000000020004" pitchFamily="50" charset="-127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kumimoji="1" lang="ko-KR" altLang="en-US" sz="1200">
                    <a:latin typeface="프리젠테이션 4 Regular" pitchFamily="2" charset="-127"/>
                    <a:ea typeface="프리젠테이션 4 Regular" pitchFamily="2" charset="-127"/>
                    <a:cs typeface="Pretendard SemiBold" panose="02000703000000020004" pitchFamily="50" charset="-127"/>
                  </a:rPr>
                  <a:t>신상품 개발 역량이 성과를 좌우함</a:t>
                </a:r>
              </a:p>
            </p:txBody>
          </p:sp>
        </p:grp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1F08541-37F1-19B5-8B0E-3F79D1B6892F}"/>
              </a:ext>
            </a:extLst>
          </p:cNvPr>
          <p:cNvGrpSpPr/>
          <p:nvPr/>
        </p:nvGrpSpPr>
        <p:grpSpPr>
          <a:xfrm>
            <a:off x="624000" y="4175472"/>
            <a:ext cx="2357663" cy="1080000"/>
            <a:chOff x="624000" y="4176392"/>
            <a:chExt cx="2357663" cy="108000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8CEF2BB-4E79-1D5C-C42F-5124868DF7BA}"/>
                </a:ext>
              </a:extLst>
            </p:cNvPr>
            <p:cNvSpPr/>
            <p:nvPr/>
          </p:nvSpPr>
          <p:spPr>
            <a:xfrm>
              <a:off x="624000" y="4176392"/>
              <a:ext cx="2357663" cy="108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CBCBC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kumimoji="1" lang="ko-KR" altLang="en-US" sz="12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 SemiBold" panose="02000703000000020004" pitchFamily="50" charset="-127"/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7D864D73-9329-CC39-C7E0-8C4B057AF809}"/>
                </a:ext>
              </a:extLst>
            </p:cNvPr>
            <p:cNvGrpSpPr/>
            <p:nvPr/>
          </p:nvGrpSpPr>
          <p:grpSpPr>
            <a:xfrm>
              <a:off x="787169" y="4318708"/>
              <a:ext cx="2031325" cy="836008"/>
              <a:chOff x="779372" y="3119211"/>
              <a:chExt cx="2031325" cy="836008"/>
            </a:xfrm>
          </p:grpSpPr>
          <p:sp>
            <p:nvSpPr>
              <p:cNvPr id="17" name="사각형: 둥근 모서리 25">
                <a:extLst>
                  <a:ext uri="{FF2B5EF4-FFF2-40B4-BE49-F238E27FC236}">
                    <a16:creationId xmlns:a16="http://schemas.microsoft.com/office/drawing/2014/main" id="{E3D3AFAE-102C-CDF7-8431-E0925A932C61}"/>
                  </a:ext>
                </a:extLst>
              </p:cNvPr>
              <p:cNvSpPr/>
              <p:nvPr/>
            </p:nvSpPr>
            <p:spPr>
              <a:xfrm>
                <a:off x="785087" y="3119211"/>
                <a:ext cx="2019893" cy="288000"/>
              </a:xfrm>
              <a:prstGeom prst="roundRect">
                <a:avLst>
                  <a:gd name="adj" fmla="val 26432"/>
                </a:avLst>
              </a:prstGeom>
              <a:solidFill>
                <a:schemeClr val="bg1"/>
              </a:solidFill>
              <a:ln w="12700">
                <a:solidFill>
                  <a:srgbClr val="CBCBC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rPr>
                  <a:t>MD</a:t>
                </a:r>
                <a:r>
                  <a:rPr lang="ko-KR" altLang="en-US" sz="120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rPr>
                  <a:t>의 기획 불확실성 심화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84D9504-78CE-FD37-AE96-3009F6035053}"/>
                  </a:ext>
                </a:extLst>
              </p:cNvPr>
              <p:cNvSpPr txBox="1"/>
              <p:nvPr/>
            </p:nvSpPr>
            <p:spPr>
              <a:xfrm>
                <a:off x="779372" y="3438411"/>
                <a:ext cx="2031325" cy="516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1200">
                    <a:latin typeface="프리젠테이션 4 Regular" pitchFamily="2" charset="-127"/>
                    <a:ea typeface="프리젠테이션 4 Regular" pitchFamily="2" charset="-127"/>
                  </a:rPr>
                  <a:t>급변하는 트렌드 속에서</a:t>
                </a:r>
                <a:endParaRPr lang="en-US" altLang="ko-KR" sz="1200">
                  <a:latin typeface="프리젠테이션 4 Regular" pitchFamily="2" charset="-127"/>
                  <a:ea typeface="프리젠테이션 4 Regular" pitchFamily="2" charset="-127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ko-KR" altLang="en-US" sz="1200">
                    <a:latin typeface="프리젠테이션 4 Regular" pitchFamily="2" charset="-127"/>
                    <a:ea typeface="프리젠테이션 4 Regular" pitchFamily="2" charset="-127"/>
                  </a:rPr>
                  <a:t>상품 기획 불확실성이 심화되고 있음</a:t>
                </a:r>
                <a:endParaRPr kumimoji="1" lang="ko-KR" altLang="en-US" sz="1200">
                  <a:latin typeface="프리젠테이션 4 Regular" pitchFamily="2" charset="-127"/>
                  <a:ea typeface="프리젠테이션 4 Regular" pitchFamily="2" charset="-127"/>
                  <a:cs typeface="Pretendard SemiBold" panose="02000703000000020004" pitchFamily="50" charset="-127"/>
                </a:endParaRPr>
              </a:p>
            </p:txBody>
          </p:sp>
        </p:grp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907B0B1-6CA6-764E-F8C7-D75B4FEF63B9}"/>
              </a:ext>
            </a:extLst>
          </p:cNvPr>
          <p:cNvGrpSpPr/>
          <p:nvPr/>
        </p:nvGrpSpPr>
        <p:grpSpPr>
          <a:xfrm>
            <a:off x="624000" y="5375948"/>
            <a:ext cx="2357663" cy="1080000"/>
            <a:chOff x="624000" y="5375948"/>
            <a:chExt cx="2357663" cy="108000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AC0B37D-85B9-EB32-2C81-AAA1F35F7ECB}"/>
                </a:ext>
              </a:extLst>
            </p:cNvPr>
            <p:cNvSpPr/>
            <p:nvPr/>
          </p:nvSpPr>
          <p:spPr>
            <a:xfrm>
              <a:off x="624000" y="5375948"/>
              <a:ext cx="2357663" cy="108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CBCBC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kumimoji="1" lang="ko-KR" altLang="en-US" sz="12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 SemiBold" panose="02000703000000020004" pitchFamily="50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03E0C853-9AFF-FBFC-C95F-C2159E7AE37D}"/>
                </a:ext>
              </a:extLst>
            </p:cNvPr>
            <p:cNvGrpSpPr/>
            <p:nvPr/>
          </p:nvGrpSpPr>
          <p:grpSpPr>
            <a:xfrm>
              <a:off x="715033" y="5518264"/>
              <a:ext cx="2175596" cy="836008"/>
              <a:chOff x="707237" y="3119211"/>
              <a:chExt cx="2175596" cy="836008"/>
            </a:xfrm>
          </p:grpSpPr>
          <p:sp>
            <p:nvSpPr>
              <p:cNvPr id="22" name="사각형: 둥근 모서리 25">
                <a:extLst>
                  <a:ext uri="{FF2B5EF4-FFF2-40B4-BE49-F238E27FC236}">
                    <a16:creationId xmlns:a16="http://schemas.microsoft.com/office/drawing/2014/main" id="{A10F3991-3F36-62DB-487F-073EE6F9F451}"/>
                  </a:ext>
                </a:extLst>
              </p:cNvPr>
              <p:cNvSpPr/>
              <p:nvPr/>
            </p:nvSpPr>
            <p:spPr>
              <a:xfrm>
                <a:off x="785087" y="3119211"/>
                <a:ext cx="2019893" cy="288000"/>
              </a:xfrm>
              <a:prstGeom prst="roundRect">
                <a:avLst>
                  <a:gd name="adj" fmla="val 26432"/>
                </a:avLst>
              </a:prstGeom>
              <a:solidFill>
                <a:schemeClr val="bg1"/>
              </a:solidFill>
              <a:ln w="12700">
                <a:solidFill>
                  <a:srgbClr val="CBCBC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  <a:cs typeface="Pretendard" panose="02000503000000020004" pitchFamily="2" charset="-127"/>
                  </a:rPr>
                  <a:t>성공 상품의 패턴화</a:t>
                </a:r>
                <a:r>
                  <a:rPr lang="en-US" altLang="ko-KR" sz="120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  <a:cs typeface="Pretendard" panose="02000503000000020004" pitchFamily="2" charset="-127"/>
                  </a:rPr>
                  <a:t>·</a:t>
                </a:r>
                <a:r>
                  <a:rPr lang="ko-KR" altLang="en-US" sz="120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  <a:cs typeface="Pretendard" panose="02000503000000020004" pitchFamily="2" charset="-127"/>
                  </a:rPr>
                  <a:t>체계화 부재</a:t>
                </a:r>
                <a:endParaRPr lang="ko-KR" altLang="en-US" sz="1200">
                  <a:solidFill>
                    <a:schemeClr val="tx1"/>
                  </a:solidFill>
                  <a:latin typeface="프리젠테이션 6 SemiBold" pitchFamily="2" charset="-127"/>
                  <a:ea typeface="프리젠테이션 6 SemiBold" pitchFamily="2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2A4208D-3DFD-F4C1-E0F7-369325659262}"/>
                  </a:ext>
                </a:extLst>
              </p:cNvPr>
              <p:cNvSpPr txBox="1"/>
              <p:nvPr/>
            </p:nvSpPr>
            <p:spPr>
              <a:xfrm>
                <a:off x="707237" y="3438411"/>
                <a:ext cx="2175596" cy="516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kumimoji="1" lang="ko-KR" altLang="en-US" sz="1200">
                    <a:latin typeface="프리젠테이션 4 Regular" pitchFamily="2" charset="-127"/>
                    <a:ea typeface="프리젠테이션 4 Regular" pitchFamily="2" charset="-127"/>
                    <a:cs typeface="Pretendard SemiBold" panose="02000703000000020004" pitchFamily="50" charset="-127"/>
                  </a:rPr>
                  <a:t>히트 상품의 성공 속성과 기획 노하우가</a:t>
                </a:r>
                <a:endParaRPr kumimoji="1" lang="en-US" altLang="ko-KR" sz="1200">
                  <a:latin typeface="프리젠테이션 4 Regular" pitchFamily="2" charset="-127"/>
                  <a:ea typeface="프리젠테이션 4 Regular" pitchFamily="2" charset="-127"/>
                  <a:cs typeface="Pretendard SemiBold" panose="02000703000000020004" pitchFamily="50" charset="-127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kumimoji="1" lang="ko-KR" altLang="en-US" sz="1200">
                    <a:latin typeface="프리젠테이션 4 Regular" pitchFamily="2" charset="-127"/>
                    <a:ea typeface="프리젠테이션 4 Regular" pitchFamily="2" charset="-127"/>
                    <a:cs typeface="Pretendard SemiBold" panose="02000703000000020004" pitchFamily="50" charset="-127"/>
                  </a:rPr>
                  <a:t>데이터로 축적되지 않고 있음</a:t>
                </a:r>
              </a:p>
            </p:txBody>
          </p:sp>
        </p:grpSp>
      </p:grp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263FCFB0-9266-98EC-E3CF-36C2C3AAC1CF}"/>
              </a:ext>
            </a:extLst>
          </p:cNvPr>
          <p:cNvCxnSpPr>
            <a:cxnSpLocks/>
          </p:cNvCxnSpPr>
          <p:nvPr/>
        </p:nvCxnSpPr>
        <p:spPr>
          <a:xfrm rot="10800000" flipV="1">
            <a:off x="6992194" y="4672272"/>
            <a:ext cx="12700" cy="1627915"/>
          </a:xfrm>
          <a:prstGeom prst="bentConnector3">
            <a:avLst>
              <a:gd name="adj1" fmla="val 1800000"/>
            </a:avLst>
          </a:prstGeom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90E7D811-6FE1-8FCB-20C3-488FC0C9F8D9}"/>
              </a:ext>
            </a:extLst>
          </p:cNvPr>
          <p:cNvCxnSpPr>
            <a:cxnSpLocks/>
          </p:cNvCxnSpPr>
          <p:nvPr/>
        </p:nvCxnSpPr>
        <p:spPr>
          <a:xfrm rot="10800000" flipV="1">
            <a:off x="6992194" y="5367911"/>
            <a:ext cx="12700" cy="542639"/>
          </a:xfrm>
          <a:prstGeom prst="bentConnector3">
            <a:avLst>
              <a:gd name="adj1" fmla="val 1800000"/>
            </a:avLst>
          </a:prstGeom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380A67B-EBA8-F6AE-B768-F08132F71B35}"/>
              </a:ext>
            </a:extLst>
          </p:cNvPr>
          <p:cNvSpPr/>
          <p:nvPr/>
        </p:nvSpPr>
        <p:spPr>
          <a:xfrm>
            <a:off x="8522399" y="4366273"/>
            <a:ext cx="3056759" cy="61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2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성공 속성에 트렌드 요소를 결합해</a:t>
            </a:r>
            <a:endParaRPr lang="en-US" altLang="ko-KR" sz="120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2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시즌 한정판</a:t>
            </a:r>
            <a:r>
              <a:rPr lang="en-US" altLang="ko-KR" sz="12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파생 상품으로의 확장 가능성 제시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D5F69BF-E569-2B33-C0A5-1A4EA9A45B4F}"/>
              </a:ext>
            </a:extLst>
          </p:cNvPr>
          <p:cNvSpPr/>
          <p:nvPr/>
        </p:nvSpPr>
        <p:spPr>
          <a:xfrm>
            <a:off x="6992194" y="4367155"/>
            <a:ext cx="1440000" cy="612000"/>
          </a:xfrm>
          <a:prstGeom prst="rect">
            <a:avLst/>
          </a:prstGeom>
          <a:solidFill>
            <a:srgbClr val="CFF1E6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히트 상품 </a:t>
            </a:r>
            <a:endParaRPr lang="en-US" altLang="ko-KR" sz="1200" b="1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1200" b="1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라이프사이클 연장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D09CAED-E719-6AAA-1539-2B6E34D22C36}"/>
              </a:ext>
            </a:extLst>
          </p:cNvPr>
          <p:cNvSpPr/>
          <p:nvPr/>
        </p:nvSpPr>
        <p:spPr>
          <a:xfrm>
            <a:off x="8522399" y="5061912"/>
            <a:ext cx="3056759" cy="61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2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과거 기획안을 네트워크에 </a:t>
            </a:r>
            <a:r>
              <a:rPr lang="ko-KR" altLang="en-US" sz="1200" err="1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재투입하여</a:t>
            </a:r>
            <a:endParaRPr lang="en-US" altLang="ko-KR" sz="120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2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어떤 속성을 바꾸면 성공할 수 있을지 </a:t>
            </a:r>
            <a:r>
              <a:rPr lang="ko-KR" altLang="en-US" sz="1200" err="1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재출시</a:t>
            </a:r>
            <a:r>
              <a:rPr lang="ko-KR" altLang="en-US" sz="12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 가능성 진단</a:t>
            </a:r>
            <a:endParaRPr lang="ko-KR" altLang="en-US" sz="120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4FB1CDC-89BD-3C09-63AC-DDF09D75522F}"/>
              </a:ext>
            </a:extLst>
          </p:cNvPr>
          <p:cNvSpPr/>
          <p:nvPr/>
        </p:nvSpPr>
        <p:spPr>
          <a:xfrm>
            <a:off x="6992194" y="5062499"/>
            <a:ext cx="1440000" cy="612000"/>
          </a:xfrm>
          <a:prstGeom prst="rect">
            <a:avLst/>
          </a:prstGeom>
          <a:solidFill>
            <a:srgbClr val="CFF1E6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기획 자산 리사이클링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C5E03C95-DA7A-A0DB-8B38-A8658996D0AF}"/>
              </a:ext>
            </a:extLst>
          </p:cNvPr>
          <p:cNvSpPr/>
          <p:nvPr/>
        </p:nvSpPr>
        <p:spPr>
          <a:xfrm>
            <a:off x="8522399" y="5757551"/>
            <a:ext cx="3056759" cy="30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2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과거 기획안을 네트워크에 재투입해 </a:t>
            </a:r>
            <a:r>
              <a:rPr lang="ko-KR" altLang="en-US" sz="1200" err="1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재출시</a:t>
            </a:r>
            <a:r>
              <a:rPr lang="ko-KR" altLang="en-US" sz="12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 가능성 진단</a:t>
            </a:r>
            <a:endParaRPr lang="ko-KR" altLang="en-US" sz="120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D91BB38-8A6F-0DBE-29AC-658A19802243}"/>
              </a:ext>
            </a:extLst>
          </p:cNvPr>
          <p:cNvSpPr/>
          <p:nvPr/>
        </p:nvSpPr>
        <p:spPr>
          <a:xfrm>
            <a:off x="6992194" y="5757843"/>
            <a:ext cx="1440000" cy="306000"/>
          </a:xfrm>
          <a:prstGeom prst="rect">
            <a:avLst/>
          </a:prstGeom>
          <a:solidFill>
            <a:srgbClr val="CFF1E6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MD </a:t>
            </a:r>
            <a:r>
              <a:rPr lang="ko-KR" altLang="en-US" sz="1200" b="1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기획 리드타임 단축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D15314F-968C-CE7E-CC47-30EA9A535287}"/>
              </a:ext>
            </a:extLst>
          </p:cNvPr>
          <p:cNvSpPr/>
          <p:nvPr/>
        </p:nvSpPr>
        <p:spPr>
          <a:xfrm>
            <a:off x="8522399" y="6147188"/>
            <a:ext cx="3056759" cy="30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2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기획 진단</a:t>
            </a:r>
            <a:r>
              <a:rPr lang="en-US" altLang="ko-KR" sz="12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·</a:t>
            </a:r>
            <a:r>
              <a:rPr lang="ko-KR" altLang="en-US" sz="1200" err="1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카니발리제이션</a:t>
            </a:r>
            <a:r>
              <a:rPr lang="ko-KR" altLang="en-US" sz="12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 경보</a:t>
            </a:r>
            <a:r>
              <a:rPr lang="en-US" altLang="ko-KR" sz="12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·</a:t>
            </a:r>
            <a:r>
              <a:rPr lang="ko-KR" altLang="en-US" sz="120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동반 진열 추천 확인</a:t>
            </a:r>
            <a:endParaRPr lang="ko-KR" altLang="en-US" sz="120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BCA01094-3D72-F6FA-5BDB-0FC7751419BF}"/>
              </a:ext>
            </a:extLst>
          </p:cNvPr>
          <p:cNvSpPr/>
          <p:nvPr/>
        </p:nvSpPr>
        <p:spPr>
          <a:xfrm>
            <a:off x="6992194" y="6147188"/>
            <a:ext cx="1440000" cy="306000"/>
          </a:xfrm>
          <a:prstGeom prst="rect">
            <a:avLst/>
          </a:prstGeom>
          <a:solidFill>
            <a:srgbClr val="CFF1E6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통합 의사결정 대시보드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7559B01-2CFA-2EF3-EF1F-712FB65EE86E}"/>
              </a:ext>
            </a:extLst>
          </p:cNvPr>
          <p:cNvGrpSpPr/>
          <p:nvPr/>
        </p:nvGrpSpPr>
        <p:grpSpPr>
          <a:xfrm>
            <a:off x="518319" y="1898341"/>
            <a:ext cx="11060833" cy="348516"/>
            <a:chOff x="518319" y="1898341"/>
            <a:chExt cx="11060833" cy="348516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C5294D6-2603-C92A-9932-15422317C3F3}"/>
                </a:ext>
              </a:extLst>
            </p:cNvPr>
            <p:cNvSpPr/>
            <p:nvPr/>
          </p:nvSpPr>
          <p:spPr>
            <a:xfrm flipV="1">
              <a:off x="612277" y="2236057"/>
              <a:ext cx="10872000" cy="108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err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75D4FAC-91A1-6B1D-29BB-9AF5E1A64D7A}"/>
                </a:ext>
              </a:extLst>
            </p:cNvPr>
            <p:cNvSpPr txBox="1"/>
            <p:nvPr/>
          </p:nvSpPr>
          <p:spPr>
            <a:xfrm>
              <a:off x="518319" y="1898341"/>
              <a:ext cx="18934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>
                  <a:solidFill>
                    <a:srgbClr val="3F3F3F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문제 정의 및 솔루션 구조</a:t>
              </a:r>
              <a:endParaRPr lang="en-US" altLang="ko-KR" sz="16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C590C12-B2E8-CE09-7CE6-A18D7DE869DA}"/>
                </a:ext>
              </a:extLst>
            </p:cNvPr>
            <p:cNvSpPr/>
            <p:nvPr/>
          </p:nvSpPr>
          <p:spPr>
            <a:xfrm flipV="1">
              <a:off x="6395152" y="2236057"/>
              <a:ext cx="5184000" cy="108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err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957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1495A-490F-82A6-4A53-0FE130F82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6F13F8-625C-CED0-D0AE-07DD014F2DFC}"/>
              </a:ext>
            </a:extLst>
          </p:cNvPr>
          <p:cNvSpPr txBox="1"/>
          <p:nvPr/>
        </p:nvSpPr>
        <p:spPr>
          <a:xfrm>
            <a:off x="518319" y="862399"/>
            <a:ext cx="11157744" cy="410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2000"/>
              </a:lnSpc>
            </a:pP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본 분석은 세븐일레븐 내부 데이터와 외부 소셜</a:t>
            </a:r>
            <a:r>
              <a:rPr kumimoji="1" lang="en-US" altLang="ko-KR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·</a:t>
            </a: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커머스 데이터를 결합하여 구성하였습니다</a:t>
            </a:r>
            <a:endParaRPr kumimoji="1" lang="en-US" altLang="ko-KR" sz="2000"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3A107F-16EE-8DE9-37CC-DC83EA33484A}"/>
              </a:ext>
            </a:extLst>
          </p:cNvPr>
          <p:cNvSpPr txBox="1"/>
          <p:nvPr/>
        </p:nvSpPr>
        <p:spPr>
          <a:xfrm>
            <a:off x="518319" y="407377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10B981"/>
                </a:solidFill>
                <a:latin typeface="프리젠테이션 6 SemiBold" pitchFamily="2" charset="-127"/>
                <a:ea typeface="프리젠테이션 6 SemiBold" pitchFamily="2" charset="-127"/>
              </a:rPr>
              <a:t>데이터 설명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27F9B76-63A1-2F37-463A-F3C499EB0A65}"/>
              </a:ext>
            </a:extLst>
          </p:cNvPr>
          <p:cNvSpPr/>
          <p:nvPr/>
        </p:nvSpPr>
        <p:spPr>
          <a:xfrm>
            <a:off x="1409490" y="2365384"/>
            <a:ext cx="1407182" cy="95973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3C3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144000" rtlCol="0" anchor="ctr"/>
          <a:lstStyle/>
          <a:p>
            <a:pPr lvl="0" algn="ctr">
              <a:defRPr/>
            </a:pPr>
            <a:r>
              <a:rPr lang="ko-KR" altLang="en-US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전체 포스 영수증</a:t>
            </a:r>
            <a:endParaRPr lang="en-US" altLang="ko-KR" sz="1400" b="1" spc="-3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  <a:p>
            <a:pPr lvl="0" algn="ctr">
              <a:defRPr/>
            </a:pPr>
            <a:r>
              <a:rPr lang="ko-KR" altLang="en-US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매출 데이터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41DDF5D-C85F-FAF9-BC65-8CD54C1E09C8}"/>
              </a:ext>
            </a:extLst>
          </p:cNvPr>
          <p:cNvSpPr/>
          <p:nvPr/>
        </p:nvSpPr>
        <p:spPr>
          <a:xfrm>
            <a:off x="2922512" y="2365384"/>
            <a:ext cx="2873766" cy="959739"/>
          </a:xfrm>
          <a:prstGeom prst="rect">
            <a:avLst/>
          </a:prstGeom>
          <a:solidFill>
            <a:schemeClr val="bg1"/>
          </a:solidFill>
          <a:ln w="12700">
            <a:solidFill>
              <a:srgbClr val="C3C3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sz="14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</a:rPr>
              <a:t>상품별 매출 패턴 파악 및 </a:t>
            </a:r>
            <a:endParaRPr lang="en-US" altLang="ko-KR" sz="1400">
              <a:solidFill>
                <a:schemeClr val="bg2">
                  <a:lumMod val="25000"/>
                </a:schemeClr>
              </a:solidFill>
              <a:latin typeface="Freesentation 3 Light" pitchFamily="2" charset="-127"/>
              <a:ea typeface="Freesentation 3 Light" pitchFamily="2" charset="-127"/>
            </a:endParaRPr>
          </a:p>
          <a:p>
            <a:pPr lvl="0" algn="ctr">
              <a:defRPr/>
            </a:pPr>
            <a:r>
              <a:rPr lang="ko-KR" altLang="en-US" sz="14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</a:rPr>
              <a:t>히트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</a:rPr>
              <a:t>·</a:t>
            </a:r>
            <a:r>
              <a:rPr lang="ko-KR" altLang="en-US" sz="14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</a:rPr>
              <a:t>부진 상품 분류 기준 정립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022D1F-FB14-F923-F437-A231C86330F4}"/>
              </a:ext>
            </a:extLst>
          </p:cNvPr>
          <p:cNvSpPr/>
          <p:nvPr/>
        </p:nvSpPr>
        <p:spPr>
          <a:xfrm>
            <a:off x="1409490" y="3406394"/>
            <a:ext cx="1407182" cy="95973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3C3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144000" rtlCol="0" anchor="ctr"/>
          <a:lstStyle/>
          <a:p>
            <a:pPr lvl="0" algn="ctr">
              <a:defRPr/>
            </a:pPr>
            <a:r>
              <a:rPr lang="ko-KR" altLang="en-US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온라인 포스 </a:t>
            </a:r>
            <a:endParaRPr lang="en-US" altLang="ko-KR" sz="1400" b="1" spc="-3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  <a:p>
            <a:pPr lvl="0" algn="ctr">
              <a:defRPr/>
            </a:pPr>
            <a:r>
              <a:rPr lang="ko-KR" altLang="en-US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데이터</a:t>
            </a:r>
            <a:endParaRPr lang="en-US" altLang="ko-KR" sz="1400" b="1" spc="-3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AB601E-48F9-4143-E54C-434C31646EB0}"/>
              </a:ext>
            </a:extLst>
          </p:cNvPr>
          <p:cNvSpPr/>
          <p:nvPr/>
        </p:nvSpPr>
        <p:spPr>
          <a:xfrm>
            <a:off x="2922512" y="3406394"/>
            <a:ext cx="2873766" cy="959739"/>
          </a:xfrm>
          <a:prstGeom prst="rect">
            <a:avLst/>
          </a:prstGeom>
          <a:solidFill>
            <a:schemeClr val="bg1"/>
          </a:solidFill>
          <a:ln w="12700">
            <a:solidFill>
              <a:srgbClr val="C3C3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sz="14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</a:rPr>
              <a:t>배달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</a:rPr>
              <a:t>/</a:t>
            </a:r>
            <a:r>
              <a:rPr lang="ko-KR" altLang="en-US" sz="14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</a:rPr>
              <a:t>픽업 구매 트렌드 분석 및</a:t>
            </a:r>
            <a:endParaRPr lang="en-US" altLang="ko-KR" sz="1400">
              <a:solidFill>
                <a:schemeClr val="bg2">
                  <a:lumMod val="25000"/>
                </a:schemeClr>
              </a:solidFill>
              <a:latin typeface="Freesentation 3 Light" pitchFamily="2" charset="-127"/>
              <a:ea typeface="Freesentation 3 Light" pitchFamily="2" charset="-127"/>
            </a:endParaRPr>
          </a:p>
          <a:p>
            <a:pPr lvl="0" algn="ctr">
              <a:defRPr/>
            </a:pPr>
            <a:r>
              <a:rPr lang="ko-KR" altLang="en-US" sz="14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</a:rPr>
              <a:t>온라인에서의 상품별 매출 패턴 파악</a:t>
            </a:r>
            <a:endParaRPr lang="en-US" altLang="ko-KR" sz="1400" spc="-30">
              <a:solidFill>
                <a:schemeClr val="bg2">
                  <a:lumMod val="25000"/>
                </a:schemeClr>
              </a:solidFill>
              <a:latin typeface="Freesentation 3 Light" pitchFamily="2" charset="-127"/>
              <a:ea typeface="Freesentation 3 Light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EA49538-C0CB-8BF2-C4BC-F38790D22075}"/>
              </a:ext>
            </a:extLst>
          </p:cNvPr>
          <p:cNvSpPr/>
          <p:nvPr/>
        </p:nvSpPr>
        <p:spPr>
          <a:xfrm flipV="1">
            <a:off x="6395152" y="2236057"/>
            <a:ext cx="5184000" cy="108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err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9CAF94-D573-4AA3-671A-C330A90C14C3}"/>
              </a:ext>
            </a:extLst>
          </p:cNvPr>
          <p:cNvSpPr txBox="1"/>
          <p:nvPr/>
        </p:nvSpPr>
        <p:spPr>
          <a:xfrm>
            <a:off x="6301194" y="1898341"/>
            <a:ext cx="1008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외부 데이터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965D82-503A-A9A0-19C1-0D0B4F40A923}"/>
              </a:ext>
            </a:extLst>
          </p:cNvPr>
          <p:cNvSpPr/>
          <p:nvPr/>
        </p:nvSpPr>
        <p:spPr>
          <a:xfrm flipV="1">
            <a:off x="612277" y="2236057"/>
            <a:ext cx="5184000" cy="108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err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E1C9F6-A47A-992F-B30C-5C9602ABE2C3}"/>
              </a:ext>
            </a:extLst>
          </p:cNvPr>
          <p:cNvSpPr txBox="1"/>
          <p:nvPr/>
        </p:nvSpPr>
        <p:spPr>
          <a:xfrm>
            <a:off x="518319" y="1898341"/>
            <a:ext cx="10005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내부</a:t>
            </a:r>
            <a:r>
              <a:rPr lang="en-US" altLang="ko-KR" sz="16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6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데이터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2360D27-D8D0-60E1-0F39-76F56C601E13}"/>
              </a:ext>
            </a:extLst>
          </p:cNvPr>
          <p:cNvSpPr/>
          <p:nvPr/>
        </p:nvSpPr>
        <p:spPr>
          <a:xfrm>
            <a:off x="1409490" y="4447404"/>
            <a:ext cx="1407182" cy="95973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3C3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144000" rtlCol="0" anchor="ctr"/>
          <a:lstStyle/>
          <a:p>
            <a:pPr lvl="0" algn="ctr">
              <a:defRPr/>
            </a:pPr>
            <a:r>
              <a:rPr lang="ko-KR" altLang="en-US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상품 마스터 및</a:t>
            </a:r>
            <a:endParaRPr lang="en-US" altLang="ko-KR" sz="1400" b="1" spc="-3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  <a:p>
            <a:pPr lvl="0" algn="ctr">
              <a:defRPr/>
            </a:pPr>
            <a:r>
              <a:rPr lang="ko-KR" altLang="en-US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분류 체계 데이터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5DD9FB0-D9C5-9505-26C5-0119B80E94A8}"/>
              </a:ext>
            </a:extLst>
          </p:cNvPr>
          <p:cNvSpPr/>
          <p:nvPr/>
        </p:nvSpPr>
        <p:spPr>
          <a:xfrm>
            <a:off x="2922512" y="4447404"/>
            <a:ext cx="2873766" cy="959739"/>
          </a:xfrm>
          <a:prstGeom prst="rect">
            <a:avLst/>
          </a:prstGeom>
          <a:solidFill>
            <a:schemeClr val="bg1"/>
          </a:solidFill>
          <a:ln w="12700">
            <a:solidFill>
              <a:srgbClr val="C3C3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</a:rPr>
              <a:t>상품별 카테고리 확인 및 식별</a:t>
            </a:r>
            <a:endParaRPr lang="en-US" altLang="ko-KR" sz="1400">
              <a:solidFill>
                <a:schemeClr val="bg2">
                  <a:lumMod val="25000"/>
                </a:schemeClr>
              </a:solidFill>
              <a:latin typeface="Freesentation 3 Light" pitchFamily="2" charset="-127"/>
              <a:ea typeface="Freesentation 3 Light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86EF68-A0D9-EA9A-A2B1-331F08BED69C}"/>
              </a:ext>
            </a:extLst>
          </p:cNvPr>
          <p:cNvSpPr/>
          <p:nvPr/>
        </p:nvSpPr>
        <p:spPr>
          <a:xfrm>
            <a:off x="1409490" y="5488415"/>
            <a:ext cx="1407182" cy="95973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3C3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144000" rtlCol="0" anchor="ctr"/>
          <a:lstStyle/>
          <a:p>
            <a:pPr lvl="0" algn="ctr">
              <a:defRPr/>
            </a:pPr>
            <a:r>
              <a:rPr lang="ko-KR" altLang="en-US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프로모션 </a:t>
            </a:r>
            <a:endParaRPr lang="en-US" altLang="ko-KR" sz="1400" b="1" spc="-3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  <a:p>
            <a:pPr lvl="0" algn="ctr">
              <a:defRPr/>
            </a:pPr>
            <a:r>
              <a:rPr lang="ko-KR" altLang="en-US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마스터</a:t>
            </a:r>
            <a:r>
              <a:rPr lang="en-US" altLang="ko-KR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데이터</a:t>
            </a:r>
            <a:endParaRPr lang="en-US" altLang="ko-KR" sz="1400" b="1" spc="-3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6995504-1F0B-D7EC-874F-8F72B3EAACC7}"/>
              </a:ext>
            </a:extLst>
          </p:cNvPr>
          <p:cNvSpPr/>
          <p:nvPr/>
        </p:nvSpPr>
        <p:spPr>
          <a:xfrm>
            <a:off x="2922512" y="5488415"/>
            <a:ext cx="2873766" cy="959739"/>
          </a:xfrm>
          <a:prstGeom prst="rect">
            <a:avLst/>
          </a:prstGeom>
          <a:solidFill>
            <a:schemeClr val="bg1"/>
          </a:solidFill>
          <a:ln w="12700">
            <a:solidFill>
              <a:srgbClr val="C3C3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sz="14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</a:rPr>
              <a:t>프로모션 파급 효과를 통제하여</a:t>
            </a:r>
            <a:r>
              <a:rPr lang="en-US" altLang="ko-KR" sz="14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</a:rPr>
              <a:t>,</a:t>
            </a:r>
          </a:p>
          <a:p>
            <a:pPr lvl="0" algn="ctr">
              <a:defRPr/>
            </a:pPr>
            <a:r>
              <a:rPr lang="ko-KR" altLang="en-US" sz="14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</a:rPr>
              <a:t>상품 본연의 순수 속성 판매 효과 분석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898234E-F1CE-97A9-78A4-016807F424E9}"/>
              </a:ext>
            </a:extLst>
          </p:cNvPr>
          <p:cNvSpPr/>
          <p:nvPr/>
        </p:nvSpPr>
        <p:spPr>
          <a:xfrm>
            <a:off x="613345" y="2365384"/>
            <a:ext cx="690305" cy="4087804"/>
          </a:xfrm>
          <a:prstGeom prst="rect">
            <a:avLst/>
          </a:prstGeom>
          <a:solidFill>
            <a:srgbClr val="12724E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ko-KR" altLang="en-US" sz="1400" b="1" spc="-3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F352FA1-A47D-40E0-F00D-90B4692B10FA}"/>
              </a:ext>
            </a:extLst>
          </p:cNvPr>
          <p:cNvSpPr/>
          <p:nvPr/>
        </p:nvSpPr>
        <p:spPr>
          <a:xfrm>
            <a:off x="7191297" y="3406395"/>
            <a:ext cx="1407182" cy="20007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3C3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144000" rtlCol="0" anchor="ctr"/>
          <a:lstStyle/>
          <a:p>
            <a:pPr lvl="0" algn="ctr">
              <a:defRPr/>
            </a:pPr>
            <a:r>
              <a:rPr lang="ko-KR" altLang="en-US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인스타그램</a:t>
            </a:r>
            <a:endParaRPr lang="en-US" altLang="ko-KR" sz="1400" b="1" spc="-3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  <a:p>
            <a:pPr lvl="0" algn="ctr">
              <a:defRPr/>
            </a:pPr>
            <a:r>
              <a:rPr lang="ko-KR" altLang="en-US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편의점 </a:t>
            </a:r>
            <a:r>
              <a:rPr lang="en-US" altLang="ko-KR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사 게시물</a:t>
            </a:r>
            <a:endParaRPr lang="en-US" altLang="ko-KR" sz="1400" b="1" spc="-3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7AC3F23-0CAB-7BA2-0BE6-1CFC28DF622F}"/>
              </a:ext>
            </a:extLst>
          </p:cNvPr>
          <p:cNvSpPr/>
          <p:nvPr/>
        </p:nvSpPr>
        <p:spPr>
          <a:xfrm>
            <a:off x="8704319" y="3406395"/>
            <a:ext cx="2873766" cy="2000748"/>
          </a:xfrm>
          <a:prstGeom prst="rect">
            <a:avLst/>
          </a:prstGeom>
          <a:solidFill>
            <a:schemeClr val="bg1"/>
          </a:solidFill>
          <a:ln w="12700">
            <a:solidFill>
              <a:srgbClr val="C3C3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신상품 출시 및 프로모션 패턴 파악</a:t>
            </a:r>
          </a:p>
          <a:p>
            <a:pPr algn="ctr"/>
            <a:r>
              <a:rPr lang="ko-KR" altLang="en-US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경쟁사 상품 기획 방향 모니터링</a:t>
            </a:r>
          </a:p>
          <a:p>
            <a:pPr algn="ctr"/>
            <a:r>
              <a:rPr lang="ko-KR" altLang="en-US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게시물 메타데이터</a:t>
            </a:r>
            <a:r>
              <a:rPr lang="en-US" altLang="ko-KR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가격</a:t>
            </a:r>
            <a:r>
              <a:rPr lang="en-US" altLang="ko-KR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용량</a:t>
            </a:r>
            <a:r>
              <a:rPr lang="en-US" altLang="ko-KR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·TPO) </a:t>
            </a:r>
            <a:r>
              <a:rPr lang="ko-KR" altLang="en-US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구조화</a:t>
            </a:r>
            <a:endParaRPr lang="en-US" altLang="ko-KR" sz="1400" spc="-30">
              <a:solidFill>
                <a:schemeClr val="bg2">
                  <a:lumMod val="25000"/>
                </a:schemeClr>
              </a:solidFill>
              <a:latin typeface="프리젠테이션 3 Light" pitchFamily="2" charset="-127"/>
              <a:ea typeface="프리젠테이션 3 Light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E890850-64B1-640C-0B27-DE292002C777}"/>
              </a:ext>
            </a:extLst>
          </p:cNvPr>
          <p:cNvSpPr/>
          <p:nvPr/>
        </p:nvSpPr>
        <p:spPr>
          <a:xfrm>
            <a:off x="7191297" y="2365384"/>
            <a:ext cx="1407182" cy="95973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3C3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144000" rtlCol="0" anchor="ctr"/>
          <a:lstStyle/>
          <a:p>
            <a:pPr lvl="0" algn="ctr">
              <a:defRPr/>
            </a:pPr>
            <a:r>
              <a:rPr lang="ko-KR" altLang="en-US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인스타그램</a:t>
            </a:r>
            <a:endParaRPr lang="en-US" altLang="ko-KR" sz="1400" b="1" spc="-3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  <a:p>
            <a:pPr lvl="0" algn="ctr">
              <a:defRPr/>
            </a:pPr>
            <a:r>
              <a:rPr lang="ko-KR" altLang="en-US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트렌드 미디어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2352E0A-06A1-AED3-2228-D9AE78600C69}"/>
              </a:ext>
            </a:extLst>
          </p:cNvPr>
          <p:cNvSpPr/>
          <p:nvPr/>
        </p:nvSpPr>
        <p:spPr>
          <a:xfrm>
            <a:off x="8704319" y="2365384"/>
            <a:ext cx="2873766" cy="959739"/>
          </a:xfrm>
          <a:prstGeom prst="rect">
            <a:avLst/>
          </a:prstGeom>
          <a:solidFill>
            <a:schemeClr val="bg1"/>
          </a:solidFill>
          <a:ln w="12700">
            <a:solidFill>
              <a:srgbClr val="C3C3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핵심 트렌드 키워드 추출</a:t>
            </a:r>
          </a:p>
          <a:p>
            <a:pPr algn="ctr" latinLnBrk="1"/>
            <a:r>
              <a:rPr lang="ko-KR" altLang="en-US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메가 트렌드 포착</a:t>
            </a:r>
            <a:r>
              <a:rPr lang="en-US" altLang="ko-KR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실제 매출 연결 가능성 필터링</a:t>
            </a:r>
          </a:p>
          <a:p>
            <a:pPr algn="ctr" latinLnBrk="1"/>
            <a:r>
              <a:rPr lang="ko-KR" altLang="en-US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트렌드 노드 구성 </a:t>
            </a:r>
            <a:r>
              <a:rPr lang="ko-KR" altLang="en-US" sz="1400" spc="-30" err="1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입력값으로</a:t>
            </a:r>
            <a:r>
              <a:rPr lang="ko-KR" altLang="en-US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 활용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8872B1E-CEA3-D208-14D7-BDCC6B6148D5}"/>
              </a:ext>
            </a:extLst>
          </p:cNvPr>
          <p:cNvSpPr/>
          <p:nvPr/>
        </p:nvSpPr>
        <p:spPr>
          <a:xfrm>
            <a:off x="7191297" y="5488415"/>
            <a:ext cx="1407182" cy="95973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3C3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lvl="0" algn="ctr">
              <a:defRPr/>
            </a:pPr>
            <a:r>
              <a:rPr lang="ko-KR" altLang="en-US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네이버 블로그</a:t>
            </a:r>
            <a:endParaRPr lang="en-US" altLang="ko-KR" sz="1400" b="1" spc="-3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  <a:p>
            <a:pPr lvl="0" algn="ctr">
              <a:defRPr/>
            </a:pPr>
            <a:r>
              <a:rPr lang="ko-KR" altLang="en-US" sz="1400" b="1" spc="-3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제품 후기</a:t>
            </a:r>
            <a:endParaRPr lang="en-US" altLang="ko-KR" sz="1400" b="1" spc="-3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4854983-B551-D30A-0A50-EC100644F7E7}"/>
              </a:ext>
            </a:extLst>
          </p:cNvPr>
          <p:cNvSpPr/>
          <p:nvPr/>
        </p:nvSpPr>
        <p:spPr>
          <a:xfrm>
            <a:off x="8704319" y="5488415"/>
            <a:ext cx="2873766" cy="959739"/>
          </a:xfrm>
          <a:prstGeom prst="rect">
            <a:avLst/>
          </a:prstGeom>
          <a:solidFill>
            <a:schemeClr val="bg1"/>
          </a:solidFill>
          <a:ln w="12700">
            <a:solidFill>
              <a:srgbClr val="C3C3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실사용 가격</a:t>
            </a:r>
            <a:r>
              <a:rPr lang="en-US" altLang="ko-KR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용량 정보 보완</a:t>
            </a:r>
          </a:p>
          <a:p>
            <a:pPr algn="ctr"/>
            <a:r>
              <a:rPr lang="ko-KR" altLang="en-US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맛</a:t>
            </a:r>
            <a:r>
              <a:rPr lang="en-US" altLang="ko-KR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00" spc="-30" err="1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식감</a:t>
            </a:r>
            <a:r>
              <a:rPr lang="en-US" altLang="ko-KR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향 등 관능 평가 속성 자동 추출</a:t>
            </a:r>
          </a:p>
          <a:p>
            <a:pPr algn="ctr"/>
            <a:r>
              <a:rPr lang="en-US" altLang="ko-KR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GNN </a:t>
            </a:r>
            <a:r>
              <a:rPr lang="ko-KR" altLang="en-US" sz="1400" spc="-30">
                <a:solidFill>
                  <a:schemeClr val="bg2">
                    <a:lumMod val="2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" panose="02000503000000020004" pitchFamily="2" charset="-127"/>
              </a:rPr>
              <a:t>노드의 피처로 활용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7A2D921-52E9-B2DF-EBB7-FBE467A7CF36}"/>
              </a:ext>
            </a:extLst>
          </p:cNvPr>
          <p:cNvSpPr/>
          <p:nvPr/>
        </p:nvSpPr>
        <p:spPr>
          <a:xfrm>
            <a:off x="6395152" y="2365384"/>
            <a:ext cx="690305" cy="3041759"/>
          </a:xfrm>
          <a:prstGeom prst="rect">
            <a:avLst/>
          </a:prstGeom>
          <a:gradFill flip="none" rotWithShape="1">
            <a:gsLst>
              <a:gs pos="0">
                <a:srgbClr val="FF2973"/>
              </a:gs>
              <a:gs pos="33000">
                <a:srgbClr val="FA1B82"/>
              </a:gs>
              <a:gs pos="66000">
                <a:srgbClr val="F61BC9"/>
              </a:gs>
              <a:gs pos="100000">
                <a:srgbClr val="AF02E1"/>
              </a:gs>
            </a:gsLst>
            <a:lin ang="13500000" scaled="1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ko-KR" altLang="en-US" sz="1400" b="1" spc="-3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5B82E1FA-581E-0FD2-9E07-7C736F175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570" y="3672529"/>
            <a:ext cx="427469" cy="427469"/>
          </a:xfrm>
          <a:prstGeom prst="rect">
            <a:avLst/>
          </a:prstGeom>
        </p:spPr>
      </p:pic>
      <p:sp>
        <p:nvSpPr>
          <p:cNvPr id="48" name="직사각형 47">
            <a:extLst>
              <a:ext uri="{FF2B5EF4-FFF2-40B4-BE49-F238E27FC236}">
                <a16:creationId xmlns:a16="http://schemas.microsoft.com/office/drawing/2014/main" id="{8E2C3E5E-C843-441A-BBDF-359BB56B9401}"/>
              </a:ext>
            </a:extLst>
          </p:cNvPr>
          <p:cNvSpPr/>
          <p:nvPr/>
        </p:nvSpPr>
        <p:spPr>
          <a:xfrm>
            <a:off x="6395152" y="5488415"/>
            <a:ext cx="690305" cy="959739"/>
          </a:xfrm>
          <a:prstGeom prst="rect">
            <a:avLst/>
          </a:prstGeom>
          <a:solidFill>
            <a:srgbClr val="2BB24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ko-KR" altLang="en-US" sz="1400" b="1" spc="-3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FC762B59-ABBB-2D2B-C04E-652D1DA7EF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101" r="31590"/>
          <a:stretch>
            <a:fillRect/>
          </a:stretch>
        </p:blipFill>
        <p:spPr>
          <a:xfrm>
            <a:off x="744763" y="4027374"/>
            <a:ext cx="427468" cy="763824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CF5D1095-9C08-6213-F392-A29C671814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966" y="5744108"/>
            <a:ext cx="416676" cy="448353"/>
          </a:xfrm>
          <a:prstGeom prst="rect">
            <a:avLst/>
          </a:prstGeom>
        </p:spPr>
      </p:pic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CA2A20D6-8ECF-5D65-C287-AFF335B36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8783" y="6356350"/>
            <a:ext cx="2743200" cy="365125"/>
          </a:xfrm>
        </p:spPr>
        <p:txBody>
          <a:bodyPr/>
          <a:lstStyle/>
          <a:p>
            <a:fld id="{051A2888-50A6-4659-9E30-8B27A4C58FE7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5DB409-3B9E-1459-934D-056DD801D0B2}"/>
              </a:ext>
            </a:extLst>
          </p:cNvPr>
          <p:cNvSpPr txBox="1"/>
          <p:nvPr/>
        </p:nvSpPr>
        <p:spPr>
          <a:xfrm>
            <a:off x="1435081" y="1926010"/>
            <a:ext cx="1845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latin typeface="프리젠테이션 4 Regular" pitchFamily="2" charset="-127"/>
                <a:ea typeface="프리젠테이션 4 Regular" pitchFamily="2" charset="-127"/>
              </a:rPr>
              <a:t>기간</a:t>
            </a:r>
            <a:r>
              <a:rPr lang="en-US" altLang="ko-KR" sz="1200">
                <a:latin typeface="프리젠테이션 4 Regular" pitchFamily="2" charset="-127"/>
                <a:ea typeface="프리젠테이션 4 Regular" pitchFamily="2" charset="-127"/>
              </a:rPr>
              <a:t>: 2025.01 ~ 2025.12 </a:t>
            </a:r>
            <a:r>
              <a:rPr lang="ko-KR" altLang="en-US" sz="120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|</a:t>
            </a:r>
            <a:endParaRPr lang="ko-KR" altLang="en-US" sz="1200">
              <a:solidFill>
                <a:schemeClr val="tx1">
                  <a:lumMod val="50000"/>
                  <a:lumOff val="50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CD9863-EE14-4FE6-2C56-DD3E58C3471D}"/>
              </a:ext>
            </a:extLst>
          </p:cNvPr>
          <p:cNvSpPr txBox="1"/>
          <p:nvPr/>
        </p:nvSpPr>
        <p:spPr>
          <a:xfrm>
            <a:off x="7205894" y="1926010"/>
            <a:ext cx="1781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latin typeface="프리젠테이션 4 Regular" pitchFamily="2" charset="-127"/>
                <a:ea typeface="프리젠테이션 4 Regular" pitchFamily="2" charset="-127"/>
              </a:rPr>
              <a:t>기간</a:t>
            </a:r>
            <a:r>
              <a:rPr lang="en-US" altLang="ko-KR" sz="1200">
                <a:latin typeface="프리젠테이션 4 Regular" pitchFamily="2" charset="-127"/>
                <a:ea typeface="프리젠테이션 4 Regular" pitchFamily="2" charset="-127"/>
              </a:rPr>
              <a:t>: 2025.01 ~ 2025.12 </a:t>
            </a:r>
            <a:endParaRPr lang="ko-KR" altLang="en-US" sz="120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AC24A6-0DC1-695E-7EFB-E37296F5E3D3}"/>
              </a:ext>
            </a:extLst>
          </p:cNvPr>
          <p:cNvSpPr txBox="1"/>
          <p:nvPr/>
        </p:nvSpPr>
        <p:spPr>
          <a:xfrm>
            <a:off x="3115245" y="1926010"/>
            <a:ext cx="1713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latin typeface="프리젠테이션 4 Regular" pitchFamily="2" charset="-127"/>
                <a:ea typeface="프리젠테이션 4 Regular" pitchFamily="2" charset="-127"/>
              </a:rPr>
              <a:t>지역</a:t>
            </a:r>
            <a:r>
              <a:rPr lang="en-US" altLang="ko-KR" sz="1200">
                <a:latin typeface="프리젠테이션 4 Regular" pitchFamily="2" charset="-127"/>
                <a:ea typeface="프리젠테이션 4 Regular" pitchFamily="2" charset="-127"/>
              </a:rPr>
              <a:t>:</a:t>
            </a:r>
            <a:r>
              <a:rPr lang="ko-KR" altLang="en-US" sz="1200">
                <a:latin typeface="프리젠테이션 4 Regular" pitchFamily="2" charset="-127"/>
                <a:ea typeface="프리젠테이션 4 Regular" pitchFamily="2" charset="-127"/>
              </a:rPr>
              <a:t> 강남구</a:t>
            </a:r>
            <a:r>
              <a:rPr lang="en-US" altLang="ko-KR" sz="1200">
                <a:latin typeface="프리젠테이션 4 Regular" pitchFamily="2" charset="-127"/>
                <a:ea typeface="프리젠테이션 4 Regular" pitchFamily="2" charset="-127"/>
              </a:rPr>
              <a:t>/</a:t>
            </a:r>
            <a:r>
              <a:rPr lang="ko-KR" altLang="en-US" sz="1200">
                <a:latin typeface="프리젠테이션 4 Regular" pitchFamily="2" charset="-127"/>
                <a:ea typeface="프리젠테이션 4 Regular" pitchFamily="2" charset="-127"/>
              </a:rPr>
              <a:t>마포구</a:t>
            </a:r>
            <a:r>
              <a:rPr lang="en-US" altLang="ko-KR" sz="1200">
                <a:latin typeface="프리젠테이션 4 Regular" pitchFamily="2" charset="-127"/>
                <a:ea typeface="프리젠테이션 4 Regular" pitchFamily="2" charset="-127"/>
              </a:rPr>
              <a:t>/</a:t>
            </a:r>
            <a:r>
              <a:rPr lang="ko-KR" altLang="en-US" sz="1200">
                <a:latin typeface="프리젠테이션 4 Regular" pitchFamily="2" charset="-127"/>
                <a:ea typeface="프리젠테이션 4 Regular" pitchFamily="2" charset="-127"/>
              </a:rPr>
              <a:t>송파구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89F43-A72B-B350-66CD-500C13DF0ABE}"/>
              </a:ext>
            </a:extLst>
          </p:cNvPr>
          <p:cNvSpPr txBox="1"/>
          <p:nvPr/>
        </p:nvSpPr>
        <p:spPr>
          <a:xfrm>
            <a:off x="1608776" y="3000835"/>
            <a:ext cx="10086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>
                <a:solidFill>
                  <a:srgbClr val="7F7F7F"/>
                </a:solidFill>
                <a:latin typeface="프리젠테이션 6 SemiBold" pitchFamily="2" charset="-127"/>
                <a:ea typeface="프리젠테이션 6 SemiBold" pitchFamily="2" charset="-127"/>
              </a:rPr>
              <a:t>[ B2_POS_SALE ]</a:t>
            </a:r>
            <a:endParaRPr lang="ko-KR" altLang="en-US" sz="800">
              <a:solidFill>
                <a:srgbClr val="7F7F7F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359A0B-A374-68F9-9482-CC835CBC22F3}"/>
              </a:ext>
            </a:extLst>
          </p:cNvPr>
          <p:cNvSpPr txBox="1"/>
          <p:nvPr/>
        </p:nvSpPr>
        <p:spPr>
          <a:xfrm>
            <a:off x="1465307" y="4050705"/>
            <a:ext cx="12955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>
                <a:solidFill>
                  <a:srgbClr val="7F7F7F"/>
                </a:solidFill>
                <a:latin typeface="프리젠테이션 6 SemiBold" pitchFamily="2" charset="-127"/>
                <a:ea typeface="프리젠테이션 6 SemiBold" pitchFamily="2" charset="-127"/>
              </a:rPr>
              <a:t>[ B3_OLN_ODR_DLVR ]</a:t>
            </a:r>
            <a:endParaRPr lang="ko-KR" altLang="en-US" sz="800">
              <a:solidFill>
                <a:srgbClr val="7F7F7F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406593-CE03-C883-B86C-AAB0A6DE38C1}"/>
              </a:ext>
            </a:extLst>
          </p:cNvPr>
          <p:cNvSpPr txBox="1"/>
          <p:nvPr/>
        </p:nvSpPr>
        <p:spPr>
          <a:xfrm>
            <a:off x="1502176" y="5089888"/>
            <a:ext cx="12218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>
                <a:solidFill>
                  <a:srgbClr val="7F7F7F"/>
                </a:solidFill>
                <a:latin typeface="프리젠테이션 6 SemiBold" pitchFamily="2" charset="-127"/>
                <a:ea typeface="프리젠테이션 6 SemiBold" pitchFamily="2" charset="-127"/>
              </a:rPr>
              <a:t>[ B4_ITEM_DV_INFO]</a:t>
            </a:r>
            <a:endParaRPr lang="ko-KR" altLang="en-US" sz="800">
              <a:solidFill>
                <a:srgbClr val="7F7F7F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A212FD-9D0D-0F61-E627-AC8520B80B0B}"/>
              </a:ext>
            </a:extLst>
          </p:cNvPr>
          <p:cNvSpPr txBox="1"/>
          <p:nvPr/>
        </p:nvSpPr>
        <p:spPr>
          <a:xfrm>
            <a:off x="1603967" y="6106181"/>
            <a:ext cx="10182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>
                <a:solidFill>
                  <a:srgbClr val="7F7F7F"/>
                </a:solidFill>
                <a:latin typeface="프리젠테이션 6 SemiBold" pitchFamily="2" charset="-127"/>
                <a:ea typeface="프리젠테이션 6 SemiBold" pitchFamily="2" charset="-127"/>
              </a:rPr>
              <a:t>[ B5_MNM_EVN 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BFCC10-6A8E-1E54-F55A-2BF52BFA2B86}"/>
              </a:ext>
            </a:extLst>
          </p:cNvPr>
          <p:cNvSpPr txBox="1"/>
          <p:nvPr/>
        </p:nvSpPr>
        <p:spPr>
          <a:xfrm>
            <a:off x="7374553" y="2987583"/>
            <a:ext cx="10406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>
                <a:solidFill>
                  <a:srgbClr val="7F7F7F"/>
                </a:solidFill>
                <a:latin typeface="프리젠테이션 6 SemiBold" pitchFamily="2" charset="-127"/>
                <a:ea typeface="프리젠테이션 6 SemiBold" pitchFamily="2" charset="-127"/>
              </a:rPr>
              <a:t>@</a:t>
            </a:r>
            <a:r>
              <a:rPr lang="en-US" altLang="ko-KR" sz="800" err="1">
                <a:solidFill>
                  <a:srgbClr val="7F7F7F"/>
                </a:solidFill>
                <a:latin typeface="프리젠테이션 6 SemiBold" pitchFamily="2" charset="-127"/>
                <a:ea typeface="프리젠테이션 6 SemiBold" pitchFamily="2" charset="-127"/>
              </a:rPr>
              <a:t>knewnew.official</a:t>
            </a:r>
            <a:endParaRPr lang="ko-KR" altLang="en-US" sz="800">
              <a:solidFill>
                <a:srgbClr val="7F7F7F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36061B-E766-4A50-A517-BB3F58868B42}"/>
              </a:ext>
            </a:extLst>
          </p:cNvPr>
          <p:cNvSpPr txBox="1"/>
          <p:nvPr/>
        </p:nvSpPr>
        <p:spPr>
          <a:xfrm>
            <a:off x="7247115" y="4575977"/>
            <a:ext cx="1295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>
                <a:solidFill>
                  <a:srgbClr val="7F7F7F"/>
                </a:solidFill>
                <a:latin typeface="프리젠테이션 6 SemiBold" pitchFamily="2" charset="-127"/>
                <a:ea typeface="프리젠테이션 6 SemiBold" pitchFamily="2" charset="-127"/>
              </a:rPr>
              <a:t>세븐일레븐 </a:t>
            </a:r>
            <a:r>
              <a:rPr lang="en-US" altLang="ko-KR" sz="800">
                <a:solidFill>
                  <a:srgbClr val="7F7F7F"/>
                </a:solidFill>
                <a:latin typeface="프리젠테이션 6 SemiBold" pitchFamily="2" charset="-127"/>
                <a:ea typeface="프리젠테이션 6 SemiBold" pitchFamily="2" charset="-127"/>
              </a:rPr>
              <a:t>@7elevenkorea</a:t>
            </a:r>
          </a:p>
          <a:p>
            <a:pPr algn="ctr"/>
            <a:r>
              <a:rPr lang="en-US" altLang="ko-KR" sz="800">
                <a:solidFill>
                  <a:srgbClr val="7F7F7F"/>
                </a:solidFill>
                <a:latin typeface="프리젠테이션 6 SemiBold" pitchFamily="2" charset="-127"/>
                <a:ea typeface="프리젠테이션 6 SemiBold" pitchFamily="2" charset="-127"/>
              </a:rPr>
              <a:t>CU @</a:t>
            </a:r>
            <a:r>
              <a:rPr lang="en-US" altLang="ko-KR" sz="800" err="1">
                <a:solidFill>
                  <a:srgbClr val="7F7F7F"/>
                </a:solidFill>
                <a:latin typeface="프리젠테이션 6 SemiBold" pitchFamily="2" charset="-127"/>
                <a:ea typeface="프리젠테이션 6 SemiBold" pitchFamily="2" charset="-127"/>
              </a:rPr>
              <a:t>cu_official</a:t>
            </a:r>
            <a:endParaRPr lang="en-US" altLang="ko-KR" sz="800">
              <a:solidFill>
                <a:srgbClr val="7F7F7F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algn="ctr"/>
            <a:r>
              <a:rPr lang="en-US" altLang="ko-KR" sz="800">
                <a:solidFill>
                  <a:srgbClr val="7F7F7F"/>
                </a:solidFill>
                <a:latin typeface="프리젠테이션 6 SemiBold" pitchFamily="2" charset="-127"/>
                <a:ea typeface="프리젠테이션 6 SemiBold" pitchFamily="2" charset="-127"/>
              </a:rPr>
              <a:t>GS25 @gs25_official</a:t>
            </a:r>
          </a:p>
        </p:txBody>
      </p:sp>
    </p:spTree>
    <p:extLst>
      <p:ext uri="{BB962C8B-B14F-4D97-AF65-F5344CB8AC3E}">
        <p14:creationId xmlns:p14="http://schemas.microsoft.com/office/powerpoint/2010/main" val="1839168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96FEC-54D7-AC14-5803-E735791E9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사각형: 둥근 모서리 17">
            <a:extLst>
              <a:ext uri="{FF2B5EF4-FFF2-40B4-BE49-F238E27FC236}">
                <a16:creationId xmlns:a16="http://schemas.microsoft.com/office/drawing/2014/main" id="{0210E5E0-9D64-6DFD-0091-3281FFDD0554}"/>
              </a:ext>
            </a:extLst>
          </p:cNvPr>
          <p:cNvSpPr/>
          <p:nvPr/>
        </p:nvSpPr>
        <p:spPr>
          <a:xfrm>
            <a:off x="9109927" y="2545288"/>
            <a:ext cx="2362456" cy="3917740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err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039" name="사각형: 둥근 모서리 113">
            <a:extLst>
              <a:ext uri="{FF2B5EF4-FFF2-40B4-BE49-F238E27FC236}">
                <a16:creationId xmlns:a16="http://schemas.microsoft.com/office/drawing/2014/main" id="{7CDB6D6F-99B0-CEE0-98FE-672EB266D0E6}"/>
              </a:ext>
            </a:extLst>
          </p:cNvPr>
          <p:cNvSpPr>
            <a:spLocks/>
          </p:cNvSpPr>
          <p:nvPr/>
        </p:nvSpPr>
        <p:spPr>
          <a:xfrm>
            <a:off x="9245925" y="2713552"/>
            <a:ext cx="2105466" cy="1844407"/>
          </a:xfrm>
          <a:prstGeom prst="roundRect">
            <a:avLst>
              <a:gd name="adj" fmla="val 3910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err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2" name="사각형: 둥근 모서리 17">
            <a:extLst>
              <a:ext uri="{FF2B5EF4-FFF2-40B4-BE49-F238E27FC236}">
                <a16:creationId xmlns:a16="http://schemas.microsoft.com/office/drawing/2014/main" id="{11012CE8-D9BE-639F-673B-099DCE7039FA}"/>
              </a:ext>
            </a:extLst>
          </p:cNvPr>
          <p:cNvSpPr/>
          <p:nvPr/>
        </p:nvSpPr>
        <p:spPr>
          <a:xfrm>
            <a:off x="3809935" y="2535448"/>
            <a:ext cx="5132037" cy="3917740"/>
          </a:xfrm>
          <a:prstGeom prst="roundRect">
            <a:avLst>
              <a:gd name="adj" fmla="val 2017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err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444F8C-C664-5C97-215C-7A55D9E62241}"/>
              </a:ext>
            </a:extLst>
          </p:cNvPr>
          <p:cNvSpPr txBox="1"/>
          <p:nvPr/>
        </p:nvSpPr>
        <p:spPr>
          <a:xfrm>
            <a:off x="518319" y="862399"/>
            <a:ext cx="11157744" cy="754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2000"/>
              </a:lnSpc>
            </a:pP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외부 데이터는 </a:t>
            </a:r>
            <a:r>
              <a:rPr kumimoji="1" lang="ko-KR" altLang="en-US" sz="2000" err="1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크롤링부터</a:t>
            </a: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 </a:t>
            </a:r>
            <a:r>
              <a:rPr kumimoji="1" lang="en" altLang="ko-KR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AI </a:t>
            </a: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기반 키워드 추출</a:t>
            </a:r>
            <a:r>
              <a:rPr kumimoji="1" lang="en-US" altLang="ko-KR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 · </a:t>
            </a: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수작업 검증</a:t>
            </a:r>
            <a:r>
              <a:rPr kumimoji="1" lang="en-US" altLang="ko-KR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 · </a:t>
            </a: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정제까지의 과정을 거쳐</a:t>
            </a:r>
            <a:r>
              <a:rPr kumimoji="1" lang="en-US" altLang="ko-KR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, </a:t>
            </a:r>
          </a:p>
          <a:p>
            <a:pPr>
              <a:lnSpc>
                <a:spcPct val="112000"/>
              </a:lnSpc>
            </a:pP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신상품 기획에 활용 가능한 ‘속성 중심 </a:t>
            </a:r>
            <a:r>
              <a:rPr kumimoji="1" lang="ko-KR" altLang="en-US" sz="2000" err="1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데이터’로</a:t>
            </a: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 </a:t>
            </a:r>
            <a:r>
              <a:rPr kumimoji="1" lang="ko-KR" altLang="en-US" sz="2000" err="1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구조화하였습니다</a:t>
            </a:r>
            <a:endParaRPr kumimoji="1" lang="en-US" altLang="ko-KR" sz="2000"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7E938-17EE-9287-9266-4F17BFECDB5F}"/>
              </a:ext>
            </a:extLst>
          </p:cNvPr>
          <p:cNvSpPr txBox="1"/>
          <p:nvPr/>
        </p:nvSpPr>
        <p:spPr>
          <a:xfrm>
            <a:off x="518319" y="407377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10B981"/>
                </a:solidFill>
                <a:latin typeface="프리젠테이션 6 SemiBold" pitchFamily="2" charset="-127"/>
                <a:ea typeface="프리젠테이션 6 SemiBold" pitchFamily="2" charset="-127"/>
              </a:rPr>
              <a:t>데이터 설명</a:t>
            </a:r>
          </a:p>
        </p:txBody>
      </p:sp>
      <p:sp>
        <p:nvSpPr>
          <p:cNvPr id="5" name="슬라이드 번호 개체 틀 1">
            <a:extLst>
              <a:ext uri="{FF2B5EF4-FFF2-40B4-BE49-F238E27FC236}">
                <a16:creationId xmlns:a16="http://schemas.microsoft.com/office/drawing/2014/main" id="{5BD30F56-3D80-4D1B-739E-B32AFDD81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8783" y="6356350"/>
            <a:ext cx="2743200" cy="365125"/>
          </a:xfrm>
        </p:spPr>
        <p:txBody>
          <a:bodyPr/>
          <a:lstStyle/>
          <a:p>
            <a:fld id="{051A2888-50A6-4659-9E30-8B27A4C58FE7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B49BF9D-6E71-5E5A-D990-5E6E7130FA98}"/>
              </a:ext>
            </a:extLst>
          </p:cNvPr>
          <p:cNvSpPr>
            <a:spLocks/>
          </p:cNvSpPr>
          <p:nvPr/>
        </p:nvSpPr>
        <p:spPr>
          <a:xfrm flipV="1">
            <a:off x="612277" y="2236057"/>
            <a:ext cx="10872000" cy="108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CC6541-54CF-4960-B704-4193BA7CE034}"/>
              </a:ext>
            </a:extLst>
          </p:cNvPr>
          <p:cNvSpPr txBox="1">
            <a:spLocks/>
          </p:cNvSpPr>
          <p:nvPr/>
        </p:nvSpPr>
        <p:spPr>
          <a:xfrm>
            <a:off x="518319" y="1898341"/>
            <a:ext cx="2380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외부 데이터 </a:t>
            </a:r>
            <a:r>
              <a:rPr lang="ko-KR" altLang="en-US" sz="1600" err="1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전처리</a:t>
            </a:r>
            <a:r>
              <a:rPr lang="ko-KR" altLang="en-US" sz="16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 파이프 라인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590619-77DB-38AE-440D-7D13AA1F5971}"/>
              </a:ext>
            </a:extLst>
          </p:cNvPr>
          <p:cNvSpPr txBox="1"/>
          <p:nvPr/>
        </p:nvSpPr>
        <p:spPr>
          <a:xfrm>
            <a:off x="6031147" y="2287220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>
                <a:latin typeface="프리젠테이션 3 Light" pitchFamily="2" charset="-127"/>
                <a:ea typeface="프리젠테이션 3 Light" pitchFamily="2" charset="-127"/>
              </a:rPr>
              <a:t>데이터 정제</a:t>
            </a:r>
          </a:p>
        </p:txBody>
      </p:sp>
      <p:sp>
        <p:nvSpPr>
          <p:cNvPr id="3" name="사각형: 둥근 모서리 6">
            <a:extLst>
              <a:ext uri="{FF2B5EF4-FFF2-40B4-BE49-F238E27FC236}">
                <a16:creationId xmlns:a16="http://schemas.microsoft.com/office/drawing/2014/main" id="{D735C5A3-1F33-CDAD-41F8-3E4556E8C6FC}"/>
              </a:ext>
            </a:extLst>
          </p:cNvPr>
          <p:cNvSpPr>
            <a:spLocks/>
          </p:cNvSpPr>
          <p:nvPr/>
        </p:nvSpPr>
        <p:spPr>
          <a:xfrm>
            <a:off x="612278" y="2535448"/>
            <a:ext cx="3034690" cy="3917740"/>
          </a:xfrm>
          <a:prstGeom prst="roundRect">
            <a:avLst>
              <a:gd name="adj" fmla="val 2486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err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535C0D-A0C2-2B22-505D-5C5FBE47D87F}"/>
              </a:ext>
            </a:extLst>
          </p:cNvPr>
          <p:cNvSpPr txBox="1"/>
          <p:nvPr/>
        </p:nvSpPr>
        <p:spPr>
          <a:xfrm>
            <a:off x="1676614" y="2287220"/>
            <a:ext cx="9060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>
                <a:latin typeface="프리젠테이션 3 Light" pitchFamily="2" charset="-127"/>
                <a:ea typeface="프리젠테이션 3 Light" pitchFamily="2" charset="-127"/>
              </a:rPr>
              <a:t>외부 데이터 수집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81984D2-B182-36CC-92D2-694B3CE84550}"/>
              </a:ext>
            </a:extLst>
          </p:cNvPr>
          <p:cNvSpPr txBox="1"/>
          <p:nvPr/>
        </p:nvSpPr>
        <p:spPr>
          <a:xfrm>
            <a:off x="9838147" y="2287220"/>
            <a:ext cx="9060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>
                <a:latin typeface="프리젠테이션 3 Light" pitchFamily="2" charset="-127"/>
                <a:ea typeface="프리젠테이션 3 Light" pitchFamily="2" charset="-127"/>
              </a:rPr>
              <a:t>키워드 유형 분류</a:t>
            </a:r>
          </a:p>
        </p:txBody>
      </p:sp>
      <p:sp>
        <p:nvSpPr>
          <p:cNvPr id="51" name="사각형: 둥근 모서리 55">
            <a:extLst>
              <a:ext uri="{FF2B5EF4-FFF2-40B4-BE49-F238E27FC236}">
                <a16:creationId xmlns:a16="http://schemas.microsoft.com/office/drawing/2014/main" id="{CC87C2FC-647F-97DE-657F-503F239E086A}"/>
              </a:ext>
            </a:extLst>
          </p:cNvPr>
          <p:cNvSpPr>
            <a:spLocks/>
          </p:cNvSpPr>
          <p:nvPr/>
        </p:nvSpPr>
        <p:spPr>
          <a:xfrm>
            <a:off x="5933460" y="2975195"/>
            <a:ext cx="1720908" cy="3337112"/>
          </a:xfrm>
          <a:prstGeom prst="roundRect">
            <a:avLst>
              <a:gd name="adj" fmla="val 3655"/>
            </a:avLst>
          </a:prstGeom>
          <a:solidFill>
            <a:srgbClr val="FCE378">
              <a:alpha val="10000"/>
            </a:srgbClr>
          </a:solidFill>
          <a:ln w="6350">
            <a:solidFill>
              <a:srgbClr val="FCE3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+mn-cs"/>
            </a:endParaRPr>
          </a:p>
        </p:txBody>
      </p:sp>
      <p:sp>
        <p:nvSpPr>
          <p:cNvPr id="53" name="사각형: 둥근 모서리 113">
            <a:extLst>
              <a:ext uri="{FF2B5EF4-FFF2-40B4-BE49-F238E27FC236}">
                <a16:creationId xmlns:a16="http://schemas.microsoft.com/office/drawing/2014/main" id="{2D132B45-A708-4CCA-1907-85409C6B195B}"/>
              </a:ext>
            </a:extLst>
          </p:cNvPr>
          <p:cNvSpPr>
            <a:spLocks/>
          </p:cNvSpPr>
          <p:nvPr/>
        </p:nvSpPr>
        <p:spPr>
          <a:xfrm>
            <a:off x="7783692" y="2975194"/>
            <a:ext cx="1007445" cy="3365833"/>
          </a:xfrm>
          <a:prstGeom prst="roundRect">
            <a:avLst>
              <a:gd name="adj" fmla="val 3910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err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6947349C-1C41-DE09-BAD7-AB24D269C712}"/>
              </a:ext>
            </a:extLst>
          </p:cNvPr>
          <p:cNvGrpSpPr/>
          <p:nvPr/>
        </p:nvGrpSpPr>
        <p:grpSpPr>
          <a:xfrm>
            <a:off x="3967105" y="2975194"/>
            <a:ext cx="1837031" cy="3337112"/>
            <a:chOff x="3967105" y="2975194"/>
            <a:chExt cx="2044416" cy="3337112"/>
          </a:xfrm>
        </p:grpSpPr>
        <p:sp>
          <p:nvSpPr>
            <p:cNvPr id="48" name="사각형: 둥근 모서리 41">
              <a:extLst>
                <a:ext uri="{FF2B5EF4-FFF2-40B4-BE49-F238E27FC236}">
                  <a16:creationId xmlns:a16="http://schemas.microsoft.com/office/drawing/2014/main" id="{73BA6C1A-84AF-DCBF-3905-3997330F0236}"/>
                </a:ext>
              </a:extLst>
            </p:cNvPr>
            <p:cNvSpPr>
              <a:spLocks/>
            </p:cNvSpPr>
            <p:nvPr/>
          </p:nvSpPr>
          <p:spPr>
            <a:xfrm>
              <a:off x="3967105" y="2975194"/>
              <a:ext cx="2044416" cy="2172556"/>
            </a:xfrm>
            <a:prstGeom prst="roundRect">
              <a:avLst>
                <a:gd name="adj" fmla="val 3910"/>
              </a:avLst>
            </a:prstGeom>
            <a:solidFill>
              <a:schemeClr val="bg1">
                <a:lumMod val="95000"/>
              </a:schemeClr>
            </a:solidFill>
            <a:ln w="6350">
              <a:gradFill>
                <a:gsLst>
                  <a:gs pos="0">
                    <a:srgbClr val="FF8C42"/>
                  </a:gs>
                  <a:gs pos="100000">
                    <a:srgbClr val="10B98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err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49" name="사각형: 둥근 모서리 41">
              <a:extLst>
                <a:ext uri="{FF2B5EF4-FFF2-40B4-BE49-F238E27FC236}">
                  <a16:creationId xmlns:a16="http://schemas.microsoft.com/office/drawing/2014/main" id="{F1E867AC-6787-C906-05EB-0704E153EBCC}"/>
                </a:ext>
              </a:extLst>
            </p:cNvPr>
            <p:cNvSpPr>
              <a:spLocks/>
            </p:cNvSpPr>
            <p:nvPr/>
          </p:nvSpPr>
          <p:spPr>
            <a:xfrm>
              <a:off x="3967105" y="5300892"/>
              <a:ext cx="2044416" cy="1011414"/>
            </a:xfrm>
            <a:prstGeom prst="roundRect">
              <a:avLst>
                <a:gd name="adj" fmla="val 3910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rgbClr val="EF444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err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55" name="사각형: 둥근 모서리 98">
              <a:extLst>
                <a:ext uri="{FF2B5EF4-FFF2-40B4-BE49-F238E27FC236}">
                  <a16:creationId xmlns:a16="http://schemas.microsoft.com/office/drawing/2014/main" id="{80549A6C-2B65-2041-EC38-C29BF99D6F29}"/>
                </a:ext>
              </a:extLst>
            </p:cNvPr>
            <p:cNvSpPr>
              <a:spLocks/>
            </p:cNvSpPr>
            <p:nvPr/>
          </p:nvSpPr>
          <p:spPr>
            <a:xfrm>
              <a:off x="4125313" y="3151706"/>
              <a:ext cx="1728000" cy="828000"/>
            </a:xfrm>
            <a:prstGeom prst="roundRect">
              <a:avLst>
                <a:gd name="adj" fmla="val 15927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sz="1200">
                  <a:solidFill>
                    <a:schemeClr val="tx1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노이즈 제거</a:t>
              </a:r>
              <a:endParaRPr lang="en-US" altLang="ko-KR" sz="12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  <a:p>
              <a:pPr algn="ctr">
                <a:defRPr/>
              </a:pPr>
              <a:r>
                <a:rPr lang="en-US" altLang="ko-KR" sz="1000">
                  <a:solidFill>
                    <a:srgbClr val="7F7F7F"/>
                  </a:solidFill>
                  <a:latin typeface="프리젠테이션 3 Light" pitchFamily="2" charset="-127"/>
                  <a:ea typeface="프리젠테이션 3 Light" pitchFamily="2" charset="-127"/>
                </a:rPr>
                <a:t>@ </a:t>
              </a:r>
              <a:r>
                <a:rPr lang="ko-KR" altLang="en-US" sz="1000" err="1">
                  <a:solidFill>
                    <a:srgbClr val="7F7F7F"/>
                  </a:solidFill>
                  <a:latin typeface="프리젠테이션 3 Light" pitchFamily="2" charset="-127"/>
                  <a:ea typeface="프리젠테이션 3 Light" pitchFamily="2" charset="-127"/>
                </a:rPr>
                <a:t>계정명</a:t>
              </a:r>
              <a:r>
                <a:rPr lang="ko-KR" altLang="en-US" sz="1000">
                  <a:solidFill>
                    <a:srgbClr val="7F7F7F"/>
                  </a:solidFill>
                  <a:latin typeface="프리젠테이션 3 Light" pitchFamily="2" charset="-127"/>
                  <a:ea typeface="프리젠테이션 3 Light" pitchFamily="2" charset="-127"/>
                </a:rPr>
                <a:t> 제거</a:t>
              </a:r>
              <a:endParaRPr lang="en-US" altLang="ko-KR" sz="1000">
                <a:solidFill>
                  <a:srgbClr val="7F7F7F"/>
                </a:solidFill>
                <a:latin typeface="프리젠테이션 3 Light" pitchFamily="2" charset="-127"/>
                <a:ea typeface="프리젠테이션 3 Light" pitchFamily="2" charset="-127"/>
              </a:endParaRPr>
            </a:p>
            <a:p>
              <a:pPr algn="ctr">
                <a:defRPr/>
              </a:pPr>
              <a:r>
                <a:rPr lang="en-US" altLang="ko-KR" sz="1000">
                  <a:solidFill>
                    <a:srgbClr val="7F7F7F"/>
                  </a:solidFill>
                  <a:latin typeface="프리젠테이션 3 Light" pitchFamily="2" charset="-127"/>
                  <a:ea typeface="프리젠테이션 3 Light" pitchFamily="2" charset="-127"/>
                </a:rPr>
                <a:t>#</a:t>
              </a:r>
              <a:r>
                <a:rPr lang="ko-KR" altLang="en-US" sz="1000">
                  <a:solidFill>
                    <a:srgbClr val="7F7F7F"/>
                  </a:solidFill>
                  <a:latin typeface="프리젠테이션 3 Light" pitchFamily="2" charset="-127"/>
                  <a:ea typeface="프리젠테이션 3 Light" pitchFamily="2" charset="-127"/>
                </a:rPr>
                <a:t> 해시태그 기호 제거</a:t>
              </a:r>
              <a:endParaRPr lang="en-US" altLang="ko-KR" sz="1000">
                <a:solidFill>
                  <a:srgbClr val="7F7F7F"/>
                </a:solidFill>
                <a:latin typeface="프리젠테이션 3 Light" pitchFamily="2" charset="-127"/>
                <a:ea typeface="프리젠테이션 3 Light" pitchFamily="2" charset="-127"/>
              </a:endParaRPr>
            </a:p>
          </p:txBody>
        </p:sp>
        <p:sp>
          <p:nvSpPr>
            <p:cNvPr id="56" name="사각형: 둥근 모서리 98">
              <a:extLst>
                <a:ext uri="{FF2B5EF4-FFF2-40B4-BE49-F238E27FC236}">
                  <a16:creationId xmlns:a16="http://schemas.microsoft.com/office/drawing/2014/main" id="{EB86B6E9-AC99-35CC-8E15-B16FF5C09E38}"/>
                </a:ext>
              </a:extLst>
            </p:cNvPr>
            <p:cNvSpPr>
              <a:spLocks/>
            </p:cNvSpPr>
            <p:nvPr/>
          </p:nvSpPr>
          <p:spPr>
            <a:xfrm>
              <a:off x="4125313" y="4143239"/>
              <a:ext cx="1728000" cy="828000"/>
            </a:xfrm>
            <a:prstGeom prst="roundRect">
              <a:avLst>
                <a:gd name="adj" fmla="val 15927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sz="1200">
                  <a:solidFill>
                    <a:schemeClr val="tx1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구조화 추출</a:t>
              </a:r>
              <a:endParaRPr lang="en-US" altLang="ko-KR" sz="12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  <a:p>
              <a:pPr algn="ctr">
                <a:defRPr/>
              </a:pPr>
              <a:r>
                <a:rPr lang="ko-KR" altLang="en-US" sz="1000">
                  <a:solidFill>
                    <a:schemeClr val="bg1">
                      <a:lumMod val="50000"/>
                    </a:schemeClr>
                  </a:solidFill>
                  <a:latin typeface="프리젠테이션 3 Light" pitchFamily="2" charset="-127"/>
                  <a:ea typeface="프리젠테이션 3 Light" pitchFamily="2" charset="-127"/>
                </a:rPr>
                <a:t>상품명 ∙ 가격</a:t>
              </a:r>
              <a:r>
                <a:rPr lang="en" altLang="ko-KR" sz="1000">
                  <a:solidFill>
                    <a:schemeClr val="bg1">
                      <a:lumMod val="50000"/>
                    </a:schemeClr>
                  </a:solidFill>
                  <a:latin typeface="프리젠테이션 3 Light" pitchFamily="2" charset="-127"/>
                  <a:ea typeface="프리젠테이션 3 Light" pitchFamily="2" charset="-127"/>
                </a:rPr>
                <a:t> ∙ </a:t>
              </a:r>
              <a:r>
                <a:rPr lang="ko-KR" altLang="en-US" sz="1000">
                  <a:solidFill>
                    <a:schemeClr val="bg1">
                      <a:lumMod val="50000"/>
                    </a:schemeClr>
                  </a:solidFill>
                  <a:latin typeface="프리젠테이션 3 Light" pitchFamily="2" charset="-127"/>
                  <a:ea typeface="프리젠테이션 3 Light" pitchFamily="2" charset="-127"/>
                </a:rPr>
                <a:t>프로모션</a:t>
              </a:r>
              <a:endParaRPr lang="en-US" altLang="ko-KR" sz="10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endParaRPr>
            </a:p>
            <a:p>
              <a:pPr algn="ctr">
                <a:defRPr/>
              </a:pPr>
              <a:r>
                <a:rPr lang="en-US" altLang="ko-KR" sz="1000">
                  <a:solidFill>
                    <a:schemeClr val="bg1">
                      <a:lumMod val="50000"/>
                    </a:schemeClr>
                  </a:solidFill>
                  <a:latin typeface="프리젠테이션 3 Light" pitchFamily="2" charset="-127"/>
                  <a:ea typeface="프리젠테이션 3 Light" pitchFamily="2" charset="-127"/>
                </a:rPr>
                <a:t>TPO </a:t>
              </a:r>
              <a:r>
                <a:rPr lang="ko-KR" altLang="en-US" sz="1000">
                  <a:solidFill>
                    <a:schemeClr val="bg1">
                      <a:lumMod val="50000"/>
                    </a:schemeClr>
                  </a:solidFill>
                  <a:latin typeface="프리젠테이션 3 Light" pitchFamily="2" charset="-127"/>
                  <a:ea typeface="프리젠테이션 3 Light" pitchFamily="2" charset="-127"/>
                </a:rPr>
                <a:t>메타데이터 분리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사각형: 둥근 모서리 98">
                  <a:extLst>
                    <a:ext uri="{FF2B5EF4-FFF2-40B4-BE49-F238E27FC236}">
                      <a16:creationId xmlns:a16="http://schemas.microsoft.com/office/drawing/2014/main" id="{C2595566-6CCE-EDAA-C784-D76078ABB91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25313" y="5392599"/>
                  <a:ext cx="1728000" cy="828000"/>
                </a:xfrm>
                <a:prstGeom prst="roundRect">
                  <a:avLst>
                    <a:gd name="adj" fmla="val 15927"/>
                  </a:avLst>
                </a:prstGeom>
                <a:solidFill>
                  <a:schemeClr val="bg1"/>
                </a:solidFill>
                <a:ln w="635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ko-KR" altLang="en-US" sz="120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본문 추출</a:t>
                  </a:r>
                  <a:endParaRPr lang="en-US" altLang="ko-KR" sz="120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  <a:p>
                  <a:pPr algn="ctr"/>
                  <a:r>
                    <a:rPr lang="en-US" altLang="ko-KR" sz="1000">
                      <a:solidFill>
                        <a:srgbClr val="7F7F7F"/>
                      </a:solidFill>
                      <a:latin typeface="프리젠테이션 3 Light" pitchFamily="2" charset="-127"/>
                      <a:ea typeface="프리젠테이션 3 Light" pitchFamily="2" charset="-127"/>
                    </a:rPr>
                    <a:t>HTML</a:t>
                  </a:r>
                  <a:r>
                    <a:rPr lang="ko-KR" altLang="en-US" sz="1000">
                      <a:solidFill>
                        <a:srgbClr val="7F7F7F"/>
                      </a:solidFill>
                      <a:latin typeface="프리젠테이션 3 Light" pitchFamily="2" charset="-127"/>
                      <a:ea typeface="프리젠테이션 3 Light" pitchFamily="2" charset="-127"/>
                    </a:rPr>
                    <a:t> 파싱 </a:t>
                  </a:r>
                  <a14:m>
                    <m:oMath xmlns:m="http://schemas.openxmlformats.org/officeDocument/2006/math">
                      <m:r>
                        <a:rPr lang="en-US" altLang="ko-KR" sz="1000" i="1" dirty="0" smtClean="0">
                          <a:solidFill>
                            <a:srgbClr val="7F7F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altLang="ko-KR" sz="1000">
                      <a:solidFill>
                        <a:srgbClr val="7F7F7F"/>
                      </a:solidFill>
                      <a:latin typeface="프리젠테이션 3 Light" pitchFamily="2" charset="-127"/>
                      <a:ea typeface="프리젠테이션 3 Light" pitchFamily="2" charset="-127"/>
                    </a:rPr>
                    <a:t>  </a:t>
                  </a:r>
                  <a:r>
                    <a:rPr lang="ko-KR" altLang="en-US" sz="1000">
                      <a:solidFill>
                        <a:srgbClr val="7F7F7F"/>
                      </a:solidFill>
                      <a:latin typeface="프리젠테이션 3 Light" pitchFamily="2" charset="-127"/>
                      <a:ea typeface="프리젠테이션 3 Light" pitchFamily="2" charset="-127"/>
                    </a:rPr>
                    <a:t>순수 텍스트</a:t>
                  </a:r>
                  <a:endParaRPr lang="en-US" altLang="ko-KR" sz="1000">
                    <a:solidFill>
                      <a:srgbClr val="7F7F7F"/>
                    </a:solidFill>
                    <a:latin typeface="프리젠테이션 3 Light" pitchFamily="2" charset="-127"/>
                    <a:ea typeface="프리젠테이션 3 Light" pitchFamily="2" charset="-127"/>
                  </a:endParaRPr>
                </a:p>
                <a:p>
                  <a:pPr algn="ctr"/>
                  <a:r>
                    <a:rPr lang="ko-KR" altLang="en-US" sz="1000">
                      <a:solidFill>
                        <a:srgbClr val="7F7F7F"/>
                      </a:solidFill>
                      <a:latin typeface="프리젠테이션 3 Light" pitchFamily="2" charset="-127"/>
                      <a:ea typeface="프리젠테이션 3 Light" pitchFamily="2" charset="-127"/>
                    </a:rPr>
                    <a:t>연속 공백 </a:t>
                  </a:r>
                  <a:r>
                    <a:rPr lang="ko-KR" altLang="en-US" sz="1000" err="1">
                      <a:solidFill>
                        <a:srgbClr val="7F7F7F"/>
                      </a:solidFill>
                      <a:latin typeface="프리젠테이션 3 Light" pitchFamily="2" charset="-127"/>
                      <a:ea typeface="프리젠테이션 3 Light" pitchFamily="2" charset="-127"/>
                    </a:rPr>
                    <a:t>줄바꿈</a:t>
                  </a:r>
                  <a:r>
                    <a:rPr lang="ko-KR" altLang="en-US" sz="1000">
                      <a:solidFill>
                        <a:srgbClr val="7F7F7F"/>
                      </a:solidFill>
                      <a:latin typeface="프리젠테이션 3 Light" pitchFamily="2" charset="-127"/>
                      <a:ea typeface="프리젠테이션 3 Light" pitchFamily="2" charset="-127"/>
                    </a:rPr>
                    <a:t> 정규화</a:t>
                  </a:r>
                  <a:endParaRPr lang="en-US" altLang="ko-KR" sz="1000">
                    <a:solidFill>
                      <a:schemeClr val="bg2">
                        <a:lumMod val="1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</a:endParaRPr>
                </a:p>
              </p:txBody>
            </p:sp>
          </mc:Choice>
          <mc:Fallback xmlns="">
            <p:sp>
              <p:nvSpPr>
                <p:cNvPr id="57" name="사각형: 둥근 모서리 98">
                  <a:extLst>
                    <a:ext uri="{FF2B5EF4-FFF2-40B4-BE49-F238E27FC236}">
                      <a16:creationId xmlns:a16="http://schemas.microsoft.com/office/drawing/2014/main" id="{C2595566-6CCE-EDAA-C784-D76078ABB9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5313" y="5392599"/>
                  <a:ext cx="1728000" cy="828000"/>
                </a:xfrm>
                <a:prstGeom prst="roundRect">
                  <a:avLst>
                    <a:gd name="adj" fmla="val 15927"/>
                  </a:avLst>
                </a:prstGeom>
                <a:blipFill>
                  <a:blip r:embed="rId3"/>
                  <a:stretch>
                    <a:fillRect t="-4412" b="-8824"/>
                  </a:stretch>
                </a:blipFill>
                <a:ln w="635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1" name="사각형: 둥근 모서리 51">
            <a:extLst>
              <a:ext uri="{FF2B5EF4-FFF2-40B4-BE49-F238E27FC236}">
                <a16:creationId xmlns:a16="http://schemas.microsoft.com/office/drawing/2014/main" id="{344139A9-29A2-5291-9BB8-01780D8C24DB}"/>
              </a:ext>
            </a:extLst>
          </p:cNvPr>
          <p:cNvSpPr>
            <a:spLocks/>
          </p:cNvSpPr>
          <p:nvPr/>
        </p:nvSpPr>
        <p:spPr>
          <a:xfrm>
            <a:off x="9395463" y="3049935"/>
            <a:ext cx="1806390" cy="648000"/>
          </a:xfrm>
          <a:prstGeom prst="roundRect">
            <a:avLst>
              <a:gd name="adj" fmla="val 15927"/>
            </a:avLst>
          </a:prstGeom>
          <a:solidFill>
            <a:srgbClr val="10B981">
              <a:alpha val="10000"/>
            </a:srgbClr>
          </a:solidFill>
          <a:ln w="63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상품명 노드</a:t>
            </a:r>
            <a:endParaRPr kumimoji="0" lang="en-US" altLang="ko-KR" sz="12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  <a:p>
            <a:pPr algn="ctr">
              <a:lnSpc>
                <a:spcPct val="120000"/>
              </a:lnSpc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편의점 상품화 가능 </a:t>
            </a:r>
            <a:r>
              <a:rPr lang="ko-KR" altLang="en-US" sz="1000" err="1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메뉴명</a:t>
            </a:r>
            <a:endParaRPr lang="ko-KR" altLang="en-US" sz="1000">
              <a:solidFill>
                <a:schemeClr val="bg1">
                  <a:lumMod val="50000"/>
                </a:schemeClr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62" name="사각형: 둥근 모서리 54">
            <a:extLst>
              <a:ext uri="{FF2B5EF4-FFF2-40B4-BE49-F238E27FC236}">
                <a16:creationId xmlns:a16="http://schemas.microsoft.com/office/drawing/2014/main" id="{F99E98DF-DC9E-A6A5-9ACF-BD70DC7EBBF7}"/>
              </a:ext>
            </a:extLst>
          </p:cNvPr>
          <p:cNvSpPr>
            <a:spLocks/>
          </p:cNvSpPr>
          <p:nvPr/>
        </p:nvSpPr>
        <p:spPr>
          <a:xfrm>
            <a:off x="9395463" y="3779845"/>
            <a:ext cx="1806390" cy="648000"/>
          </a:xfrm>
          <a:prstGeom prst="roundRect">
            <a:avLst>
              <a:gd name="adj" fmla="val 15927"/>
            </a:avLst>
          </a:prstGeom>
          <a:solidFill>
            <a:srgbClr val="10B981">
              <a:alpha val="10000"/>
            </a:srgbClr>
          </a:solidFill>
          <a:ln w="63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속성 노드</a:t>
            </a:r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  <a:p>
            <a:pPr algn="ctr">
              <a:lnSpc>
                <a:spcPct val="120000"/>
              </a:lnSpc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맛 ∙ </a:t>
            </a:r>
            <a:r>
              <a:rPr lang="ko-KR" altLang="en-US" sz="1000" err="1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식감</a:t>
            </a:r>
            <a:r>
              <a:rPr lang="en" altLang="ko-KR" sz="10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 ∙ TPO ∙ 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원재료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사각형: 둥근 모서리 55">
                <a:extLst>
                  <a:ext uri="{FF2B5EF4-FFF2-40B4-BE49-F238E27FC236}">
                    <a16:creationId xmlns:a16="http://schemas.microsoft.com/office/drawing/2014/main" id="{0F9BBE53-6D94-2C8A-BF15-91746DEE1E7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95463" y="4705993"/>
                <a:ext cx="1806390" cy="648000"/>
              </a:xfrm>
              <a:prstGeom prst="roundRect">
                <a:avLst>
                  <a:gd name="adj" fmla="val 15927"/>
                </a:avLst>
              </a:prstGeom>
              <a:solidFill>
                <a:schemeClr val="bg1">
                  <a:alpha val="10000"/>
                </a:schemeClr>
              </a:solidFill>
              <a:ln w="6350">
                <a:solidFill>
                  <a:srgbClr val="7F7F7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lnSpc>
                    <a:spcPct val="120000"/>
                  </a:lnSpc>
                  <a:defRPr/>
                </a:pPr>
                <a:r>
                  <a:rPr lang="ko-KR" altLang="en-US" sz="1200">
                    <a:solidFill>
                      <a:prstClr val="black"/>
                    </a:solidFill>
                    <a:latin typeface="프리젠테이션 6 SemiBold" pitchFamily="2" charset="-127"/>
                    <a:ea typeface="프리젠테이션 6 SemiBold" pitchFamily="2" charset="-127"/>
                  </a:rPr>
                  <a:t>카테고리명</a:t>
                </a:r>
                <a:r>
                  <a:rPr lang="en-US" altLang="ko-KR" sz="1200">
                    <a:solidFill>
                      <a:srgbClr val="7F7F7F"/>
                    </a:solidFill>
                    <a:latin typeface="프리젠테이션 6 SemiBold" pitchFamily="2" charset="-127"/>
                    <a:ea typeface="프리젠테이션 6 SemiBold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200" b="0" i="1" dirty="0">
                        <a:solidFill>
                          <a:srgbClr val="7F7F7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sz="1200">
                    <a:solidFill>
                      <a:prstClr val="black"/>
                    </a:solidFill>
                    <a:latin typeface="프리젠테이션 6 SemiBold" pitchFamily="2" charset="-127"/>
                    <a:ea typeface="프리젠테이션 6 SemiBold" pitchFamily="2" charset="-127"/>
                  </a:rPr>
                  <a:t>  제외 </a:t>
                </a:r>
                <a:endParaRPr lang="en-US" altLang="ko-KR" sz="1200">
                  <a:solidFill>
                    <a:prstClr val="black"/>
                  </a:solidFill>
                  <a:latin typeface="프리젠테이션 6 SemiBold" pitchFamily="2" charset="-127"/>
                  <a:ea typeface="프리젠테이션 6 SemiBold" pitchFamily="2" charset="-127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000">
                    <a:solidFill>
                      <a:srgbClr val="7F7F7F"/>
                    </a:solidFill>
                    <a:latin typeface="프리젠테이션 3 Light" pitchFamily="2" charset="-127"/>
                    <a:ea typeface="프리젠테이션 3 Light" pitchFamily="2" charset="-127"/>
                  </a:rPr>
                  <a:t>군집 명칭으로만 활용</a:t>
                </a:r>
                <a:endParaRPr kumimoji="0" lang="en-US" altLang="ko-KR" sz="1000" i="0" u="none" strike="noStrike" kern="1200" cap="none" spc="0" normalizeH="0" baseline="0" noProof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프리젠테이션 3 Light" pitchFamily="2" charset="-127"/>
                  <a:ea typeface="프리젠테이션 3 Light" pitchFamily="2" charset="-127"/>
                </a:endParaRPr>
              </a:p>
            </p:txBody>
          </p:sp>
        </mc:Choice>
        <mc:Fallback xmlns="">
          <p:sp>
            <p:nvSpPr>
              <p:cNvPr id="63" name="사각형: 둥근 모서리 55">
                <a:extLst>
                  <a:ext uri="{FF2B5EF4-FFF2-40B4-BE49-F238E27FC236}">
                    <a16:creationId xmlns:a16="http://schemas.microsoft.com/office/drawing/2014/main" id="{0F9BBE53-6D94-2C8A-BF15-91746DEE1E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5463" y="4705993"/>
                <a:ext cx="1806390" cy="648000"/>
              </a:xfrm>
              <a:prstGeom prst="roundRect">
                <a:avLst>
                  <a:gd name="adj" fmla="val 15927"/>
                </a:avLst>
              </a:prstGeom>
              <a:blipFill>
                <a:blip r:embed="rId4"/>
                <a:stretch>
                  <a:fillRect/>
                </a:stretch>
              </a:blipFill>
              <a:ln w="6350">
                <a:solidFill>
                  <a:srgbClr val="7F7F7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" name="사각형: 둥근 모서리 55">
                <a:extLst>
                  <a:ext uri="{FF2B5EF4-FFF2-40B4-BE49-F238E27FC236}">
                    <a16:creationId xmlns:a16="http://schemas.microsoft.com/office/drawing/2014/main" id="{C7430094-3C0B-270E-1CA2-C1A1B8B18D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40767" y="5502026"/>
                <a:ext cx="1967102" cy="839001"/>
              </a:xfrm>
              <a:prstGeom prst="roundRect">
                <a:avLst>
                  <a:gd name="adj" fmla="val 15927"/>
                </a:avLst>
              </a:prstGeom>
              <a:solidFill>
                <a:srgbClr val="FCE378">
                  <a:alpha val="10000"/>
                </a:srgbClr>
              </a:solidFill>
              <a:ln w="6350">
                <a:solidFill>
                  <a:srgbClr val="FCE37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200" b="1">
                    <a:solidFill>
                      <a:prstClr val="black"/>
                    </a:solidFill>
                    <a:latin typeface="프리젠테이션 6 SemiBold" pitchFamily="2" charset="-127"/>
                    <a:ea typeface="프리젠테이션 6 SemiBold" pitchFamily="2" charset="-127"/>
                  </a:rPr>
                  <a:t>핵심어 추출 완료</a:t>
                </a:r>
                <a:endParaRPr lang="en-US" altLang="ko-KR" sz="1200" b="1">
                  <a:solidFill>
                    <a:prstClr val="black"/>
                  </a:solidFill>
                  <a:latin typeface="프리젠테이션 6 SemiBold" pitchFamily="2" charset="-127"/>
                  <a:ea typeface="프리젠테이션 6 SemiBold" pitchFamily="2" charset="-127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000">
                    <a:solidFill>
                      <a:srgbClr val="7F7F7F"/>
                    </a:solidFill>
                    <a:latin typeface="프리젠테이션 3 Light" pitchFamily="2" charset="-127"/>
                    <a:ea typeface="프리젠테이션 3 Light" pitchFamily="2" charset="-127"/>
                  </a:rPr>
                  <a:t>인스타 매거진은</a:t>
                </a:r>
                <a:endParaRPr lang="en-US" altLang="ko-KR" sz="1000">
                  <a:solidFill>
                    <a:srgbClr val="7F7F7F"/>
                  </a:solidFill>
                  <a:latin typeface="프리젠테이션 3 Light" pitchFamily="2" charset="-127"/>
                  <a:ea typeface="프리젠테이션 3 Light" pitchFamily="2" charset="-127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000">
                    <a:solidFill>
                      <a:srgbClr val="7F7F7F"/>
                    </a:solidFill>
                    <a:latin typeface="프리젠테이션 3 Light" pitchFamily="2" charset="-127"/>
                    <a:ea typeface="프리젠테이션 3 Light" pitchFamily="2" charset="-127"/>
                  </a:rPr>
                  <a:t>이후 네트워크 분석 단계로</a:t>
                </a:r>
                <a:endParaRPr lang="en-US" altLang="ko-KR" sz="1000">
                  <a:solidFill>
                    <a:srgbClr val="7F7F7F"/>
                  </a:solidFill>
                  <a:latin typeface="프리젠테이션 3 Light" pitchFamily="2" charset="-127"/>
                  <a:ea typeface="프리젠테이션 3 Light" pitchFamily="2" charset="-127"/>
                </a:endParaRPr>
              </a:p>
              <a:p>
                <a:pPr lvl="0" algn="ctr">
                  <a:lnSpc>
                    <a:spcPct val="12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ko-KR" sz="1000" b="0" i="1" dirty="0" smtClean="0">
                        <a:solidFill>
                          <a:srgbClr val="7F7F7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ko-KR" altLang="en-US" sz="1000">
                    <a:solidFill>
                      <a:srgbClr val="7F7F7F"/>
                    </a:solidFill>
                    <a:latin typeface="프리젠테이션 3 Light" pitchFamily="2" charset="-127"/>
                    <a:ea typeface="프리젠테이션 3 Light" pitchFamily="2" charset="-127"/>
                  </a:rPr>
                  <a:t>트렌드 노드 구축</a:t>
                </a:r>
                <a:endParaRPr lang="en-US" altLang="ko-KR" sz="1000" i="1">
                  <a:solidFill>
                    <a:srgbClr val="7F7F7F"/>
                  </a:solidFill>
                  <a:latin typeface="프리젠테이션 3 Light" pitchFamily="2" charset="-127"/>
                  <a:ea typeface="프리젠테이션 3 Light" pitchFamily="2" charset="-127"/>
                </a:endParaRPr>
              </a:p>
            </p:txBody>
          </p:sp>
        </mc:Choice>
        <mc:Fallback xmlns="">
          <p:sp>
            <p:nvSpPr>
              <p:cNvPr id="1024" name="사각형: 둥근 모서리 55">
                <a:extLst>
                  <a:ext uri="{FF2B5EF4-FFF2-40B4-BE49-F238E27FC236}">
                    <a16:creationId xmlns:a16="http://schemas.microsoft.com/office/drawing/2014/main" id="{C7430094-3C0B-270E-1CA2-C1A1B8B18D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767" y="5502026"/>
                <a:ext cx="1967102" cy="839001"/>
              </a:xfrm>
              <a:prstGeom prst="roundRect">
                <a:avLst>
                  <a:gd name="adj" fmla="val 15927"/>
                </a:avLst>
              </a:prstGeom>
              <a:blipFill>
                <a:blip r:embed="rId5"/>
                <a:stretch>
                  <a:fillRect b="-3623"/>
                </a:stretch>
              </a:blipFill>
              <a:ln w="6350">
                <a:solidFill>
                  <a:srgbClr val="FCE37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6" name="TextBox 1035">
            <a:extLst>
              <a:ext uri="{FF2B5EF4-FFF2-40B4-BE49-F238E27FC236}">
                <a16:creationId xmlns:a16="http://schemas.microsoft.com/office/drawing/2014/main" id="{5E5347A3-4C6E-BD1F-8162-A7BDA272CB13}"/>
              </a:ext>
            </a:extLst>
          </p:cNvPr>
          <p:cNvSpPr txBox="1"/>
          <p:nvPr/>
        </p:nvSpPr>
        <p:spPr>
          <a:xfrm>
            <a:off x="7810597" y="4203358"/>
            <a:ext cx="9536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>
                <a:solidFill>
                  <a:schemeClr val="bg2">
                    <a:lumMod val="1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불필요 키워드</a:t>
            </a:r>
            <a:endParaRPr lang="en-US" altLang="ko-KR" sz="1200" b="1">
              <a:solidFill>
                <a:schemeClr val="bg2">
                  <a:lumMod val="10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algn="ctr"/>
            <a:r>
              <a:rPr lang="en-US" altLang="ko-KR" sz="1200" b="1">
                <a:solidFill>
                  <a:schemeClr val="bg2">
                    <a:lumMod val="1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2</a:t>
            </a:r>
            <a:r>
              <a:rPr lang="ko-KR" altLang="en-US" sz="1200" b="1">
                <a:solidFill>
                  <a:schemeClr val="bg2">
                    <a:lumMod val="1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차 필터링</a:t>
            </a:r>
            <a:endParaRPr lang="en-US" altLang="ko-KR" sz="1200" b="1">
              <a:solidFill>
                <a:schemeClr val="bg2">
                  <a:lumMod val="10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B35C7077-0406-9064-3DFC-E6847BB86F7B}"/>
              </a:ext>
            </a:extLst>
          </p:cNvPr>
          <p:cNvSpPr txBox="1"/>
          <p:nvPr/>
        </p:nvSpPr>
        <p:spPr>
          <a:xfrm>
            <a:off x="7862790" y="4691232"/>
            <a:ext cx="849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>
                <a:solidFill>
                  <a:schemeClr val="bg2">
                    <a:lumMod val="75000"/>
                  </a:schemeClr>
                </a:solidFill>
                <a:latin typeface="Freesentation 4 Regular" pitchFamily="2" charset="-127"/>
                <a:ea typeface="Freesentation 4 Regular" pitchFamily="2" charset="-127"/>
              </a:rPr>
              <a:t>조사</a:t>
            </a:r>
            <a:r>
              <a:rPr lang="ko-KR" altLang="en-US" sz="1000">
                <a:solidFill>
                  <a:schemeClr val="bg2">
                    <a:lumMod val="7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 ∙ 감탄사 </a:t>
            </a:r>
            <a:endParaRPr lang="en-US" altLang="ko-KR" sz="1000">
              <a:solidFill>
                <a:schemeClr val="bg2">
                  <a:lumMod val="75000"/>
                </a:schemeClr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1000">
                <a:solidFill>
                  <a:schemeClr val="bg2">
                    <a:lumMod val="7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∙ 브랜드 </a:t>
            </a:r>
            <a:r>
              <a:rPr lang="ko-KR" altLang="en-US" sz="1000" err="1">
                <a:solidFill>
                  <a:schemeClr val="bg2">
                    <a:lumMod val="7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계정명</a:t>
            </a:r>
            <a:endParaRPr lang="en-US" altLang="ko-KR" sz="1000">
              <a:solidFill>
                <a:schemeClr val="bg2">
                  <a:lumMod val="75000"/>
                </a:schemeClr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1000">
                <a:solidFill>
                  <a:schemeClr val="bg2">
                    <a:lumMod val="7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제거</a:t>
            </a:r>
            <a:endParaRPr lang="en-US" altLang="ko-KR" sz="1000">
              <a:solidFill>
                <a:schemeClr val="bg2">
                  <a:lumMod val="75000"/>
                </a:schemeClr>
              </a:solidFill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54C03020-13A0-F245-1344-A937ECC0714E}"/>
              </a:ext>
            </a:extLst>
          </p:cNvPr>
          <p:cNvSpPr txBox="1"/>
          <p:nvPr/>
        </p:nvSpPr>
        <p:spPr>
          <a:xfrm>
            <a:off x="9314431" y="2791136"/>
            <a:ext cx="9060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프리젠테이션 5 Medium" pitchFamily="2" charset="-127"/>
                <a:ea typeface="프리젠테이션 5 Medium" pitchFamily="2" charset="-127"/>
              </a:rPr>
              <a:t>최종 산출 키워드</a:t>
            </a:r>
          </a:p>
        </p:txBody>
      </p:sp>
      <p:sp>
        <p:nvSpPr>
          <p:cNvPr id="6" name="사각형: 둥근 모서리 98">
            <a:extLst>
              <a:ext uri="{FF2B5EF4-FFF2-40B4-BE49-F238E27FC236}">
                <a16:creationId xmlns:a16="http://schemas.microsoft.com/office/drawing/2014/main" id="{519DA68D-486E-8A75-96AB-7EFC086BA1E4}"/>
              </a:ext>
            </a:extLst>
          </p:cNvPr>
          <p:cNvSpPr>
            <a:spLocks/>
          </p:cNvSpPr>
          <p:nvPr/>
        </p:nvSpPr>
        <p:spPr>
          <a:xfrm>
            <a:off x="6073914" y="4143239"/>
            <a:ext cx="1440000" cy="612000"/>
          </a:xfrm>
          <a:prstGeom prst="roundRect">
            <a:avLst>
              <a:gd name="adj" fmla="val 15927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ko-KR" altLang="en-US" sz="12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매거진</a:t>
            </a:r>
            <a:endParaRPr lang="en-US" altLang="ko-KR" sz="120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algn="ctr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트렌드 반응 핵심 명사</a:t>
            </a:r>
          </a:p>
        </p:txBody>
      </p:sp>
      <p:sp>
        <p:nvSpPr>
          <p:cNvPr id="13" name="사각형: 둥근 모서리 98">
            <a:extLst>
              <a:ext uri="{FF2B5EF4-FFF2-40B4-BE49-F238E27FC236}">
                <a16:creationId xmlns:a16="http://schemas.microsoft.com/office/drawing/2014/main" id="{63F24310-51B0-7264-BEFB-1D45930389FA}"/>
              </a:ext>
            </a:extLst>
          </p:cNvPr>
          <p:cNvSpPr>
            <a:spLocks/>
          </p:cNvSpPr>
          <p:nvPr/>
        </p:nvSpPr>
        <p:spPr>
          <a:xfrm>
            <a:off x="6073914" y="4875919"/>
            <a:ext cx="1440000" cy="612000"/>
          </a:xfrm>
          <a:prstGeom prst="roundRect">
            <a:avLst>
              <a:gd name="adj" fmla="val 15927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altLang="ko-KR" sz="12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3</a:t>
            </a:r>
            <a:r>
              <a:rPr lang="ko-KR" altLang="en-US" sz="12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사 </a:t>
            </a:r>
            <a:r>
              <a:rPr lang="en-US" altLang="ko-KR" sz="12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SNS</a:t>
            </a:r>
          </a:p>
          <a:p>
            <a:pPr algn="ctr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명칭 ∙ </a:t>
            </a:r>
            <a:r>
              <a:rPr lang="ko-KR" altLang="en-US" sz="1000" err="1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식감</a:t>
            </a:r>
            <a:r>
              <a:rPr lang="en" altLang="ko-KR" sz="10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 ∙ TPO </a:t>
            </a:r>
            <a:endParaRPr lang="ko-KR" altLang="en-US" sz="1000">
              <a:solidFill>
                <a:schemeClr val="bg1">
                  <a:lumMod val="50000"/>
                </a:schemeClr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6" name="사각형: 둥근 모서리 98">
            <a:extLst>
              <a:ext uri="{FF2B5EF4-FFF2-40B4-BE49-F238E27FC236}">
                <a16:creationId xmlns:a16="http://schemas.microsoft.com/office/drawing/2014/main" id="{2D507F8A-1F21-435E-1CA1-3BE6AB6C5CD2}"/>
              </a:ext>
            </a:extLst>
          </p:cNvPr>
          <p:cNvSpPr>
            <a:spLocks/>
          </p:cNvSpPr>
          <p:nvPr/>
        </p:nvSpPr>
        <p:spPr>
          <a:xfrm>
            <a:off x="6073914" y="5608599"/>
            <a:ext cx="1440000" cy="612000"/>
          </a:xfrm>
          <a:prstGeom prst="roundRect">
            <a:avLst>
              <a:gd name="adj" fmla="val 15927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ko-KR" altLang="en-US" sz="12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블로그</a:t>
            </a:r>
            <a:endParaRPr lang="en-US" altLang="ko-KR" sz="1200">
              <a:solidFill>
                <a:srgbClr val="3F3F3F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algn="ctr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소비자 반응 핵심 명사</a:t>
            </a:r>
          </a:p>
        </p:txBody>
      </p:sp>
      <p:grpSp>
        <p:nvGrpSpPr>
          <p:cNvPr id="1028" name="그룹 1027">
            <a:extLst>
              <a:ext uri="{FF2B5EF4-FFF2-40B4-BE49-F238E27FC236}">
                <a16:creationId xmlns:a16="http://schemas.microsoft.com/office/drawing/2014/main" id="{58E70AEE-1CF8-9928-36AC-8B1971D9669D}"/>
              </a:ext>
            </a:extLst>
          </p:cNvPr>
          <p:cNvGrpSpPr/>
          <p:nvPr/>
        </p:nvGrpSpPr>
        <p:grpSpPr>
          <a:xfrm>
            <a:off x="6397914" y="3166946"/>
            <a:ext cx="792000" cy="792000"/>
            <a:chOff x="6658705" y="3326733"/>
            <a:chExt cx="792000" cy="792000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1BC45633-49CA-A7F1-0361-3D9CA66E2B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58705" y="3326733"/>
              <a:ext cx="792000" cy="79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altLang="ko-KR" sz="105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endParaRPr>
            </a:p>
          </p:txBody>
        </p:sp>
        <p:pic>
          <p:nvPicPr>
            <p:cNvPr id="25" name="Picture 2" descr="Google DeepMind's Gemma4 Models Now Available in LM Studio | LM Studio  posted on the topic | LinkedIn">
              <a:extLst>
                <a:ext uri="{FF2B5EF4-FFF2-40B4-BE49-F238E27FC236}">
                  <a16:creationId xmlns:a16="http://schemas.microsoft.com/office/drawing/2014/main" id="{6E1D90E9-B87F-C5EF-8618-EA3BBFAD70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214" t="53940" r="12419" b="20752"/>
            <a:stretch>
              <a:fillRect/>
            </a:stretch>
          </p:blipFill>
          <p:spPr bwMode="auto">
            <a:xfrm>
              <a:off x="6780393" y="3798401"/>
              <a:ext cx="576000" cy="1241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" descr="Google DeepMind's Gemma4 Models Now Available in LM Studio | LM Studio  posted on the topic | LinkedIn">
              <a:extLst>
                <a:ext uri="{FF2B5EF4-FFF2-40B4-BE49-F238E27FC236}">
                  <a16:creationId xmlns:a16="http://schemas.microsoft.com/office/drawing/2014/main" id="{D2601FD4-FBFF-7E1B-FD0E-A71B075837F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238" t="8638" r="33220" b="47238"/>
            <a:stretch>
              <a:fillRect/>
            </a:stretch>
          </p:blipFill>
          <p:spPr bwMode="auto">
            <a:xfrm>
              <a:off x="6887648" y="3489541"/>
              <a:ext cx="377715" cy="3410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사각형: 둥근 모서리 51">
            <a:extLst>
              <a:ext uri="{FF2B5EF4-FFF2-40B4-BE49-F238E27FC236}">
                <a16:creationId xmlns:a16="http://schemas.microsoft.com/office/drawing/2014/main" id="{E79D4B4A-B014-0570-A795-A5FA648BFA29}"/>
              </a:ext>
            </a:extLst>
          </p:cNvPr>
          <p:cNvSpPr>
            <a:spLocks/>
          </p:cNvSpPr>
          <p:nvPr/>
        </p:nvSpPr>
        <p:spPr>
          <a:xfrm>
            <a:off x="2251099" y="2975195"/>
            <a:ext cx="1296000" cy="1008000"/>
          </a:xfrm>
          <a:prstGeom prst="roundRect">
            <a:avLst>
              <a:gd name="adj" fmla="val 6251"/>
            </a:avLst>
          </a:prstGeom>
          <a:solidFill>
            <a:srgbClr val="FF8C42">
              <a:alpha val="10000"/>
            </a:srgbClr>
          </a:solidFill>
          <a:ln w="6350">
            <a:solidFill>
              <a:srgbClr val="FF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인스타그램</a:t>
            </a:r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트렌드 매거진</a:t>
            </a:r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  <a:p>
            <a:pPr algn="ctr">
              <a:lnSpc>
                <a:spcPct val="120000"/>
              </a:lnSpc>
              <a:defRPr/>
            </a:pPr>
            <a:r>
              <a:rPr lang="ko-KR" altLang="en-US" sz="1050" err="1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뉴뉴매거진</a:t>
            </a:r>
            <a:endParaRPr lang="ko-KR" altLang="en-US" sz="1050">
              <a:solidFill>
                <a:schemeClr val="bg1">
                  <a:lumMod val="50000"/>
                </a:schemeClr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9" name="사각형: 둥근 모서리 54">
            <a:extLst>
              <a:ext uri="{FF2B5EF4-FFF2-40B4-BE49-F238E27FC236}">
                <a16:creationId xmlns:a16="http://schemas.microsoft.com/office/drawing/2014/main" id="{B80D84C4-141A-BF65-4437-17E48F750A78}"/>
              </a:ext>
            </a:extLst>
          </p:cNvPr>
          <p:cNvSpPr>
            <a:spLocks/>
          </p:cNvSpPr>
          <p:nvPr/>
        </p:nvSpPr>
        <p:spPr>
          <a:xfrm>
            <a:off x="2251099" y="4139750"/>
            <a:ext cx="1296000" cy="1008000"/>
          </a:xfrm>
          <a:prstGeom prst="roundRect">
            <a:avLst>
              <a:gd name="adj" fmla="val 7460"/>
            </a:avLst>
          </a:prstGeom>
          <a:solidFill>
            <a:srgbClr val="10B981">
              <a:alpha val="10000"/>
            </a:srgbClr>
          </a:solidFill>
          <a:ln w="63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편의점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3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사</a:t>
            </a:r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  <a:p>
            <a:pPr algn="ctr">
              <a:lnSpc>
                <a:spcPct val="120000"/>
              </a:lnSpc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공식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SNS</a:t>
            </a:r>
          </a:p>
          <a:p>
            <a:pPr algn="ctr">
              <a:lnSpc>
                <a:spcPct val="120000"/>
              </a:lnSpc>
              <a:defRPr/>
            </a:pPr>
            <a:r>
              <a:rPr lang="ko-KR" altLang="en-US" sz="105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세븐 ∙ </a:t>
            </a:r>
            <a:r>
              <a:rPr lang="en" altLang="ko-KR" sz="105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CU ∙ GS25</a:t>
            </a:r>
            <a:endParaRPr lang="ko-KR" altLang="en-US" sz="1050">
              <a:solidFill>
                <a:schemeClr val="bg1">
                  <a:lumMod val="50000"/>
                </a:schemeClr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1" name="사각형: 둥근 모서리 55">
            <a:extLst>
              <a:ext uri="{FF2B5EF4-FFF2-40B4-BE49-F238E27FC236}">
                <a16:creationId xmlns:a16="http://schemas.microsoft.com/office/drawing/2014/main" id="{8FF194D6-6E47-B9E9-04B7-F0CF6E06789F}"/>
              </a:ext>
            </a:extLst>
          </p:cNvPr>
          <p:cNvSpPr>
            <a:spLocks/>
          </p:cNvSpPr>
          <p:nvPr/>
        </p:nvSpPr>
        <p:spPr>
          <a:xfrm>
            <a:off x="2251099" y="5304306"/>
            <a:ext cx="1296000" cy="1008000"/>
          </a:xfrm>
          <a:prstGeom prst="roundRect">
            <a:avLst>
              <a:gd name="adj" fmla="val 6856"/>
            </a:avLst>
          </a:prstGeom>
          <a:solidFill>
            <a:srgbClr val="EF4444">
              <a:alpha val="10000"/>
            </a:srgbClr>
          </a:solidFill>
          <a:ln w="635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네이버 블로그</a:t>
            </a:r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후기</a:t>
            </a:r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50">
                <a:solidFill>
                  <a:srgbClr val="7F7F7F"/>
                </a:solidFill>
                <a:latin typeface="프리젠테이션 3 Light" pitchFamily="2" charset="-127"/>
                <a:ea typeface="프리젠테이션 3 Light" pitchFamily="2" charset="-127"/>
              </a:rPr>
              <a:t>POS </a:t>
            </a:r>
            <a:r>
              <a:rPr lang="ko-KR" altLang="en-US" sz="1050">
                <a:solidFill>
                  <a:srgbClr val="7F7F7F"/>
                </a:solidFill>
                <a:latin typeface="프리젠테이션 3 Light" pitchFamily="2" charset="-127"/>
                <a:ea typeface="프리젠테이션 3 Light" pitchFamily="2" charset="-127"/>
              </a:rPr>
              <a:t>상품명</a:t>
            </a:r>
            <a:endParaRPr lang="en-US" altLang="ko-KR" sz="1050">
              <a:solidFill>
                <a:srgbClr val="7F7F7F"/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>
                <a:solidFill>
                  <a:srgbClr val="7F7F7F"/>
                </a:solidFill>
                <a:latin typeface="프리젠테이션 3 Light" pitchFamily="2" charset="-127"/>
                <a:ea typeface="프리젠테이션 3 Light" pitchFamily="2" charset="-127"/>
              </a:rPr>
              <a:t>기준으로 검색</a:t>
            </a:r>
            <a:endParaRPr kumimoji="0" lang="en-US" altLang="ko-KR" sz="105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969493-5CC8-F04D-DF15-200AE03BBFCD}"/>
              </a:ext>
            </a:extLst>
          </p:cNvPr>
          <p:cNvSpPr txBox="1"/>
          <p:nvPr/>
        </p:nvSpPr>
        <p:spPr>
          <a:xfrm>
            <a:off x="666947" y="2657182"/>
            <a:ext cx="10326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latin typeface="프리젠테이션 6 SemiBold" pitchFamily="2" charset="-127"/>
                <a:ea typeface="프리젠테이션 6 SemiBold" pitchFamily="2" charset="-127"/>
              </a:rPr>
              <a:t>(1) </a:t>
            </a:r>
            <a:r>
              <a:rPr lang="ko-KR" altLang="en-US" sz="1200" err="1">
                <a:latin typeface="프리젠테이션 6 SemiBold" pitchFamily="2" charset="-127"/>
                <a:ea typeface="프리젠테이션 6 SemiBold" pitchFamily="2" charset="-127"/>
              </a:rPr>
              <a:t>크롤링</a:t>
            </a:r>
            <a:r>
              <a:rPr lang="ko-KR" altLang="en-US" sz="1200">
                <a:latin typeface="프리젠테이션 6 SemiBold" pitchFamily="2" charset="-127"/>
                <a:ea typeface="프리젠테이션 6 SemiBold" pitchFamily="2" charset="-127"/>
              </a:rPr>
              <a:t> 수집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A0C3C945-1852-CA18-D900-653CF2F067F5}"/>
              </a:ext>
            </a:extLst>
          </p:cNvPr>
          <p:cNvGrpSpPr/>
          <p:nvPr/>
        </p:nvGrpSpPr>
        <p:grpSpPr>
          <a:xfrm>
            <a:off x="759362" y="2975195"/>
            <a:ext cx="1376317" cy="1409954"/>
            <a:chOff x="817948" y="2975195"/>
            <a:chExt cx="1376317" cy="1409954"/>
          </a:xfrm>
        </p:grpSpPr>
        <p:sp>
          <p:nvSpPr>
            <p:cNvPr id="24" name="사각형: 둥근 모서리 41">
              <a:extLst>
                <a:ext uri="{FF2B5EF4-FFF2-40B4-BE49-F238E27FC236}">
                  <a16:creationId xmlns:a16="http://schemas.microsoft.com/office/drawing/2014/main" id="{E3914920-4036-F0D9-BD94-ACC92BB64AF2}"/>
                </a:ext>
              </a:extLst>
            </p:cNvPr>
            <p:cNvSpPr>
              <a:spLocks/>
            </p:cNvSpPr>
            <p:nvPr/>
          </p:nvSpPr>
          <p:spPr>
            <a:xfrm>
              <a:off x="817948" y="2975195"/>
              <a:ext cx="1376317" cy="1409954"/>
            </a:xfrm>
            <a:prstGeom prst="roundRect">
              <a:avLst>
                <a:gd name="adj" fmla="val 391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err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EFECDCBB-24A7-4AB9-8A69-A9E0EC8A13BA}"/>
                </a:ext>
              </a:extLst>
            </p:cNvPr>
            <p:cNvGrpSpPr/>
            <p:nvPr/>
          </p:nvGrpSpPr>
          <p:grpSpPr>
            <a:xfrm>
              <a:off x="889591" y="3215317"/>
              <a:ext cx="1233030" cy="929711"/>
              <a:chOff x="2220975" y="3229450"/>
              <a:chExt cx="1233030" cy="929711"/>
            </a:xfrm>
          </p:grpSpPr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777BA676-30CD-5047-313E-D9568B1A470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28898" y="3229450"/>
                <a:ext cx="817183" cy="216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39349CE-A828-EFC2-9E2E-4120C6D141E8}"/>
                  </a:ext>
                </a:extLst>
              </p:cNvPr>
              <p:cNvSpPr txBox="1"/>
              <p:nvPr/>
            </p:nvSpPr>
            <p:spPr>
              <a:xfrm>
                <a:off x="2220975" y="3558997"/>
                <a:ext cx="1233030" cy="60016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100">
                    <a:solidFill>
                      <a:schemeClr val="bg2">
                        <a:lumMod val="10000"/>
                      </a:schemeClr>
                    </a:solidFill>
                    <a:latin typeface="Freesentation 4 Regular" pitchFamily="2" charset="-127"/>
                    <a:ea typeface="Freesentation 4 Regular" pitchFamily="2" charset="-127"/>
                  </a:rPr>
                  <a:t>인스타 게시글 </a:t>
                </a:r>
                <a:endParaRPr lang="en-US" altLang="ko-KR" sz="1100">
                  <a:solidFill>
                    <a:schemeClr val="bg2">
                      <a:lumMod val="10000"/>
                    </a:schemeClr>
                  </a:solidFill>
                  <a:latin typeface="Freesentation 4 Regular" pitchFamily="2" charset="-127"/>
                  <a:ea typeface="Freesentation 4 Regular" pitchFamily="2" charset="-127"/>
                </a:endParaRPr>
              </a:p>
              <a:p>
                <a:pPr algn="ctr"/>
                <a:r>
                  <a:rPr lang="ko-KR" altLang="en-US" sz="1100">
                    <a:solidFill>
                      <a:schemeClr val="bg2">
                        <a:lumMod val="10000"/>
                      </a:schemeClr>
                    </a:solidFill>
                    <a:latin typeface="Freesentation 4 Regular" pitchFamily="2" charset="-127"/>
                    <a:ea typeface="Freesentation 4 Regular" pitchFamily="2" charset="-127"/>
                  </a:rPr>
                  <a:t>캡션 자동 수집</a:t>
                </a:r>
                <a:endParaRPr lang="en-US" altLang="ko-KR" sz="1100">
                  <a:solidFill>
                    <a:schemeClr val="bg2">
                      <a:lumMod val="10000"/>
                    </a:schemeClr>
                  </a:solidFill>
                  <a:latin typeface="Freesentation 4 Regular" pitchFamily="2" charset="-127"/>
                  <a:ea typeface="Freesentation 4 Regular" pitchFamily="2" charset="-127"/>
                </a:endParaRPr>
              </a:p>
              <a:p>
                <a:pPr algn="ctr"/>
                <a:r>
                  <a:rPr lang="en-US" altLang="ko-KR" sz="1100">
                    <a:solidFill>
                      <a:schemeClr val="bg2">
                        <a:lumMod val="10000"/>
                      </a:schemeClr>
                    </a:solidFill>
                    <a:latin typeface="Freesentation 4 Regular" pitchFamily="2" charset="-127"/>
                    <a:ea typeface="Freesentation 4 Regular" pitchFamily="2" charset="-127"/>
                  </a:rPr>
                  <a:t>500</a:t>
                </a:r>
                <a:r>
                  <a:rPr lang="ko-KR" altLang="en-US" sz="1100">
                    <a:solidFill>
                      <a:schemeClr val="bg2">
                        <a:lumMod val="10000"/>
                      </a:schemeClr>
                    </a:solidFill>
                    <a:latin typeface="Freesentation 4 Regular" pitchFamily="2" charset="-127"/>
                    <a:ea typeface="Freesentation 4 Regular" pitchFamily="2" charset="-127"/>
                  </a:rPr>
                  <a:t>건 이후 수동 보완</a:t>
                </a:r>
                <a:endParaRPr lang="en-US" altLang="ko-KR" sz="1100">
                  <a:solidFill>
                    <a:schemeClr val="bg2">
                      <a:lumMod val="10000"/>
                    </a:schemeClr>
                  </a:solidFill>
                  <a:latin typeface="Freesentation 4 Regular" pitchFamily="2" charset="-127"/>
                  <a:ea typeface="Freesentation 4 Regular" pitchFamily="2" charset="-127"/>
                </a:endParaRPr>
              </a:p>
            </p:txBody>
          </p:sp>
        </p:grp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FB343DC9-640E-FFB6-9E7C-C16ED3610F26}"/>
              </a:ext>
            </a:extLst>
          </p:cNvPr>
          <p:cNvGrpSpPr/>
          <p:nvPr/>
        </p:nvGrpSpPr>
        <p:grpSpPr>
          <a:xfrm>
            <a:off x="666947" y="4484744"/>
            <a:ext cx="1441196" cy="1827562"/>
            <a:chOff x="725533" y="4484744"/>
            <a:chExt cx="1441196" cy="1827562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116EE22B-BA95-8491-5504-CF0151635C27}"/>
                </a:ext>
              </a:extLst>
            </p:cNvPr>
            <p:cNvGrpSpPr/>
            <p:nvPr/>
          </p:nvGrpSpPr>
          <p:grpSpPr>
            <a:xfrm>
              <a:off x="816747" y="4799983"/>
              <a:ext cx="1349982" cy="1512323"/>
              <a:chOff x="816747" y="4799983"/>
              <a:chExt cx="1349982" cy="1512323"/>
            </a:xfrm>
          </p:grpSpPr>
          <p:sp>
            <p:nvSpPr>
              <p:cNvPr id="23" name="사각형: 둥근 모서리 74">
                <a:extLst>
                  <a:ext uri="{FF2B5EF4-FFF2-40B4-BE49-F238E27FC236}">
                    <a16:creationId xmlns:a16="http://schemas.microsoft.com/office/drawing/2014/main" id="{01184EE8-0D26-0423-EF95-1AE6F6CAC47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6747" y="4799983"/>
                <a:ext cx="1349982" cy="1512323"/>
              </a:xfrm>
              <a:prstGeom prst="roundRect">
                <a:avLst>
                  <a:gd name="adj" fmla="val 3910"/>
                </a:avLst>
              </a:prstGeom>
              <a:solidFill>
                <a:schemeClr val="bg1">
                  <a:lumMod val="9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err="1">
                  <a:solidFill>
                    <a:schemeClr val="bg1"/>
                  </a:solidFill>
                  <a:latin typeface="프리젠테이션 6 SemiBold" pitchFamily="2" charset="-127"/>
                  <a:ea typeface="프리젠테이션 6 SemiBold" pitchFamily="2" charset="-127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A76718B-010A-D9AA-8EBD-F00C7F28A6C1}"/>
                  </a:ext>
                </a:extLst>
              </p:cNvPr>
              <p:cNvSpPr txBox="1"/>
              <p:nvPr/>
            </p:nvSpPr>
            <p:spPr>
              <a:xfrm>
                <a:off x="946557" y="5086785"/>
                <a:ext cx="1090363" cy="93871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100">
                    <a:solidFill>
                      <a:schemeClr val="bg2">
                        <a:lumMod val="10000"/>
                      </a:schemeClr>
                    </a:solidFill>
                    <a:latin typeface="Freesentation 4 Regular" pitchFamily="2" charset="-127"/>
                    <a:ea typeface="Freesentation 4 Regular" pitchFamily="2" charset="-127"/>
                  </a:rPr>
                  <a:t>NAVER </a:t>
                </a:r>
                <a:r>
                  <a:rPr lang="ko-KR" altLang="en-US" sz="1100">
                    <a:solidFill>
                      <a:schemeClr val="bg2">
                        <a:lumMod val="10000"/>
                      </a:schemeClr>
                    </a:solidFill>
                    <a:latin typeface="Freesentation 4 Regular" pitchFamily="2" charset="-127"/>
                    <a:ea typeface="Freesentation 4 Regular" pitchFamily="2" charset="-127"/>
                  </a:rPr>
                  <a:t>검색 </a:t>
                </a:r>
                <a:r>
                  <a:rPr lang="en-US" altLang="ko-KR" sz="1100">
                    <a:solidFill>
                      <a:schemeClr val="bg2">
                        <a:lumMod val="10000"/>
                      </a:schemeClr>
                    </a:solidFill>
                    <a:latin typeface="Freesentation 4 Regular" pitchFamily="2" charset="-127"/>
                    <a:ea typeface="Freesentation 4 Regular" pitchFamily="2" charset="-127"/>
                  </a:rPr>
                  <a:t>API</a:t>
                </a:r>
              </a:p>
              <a:p>
                <a:pPr algn="ctr"/>
                <a:r>
                  <a:rPr lang="en-US" altLang="ko-KR" sz="1100">
                    <a:solidFill>
                      <a:schemeClr val="bg2">
                        <a:lumMod val="10000"/>
                      </a:schemeClr>
                    </a:solidFill>
                    <a:latin typeface="Freesentation 4 Regular" pitchFamily="2" charset="-127"/>
                    <a:ea typeface="Freesentation 4 Regular" pitchFamily="2" charset="-127"/>
                  </a:rPr>
                  <a:t>URL </a:t>
                </a:r>
                <a:r>
                  <a:rPr lang="ko-KR" altLang="en-US" sz="1100">
                    <a:solidFill>
                      <a:schemeClr val="bg2">
                        <a:lumMod val="10000"/>
                      </a:schemeClr>
                    </a:solidFill>
                    <a:latin typeface="Freesentation 4 Regular" pitchFamily="2" charset="-127"/>
                    <a:ea typeface="Freesentation 4 Regular" pitchFamily="2" charset="-127"/>
                  </a:rPr>
                  <a:t>목록 확보</a:t>
                </a:r>
                <a:endParaRPr lang="en-US" altLang="ko-KR" sz="1100">
                  <a:solidFill>
                    <a:schemeClr val="bg2">
                      <a:lumMod val="10000"/>
                    </a:schemeClr>
                  </a:solidFill>
                  <a:latin typeface="Freesentation 4 Regular" pitchFamily="2" charset="-127"/>
                  <a:ea typeface="Freesentation 4 Regular" pitchFamily="2" charset="-127"/>
                </a:endParaRPr>
              </a:p>
              <a:p>
                <a:pPr algn="ctr"/>
                <a:endParaRPr lang="en-US" altLang="ko-KR" sz="1100">
                  <a:solidFill>
                    <a:schemeClr val="bg2">
                      <a:lumMod val="10000"/>
                    </a:schemeClr>
                  </a:solidFill>
                  <a:latin typeface="Freesentation 4 Regular" pitchFamily="2" charset="-127"/>
                  <a:ea typeface="Freesentation 4 Regular" pitchFamily="2" charset="-127"/>
                </a:endParaRPr>
              </a:p>
              <a:p>
                <a:pPr algn="ctr"/>
                <a:r>
                  <a:rPr lang="en-US" altLang="ko-KR" sz="1100" err="1">
                    <a:solidFill>
                      <a:schemeClr val="bg2">
                        <a:lumMod val="10000"/>
                      </a:schemeClr>
                    </a:solidFill>
                    <a:latin typeface="Freesentation 4 Regular" pitchFamily="2" charset="-127"/>
                    <a:ea typeface="Freesentation 4 Regular" pitchFamily="2" charset="-127"/>
                  </a:rPr>
                  <a:t>BeautifulSoup</a:t>
                </a:r>
                <a:r>
                  <a:rPr lang="en-US" altLang="ko-KR" sz="1100">
                    <a:solidFill>
                      <a:schemeClr val="bg2">
                        <a:lumMod val="10000"/>
                      </a:schemeClr>
                    </a:solidFill>
                    <a:latin typeface="Freesentation 4 Regular" pitchFamily="2" charset="-127"/>
                    <a:ea typeface="Freesentation 4 Regular" pitchFamily="2" charset="-127"/>
                  </a:rPr>
                  <a:t> </a:t>
                </a:r>
              </a:p>
              <a:p>
                <a:pPr algn="ctr"/>
                <a:r>
                  <a:rPr lang="ko-KR" altLang="en-US" sz="1100">
                    <a:solidFill>
                      <a:schemeClr val="bg2">
                        <a:lumMod val="10000"/>
                      </a:schemeClr>
                    </a:solidFill>
                    <a:latin typeface="Freesentation 4 Regular" pitchFamily="2" charset="-127"/>
                    <a:ea typeface="Freesentation 4 Regular" pitchFamily="2" charset="-127"/>
                  </a:rPr>
                  <a:t>본문 추출</a:t>
                </a:r>
                <a:endParaRPr lang="en-US" altLang="ko-KR" sz="1100">
                  <a:solidFill>
                    <a:schemeClr val="bg2">
                      <a:lumMod val="10000"/>
                    </a:schemeClr>
                  </a:solidFill>
                  <a:latin typeface="Freesentation 4 Regular" pitchFamily="2" charset="-127"/>
                  <a:ea typeface="Freesentation 4 Regular" pitchFamily="2" charset="-127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FBDC0D3-3248-F27C-BD00-C1E065E386A5}"/>
                </a:ext>
              </a:extLst>
            </p:cNvPr>
            <p:cNvSpPr txBox="1"/>
            <p:nvPr/>
          </p:nvSpPr>
          <p:spPr>
            <a:xfrm>
              <a:off x="725533" y="4484744"/>
              <a:ext cx="1165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>
                  <a:latin typeface="프리젠테이션 6 SemiBold" pitchFamily="2" charset="-127"/>
                  <a:ea typeface="프리젠테이션 6 SemiBold" pitchFamily="2" charset="-127"/>
                </a:rPr>
                <a:t>(2) </a:t>
              </a:r>
              <a:r>
                <a:rPr lang="ko-KR" altLang="en-US" sz="1200">
                  <a:latin typeface="프리젠테이션 6 SemiBold" pitchFamily="2" charset="-127"/>
                  <a:ea typeface="프리젠테이션 6 SemiBold" pitchFamily="2" charset="-127"/>
                </a:rPr>
                <a:t>검색 </a:t>
              </a:r>
              <a:r>
                <a:rPr lang="en-US" altLang="ko-KR" sz="1200">
                  <a:latin typeface="프리젠테이션 6 SemiBold" pitchFamily="2" charset="-127"/>
                  <a:ea typeface="프리젠테이션 6 SemiBold" pitchFamily="2" charset="-127"/>
                </a:rPr>
                <a:t>API </a:t>
              </a:r>
              <a:r>
                <a:rPr lang="ko-KR" altLang="en-US" sz="1200">
                  <a:latin typeface="프리젠테이션 6 SemiBold" pitchFamily="2" charset="-127"/>
                  <a:ea typeface="프리젠테이션 6 SemiBold" pitchFamily="2" charset="-127"/>
                </a:rPr>
                <a:t>활용</a:t>
              </a:r>
              <a:endParaRPr lang="ko-KR" altLang="en-US" sz="700"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087C136-CBA6-7CA0-AAFF-82FFF2D41CC9}"/>
              </a:ext>
            </a:extLst>
          </p:cNvPr>
          <p:cNvSpPr txBox="1"/>
          <p:nvPr/>
        </p:nvSpPr>
        <p:spPr>
          <a:xfrm>
            <a:off x="3869123" y="2645752"/>
            <a:ext cx="10198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latin typeface="프리젠테이션 6 SemiBold" pitchFamily="2" charset="-127"/>
                <a:ea typeface="프리젠테이션 6 SemiBold" pitchFamily="2" charset="-127"/>
              </a:rPr>
              <a:t>(1) </a:t>
            </a:r>
            <a:r>
              <a:rPr lang="ko-KR" altLang="en-US" sz="1200">
                <a:latin typeface="프리젠테이션 6 SemiBold" pitchFamily="2" charset="-127"/>
                <a:ea typeface="프리젠테이션 6 SemiBold" pitchFamily="2" charset="-127"/>
              </a:rPr>
              <a:t>텍스트 정제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4E2109-1516-00E9-EE8B-A01413D1945D}"/>
              </a:ext>
            </a:extLst>
          </p:cNvPr>
          <p:cNvSpPr txBox="1"/>
          <p:nvPr/>
        </p:nvSpPr>
        <p:spPr>
          <a:xfrm>
            <a:off x="5874862" y="2645752"/>
            <a:ext cx="1197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latin typeface="프리젠테이션 6 SemiBold" pitchFamily="2" charset="-127"/>
                <a:ea typeface="프리젠테이션 6 SemiBold" pitchFamily="2" charset="-127"/>
              </a:rPr>
              <a:t>(2) AI </a:t>
            </a:r>
            <a:r>
              <a:rPr lang="ko-KR" altLang="en-US" sz="1200">
                <a:latin typeface="프리젠테이션 6 SemiBold" pitchFamily="2" charset="-127"/>
                <a:ea typeface="프리젠테이션 6 SemiBold" pitchFamily="2" charset="-127"/>
              </a:rPr>
              <a:t>키워드 추출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7821FD-98AC-B0EE-9D98-76284023B1A4}"/>
              </a:ext>
            </a:extLst>
          </p:cNvPr>
          <p:cNvSpPr txBox="1"/>
          <p:nvPr/>
        </p:nvSpPr>
        <p:spPr>
          <a:xfrm>
            <a:off x="7703232" y="2636967"/>
            <a:ext cx="912429" cy="2945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>
                <a:latin typeface="프리젠테이션 6 SemiBold" pitchFamily="2" charset="-127"/>
                <a:ea typeface="프리젠테이션 6 SemiBold" pitchFamily="2" charset="-127"/>
              </a:rPr>
              <a:t>(3) </a:t>
            </a:r>
            <a:r>
              <a:rPr lang="ko-KR" altLang="en-US" sz="1200">
                <a:latin typeface="프리젠테이션 6 SemiBold" pitchFamily="2" charset="-127"/>
                <a:ea typeface="프리젠테이션 6 SemiBold" pitchFamily="2" charset="-127"/>
              </a:rPr>
              <a:t>사후 정제</a:t>
            </a:r>
          </a:p>
        </p:txBody>
      </p:sp>
    </p:spTree>
    <p:extLst>
      <p:ext uri="{BB962C8B-B14F-4D97-AF65-F5344CB8AC3E}">
        <p14:creationId xmlns:p14="http://schemas.microsoft.com/office/powerpoint/2010/main" val="1071564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1AC39-D710-CF06-7F2F-03C9E1006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11233AD-B868-1D4D-CB9B-CA7DCF1943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56624" y="2535448"/>
            <a:ext cx="7878752" cy="3917740"/>
          </a:xfrm>
          <a:prstGeom prst="roundRect">
            <a:avLst>
              <a:gd name="adj" fmla="val 2017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err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162ACCA4-A743-BED6-D92D-4996F717F762}"/>
              </a:ext>
            </a:extLst>
          </p:cNvPr>
          <p:cNvSpPr>
            <a:spLocks/>
          </p:cNvSpPr>
          <p:nvPr/>
        </p:nvSpPr>
        <p:spPr>
          <a:xfrm>
            <a:off x="2270041" y="4666282"/>
            <a:ext cx="5910949" cy="1692000"/>
          </a:xfrm>
          <a:prstGeom prst="roundRect">
            <a:avLst>
              <a:gd name="adj" fmla="val 3910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err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927875-FAC5-C134-23A9-E613290F4D59}"/>
              </a:ext>
            </a:extLst>
          </p:cNvPr>
          <p:cNvSpPr txBox="1">
            <a:spLocks/>
          </p:cNvSpPr>
          <p:nvPr/>
        </p:nvSpPr>
        <p:spPr>
          <a:xfrm>
            <a:off x="518319" y="862399"/>
            <a:ext cx="11157744" cy="410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2000"/>
              </a:lnSpc>
            </a:pP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구축한 이기종 정보 네트워크를 </a:t>
            </a:r>
            <a:r>
              <a:rPr kumimoji="1" lang="en" altLang="ko-KR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Attention</a:t>
            </a: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 </a:t>
            </a:r>
            <a:r>
              <a:rPr kumimoji="1" lang="ko-KR" altLang="en-US" sz="2000" err="1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매커니즘으로</a:t>
            </a: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 학습시켜 흥행 점수로 압축합니다</a:t>
            </a:r>
            <a:endParaRPr kumimoji="1" lang="en-US" altLang="ko-KR" sz="2000"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4F2F12-D289-7F9A-1E86-3B82DC07CF6E}"/>
              </a:ext>
            </a:extLst>
          </p:cNvPr>
          <p:cNvSpPr txBox="1">
            <a:spLocks/>
          </p:cNvSpPr>
          <p:nvPr/>
        </p:nvSpPr>
        <p:spPr>
          <a:xfrm>
            <a:off x="518319" y="407377"/>
            <a:ext cx="6815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10B981"/>
                </a:solidFill>
                <a:latin typeface="프리젠테이션 6 SemiBold" pitchFamily="2" charset="-127"/>
                <a:ea typeface="프리젠테이션 6 SemiBold" pitchFamily="2" charset="-127"/>
              </a:rPr>
              <a:t>모델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4E35768-CE62-9E59-1F73-FDDAF42A8089}"/>
              </a:ext>
            </a:extLst>
          </p:cNvPr>
          <p:cNvSpPr>
            <a:spLocks/>
          </p:cNvSpPr>
          <p:nvPr/>
        </p:nvSpPr>
        <p:spPr>
          <a:xfrm flipV="1">
            <a:off x="612277" y="2236057"/>
            <a:ext cx="10872000" cy="108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BED19E-9874-ED0E-D828-AB8C0A56412F}"/>
              </a:ext>
            </a:extLst>
          </p:cNvPr>
          <p:cNvSpPr txBox="1">
            <a:spLocks/>
          </p:cNvSpPr>
          <p:nvPr/>
        </p:nvSpPr>
        <p:spPr>
          <a:xfrm>
            <a:off x="518319" y="1898341"/>
            <a:ext cx="409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Heterogeneous Graph Transformer</a:t>
            </a:r>
            <a:r>
              <a:rPr lang="ko-KR" altLang="en-US" sz="1600">
                <a:solidFill>
                  <a:srgbClr val="3F3F3F"/>
                </a:solidFill>
                <a:latin typeface="프리젠테이션 6 SemiBold" pitchFamily="2" charset="-127"/>
                <a:ea typeface="프리젠테이션 6 SemiBold" pitchFamily="2" charset="-127"/>
              </a:rPr>
              <a:t> 파이프라인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AE36A3E-78D9-A397-8247-4BE093194E54}"/>
              </a:ext>
            </a:extLst>
          </p:cNvPr>
          <p:cNvSpPr>
            <a:spLocks/>
          </p:cNvSpPr>
          <p:nvPr/>
        </p:nvSpPr>
        <p:spPr>
          <a:xfrm flipV="1">
            <a:off x="6395152" y="2236057"/>
            <a:ext cx="5184000" cy="108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err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EB4D48A-A941-12BC-9FD9-56880261DEEB}"/>
              </a:ext>
            </a:extLst>
          </p:cNvPr>
          <p:cNvSpPr>
            <a:spLocks/>
          </p:cNvSpPr>
          <p:nvPr/>
        </p:nvSpPr>
        <p:spPr>
          <a:xfrm>
            <a:off x="612277" y="2535448"/>
            <a:ext cx="1418219" cy="3917740"/>
          </a:xfrm>
          <a:prstGeom prst="roundRect">
            <a:avLst>
              <a:gd name="adj" fmla="val 6138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err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BDAF80-3D53-0404-7F6D-00F12B1E562C}"/>
              </a:ext>
            </a:extLst>
          </p:cNvPr>
          <p:cNvSpPr txBox="1"/>
          <p:nvPr/>
        </p:nvSpPr>
        <p:spPr>
          <a:xfrm>
            <a:off x="10544787" y="2289227"/>
            <a:ext cx="6463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>
                <a:latin typeface="프리젠테이션 3 Light" pitchFamily="2" charset="-127"/>
                <a:ea typeface="프리젠테이션 3 Light" pitchFamily="2" charset="-127"/>
              </a:rPr>
              <a:t>Phase 3.</a:t>
            </a:r>
            <a:endParaRPr lang="ko-KR" altLang="en-US" sz="100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D4124BD-CDE7-B719-AD86-4FD8FFF3B8D1}"/>
              </a:ext>
            </a:extLst>
          </p:cNvPr>
          <p:cNvSpPr>
            <a:spLocks/>
          </p:cNvSpPr>
          <p:nvPr/>
        </p:nvSpPr>
        <p:spPr>
          <a:xfrm>
            <a:off x="10156752" y="2535448"/>
            <a:ext cx="1422400" cy="819450"/>
          </a:xfrm>
          <a:prstGeom prst="roundRect">
            <a:avLst>
              <a:gd name="adj" fmla="val 9044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× L</a:t>
            </a:r>
          </a:p>
          <a:p>
            <a:pPr algn="ctr"/>
            <a:r>
              <a:rPr lang="en-US" altLang="ko-KR" sz="12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HGT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Layers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Epoch </a:t>
            </a:r>
            <a:r>
              <a:rPr lang="ko-KR" altLang="en-US" sz="10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반복학습</a:t>
            </a:r>
            <a:endParaRPr lang="ko-KR" altLang="en-US" sz="110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EC9DD52-0118-7292-40D4-08642F2A578A}"/>
              </a:ext>
            </a:extLst>
          </p:cNvPr>
          <p:cNvSpPr>
            <a:spLocks/>
          </p:cNvSpPr>
          <p:nvPr/>
        </p:nvSpPr>
        <p:spPr>
          <a:xfrm>
            <a:off x="10156752" y="3605169"/>
            <a:ext cx="1422400" cy="633453"/>
          </a:xfrm>
          <a:prstGeom prst="roundRect">
            <a:avLst>
              <a:gd name="adj" fmla="val 9044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H⁽ᴸ⁾[t]</a:t>
            </a:r>
          </a:p>
          <a:p>
            <a:pPr algn="ctr"/>
            <a:r>
              <a:rPr lang="ko-KR" altLang="en-US" sz="10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진국 </a:t>
            </a:r>
            <a:r>
              <a:rPr lang="en-US" altLang="ko-KR" sz="10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Dense Vector</a:t>
            </a:r>
          </a:p>
          <a:p>
            <a:pPr algn="ctr"/>
            <a:r>
              <a:rPr lang="ko-KR" altLang="en-US" sz="10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맥락 전부 흡수</a:t>
            </a:r>
            <a:endParaRPr lang="ko-KR" altLang="en-US" sz="90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56AB3AA-E096-A82A-FE7E-336D361BA7A4}"/>
              </a:ext>
            </a:extLst>
          </p:cNvPr>
          <p:cNvSpPr>
            <a:spLocks/>
          </p:cNvSpPr>
          <p:nvPr/>
        </p:nvSpPr>
        <p:spPr>
          <a:xfrm>
            <a:off x="10156752" y="4471197"/>
            <a:ext cx="1422400" cy="505614"/>
          </a:xfrm>
          <a:prstGeom prst="roundRect">
            <a:avLst>
              <a:gd name="adj" fmla="val 9044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Predict ŷ</a:t>
            </a:r>
          </a:p>
          <a:p>
            <a:pPr algn="ctr"/>
            <a:r>
              <a:rPr lang="ko-KR" altLang="en-US" sz="10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흥행 점수 예측</a:t>
            </a:r>
            <a:endParaRPr lang="ko-KR" altLang="en-US" sz="60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6B03CC3-2E7A-5DF8-868A-CFFA5E18DC30}"/>
              </a:ext>
            </a:extLst>
          </p:cNvPr>
          <p:cNvSpPr>
            <a:spLocks/>
          </p:cNvSpPr>
          <p:nvPr/>
        </p:nvSpPr>
        <p:spPr>
          <a:xfrm>
            <a:off x="10156752" y="5209386"/>
            <a:ext cx="1422400" cy="505614"/>
          </a:xfrm>
          <a:prstGeom prst="roundRect">
            <a:avLst>
              <a:gd name="adj" fmla="val 9044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Loss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vs POS </a:t>
            </a:r>
            <a:r>
              <a:rPr lang="ko-KR" altLang="en-US" sz="1000" err="1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실매출</a:t>
            </a:r>
            <a:endParaRPr lang="ko-KR" altLang="en-US" sz="30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F506C70-99BA-1ABE-E298-6102DF648C29}"/>
              </a:ext>
            </a:extLst>
          </p:cNvPr>
          <p:cNvSpPr>
            <a:spLocks/>
          </p:cNvSpPr>
          <p:nvPr/>
        </p:nvSpPr>
        <p:spPr>
          <a:xfrm>
            <a:off x="10156752" y="5947574"/>
            <a:ext cx="1422400" cy="505614"/>
          </a:xfrm>
          <a:prstGeom prst="roundRect">
            <a:avLst>
              <a:gd name="adj" fmla="val 9044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err="1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역전파</a:t>
            </a:r>
            <a:endParaRPr lang="ko-KR" altLang="en-US" sz="110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algn="ctr"/>
            <a:r>
              <a:rPr lang="en-US" altLang="ko-KR" sz="110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Backprop</a:t>
            </a:r>
            <a:endParaRPr lang="ko-KR" altLang="en-US" sz="20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140D2BC-F691-EA0C-40B2-665C3D2DCE4B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>
            <a:off x="10867952" y="3354898"/>
            <a:ext cx="0" cy="250271"/>
          </a:xfrm>
          <a:prstGeom prst="straightConnector1">
            <a:avLst/>
          </a:prstGeom>
          <a:ln w="12700">
            <a:solidFill>
              <a:srgbClr val="10B98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A9B0511E-681D-9607-8615-227D18B7441F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>
            <a:off x="10867952" y="4238622"/>
            <a:ext cx="0" cy="232575"/>
          </a:xfrm>
          <a:prstGeom prst="straightConnector1">
            <a:avLst/>
          </a:prstGeom>
          <a:ln w="12700">
            <a:solidFill>
              <a:srgbClr val="10B98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4E1BF790-B95F-AD51-D63F-2A9721807761}"/>
              </a:ext>
            </a:extLst>
          </p:cNvPr>
          <p:cNvCxnSpPr>
            <a:stCxn id="24" idx="2"/>
            <a:endCxn id="26" idx="0"/>
          </p:cNvCxnSpPr>
          <p:nvPr/>
        </p:nvCxnSpPr>
        <p:spPr>
          <a:xfrm>
            <a:off x="10867952" y="4976811"/>
            <a:ext cx="0" cy="232575"/>
          </a:xfrm>
          <a:prstGeom prst="straightConnector1">
            <a:avLst/>
          </a:prstGeom>
          <a:ln w="12700">
            <a:solidFill>
              <a:srgbClr val="10B98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A78C0BE-CB5F-A572-F9A7-AF49F51EC862}"/>
              </a:ext>
            </a:extLst>
          </p:cNvPr>
          <p:cNvCxnSpPr>
            <a:stCxn id="26" idx="2"/>
            <a:endCxn id="29" idx="0"/>
          </p:cNvCxnSpPr>
          <p:nvPr/>
        </p:nvCxnSpPr>
        <p:spPr>
          <a:xfrm>
            <a:off x="10867952" y="5715000"/>
            <a:ext cx="0" cy="232574"/>
          </a:xfrm>
          <a:prstGeom prst="straightConnector1">
            <a:avLst/>
          </a:prstGeom>
          <a:ln w="12700">
            <a:solidFill>
              <a:srgbClr val="10B98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C60904C-7F20-47E7-D657-1E6D32E6B4DA}"/>
              </a:ext>
            </a:extLst>
          </p:cNvPr>
          <p:cNvSpPr txBox="1"/>
          <p:nvPr/>
        </p:nvSpPr>
        <p:spPr>
          <a:xfrm>
            <a:off x="5772835" y="2289227"/>
            <a:ext cx="6463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>
                <a:latin typeface="프리젠테이션 3 Light" pitchFamily="2" charset="-127"/>
                <a:ea typeface="프리젠테이션 3 Light" pitchFamily="2" charset="-127"/>
              </a:rPr>
              <a:t>Phase 2.</a:t>
            </a:r>
            <a:endParaRPr lang="ko-KR" altLang="en-US" sz="100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C01CB8-3BFB-BA3D-CB60-01B49738B0EC}"/>
              </a:ext>
            </a:extLst>
          </p:cNvPr>
          <p:cNvSpPr txBox="1"/>
          <p:nvPr/>
        </p:nvSpPr>
        <p:spPr>
          <a:xfrm>
            <a:off x="995621" y="2307564"/>
            <a:ext cx="6463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>
                <a:latin typeface="프리젠테이션 3 Light" pitchFamily="2" charset="-127"/>
                <a:ea typeface="프리젠테이션 3 Light" pitchFamily="2" charset="-127"/>
              </a:rPr>
              <a:t>Phase 1.</a:t>
            </a:r>
            <a:endParaRPr lang="ko-KR" altLang="en-US" sz="100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150C41-D85B-240A-2834-9782D0F7E645}"/>
              </a:ext>
            </a:extLst>
          </p:cNvPr>
          <p:cNvSpPr txBox="1"/>
          <p:nvPr/>
        </p:nvSpPr>
        <p:spPr>
          <a:xfrm>
            <a:off x="2191943" y="2584573"/>
            <a:ext cx="11256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>
                <a:solidFill>
                  <a:srgbClr val="FF8C42"/>
                </a:solidFill>
                <a:latin typeface="프리젠테이션 6 SemiBold" pitchFamily="2" charset="-127"/>
                <a:ea typeface="프리젠테이션 6 SemiBold" pitchFamily="2" charset="-127"/>
              </a:rPr>
              <a:t>H⁽ˡ⁻¹⁾[t] </a:t>
            </a:r>
            <a:r>
              <a:rPr lang="ko-KR" altLang="en-US" sz="1000" err="1">
                <a:solidFill>
                  <a:srgbClr val="FF8C42"/>
                </a:solidFill>
                <a:latin typeface="프리젠테이션 6 SemiBold" pitchFamily="2" charset="-127"/>
                <a:ea typeface="프리젠테이션 6 SemiBold" pitchFamily="2" charset="-127"/>
              </a:rPr>
              <a:t>상품임베딩</a:t>
            </a:r>
            <a:endParaRPr lang="ko-KR" altLang="en-US" sz="1000">
              <a:solidFill>
                <a:srgbClr val="FF8C42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62A3F9-9E23-5D1E-891C-83DCE6CC2E73}"/>
              </a:ext>
            </a:extLst>
          </p:cNvPr>
          <p:cNvSpPr txBox="1"/>
          <p:nvPr/>
        </p:nvSpPr>
        <p:spPr>
          <a:xfrm>
            <a:off x="3275648" y="2584573"/>
            <a:ext cx="11977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>
                <a:solidFill>
                  <a:srgbClr val="10B981"/>
                </a:solidFill>
                <a:latin typeface="프리젠테이션 6 SemiBold" pitchFamily="2" charset="-127"/>
                <a:ea typeface="프리젠테이션 6 SemiBold" pitchFamily="2" charset="-127"/>
              </a:rPr>
              <a:t>H⁽ˡ⁻¹⁾[s₁] </a:t>
            </a:r>
            <a:r>
              <a:rPr lang="ko-KR" altLang="en-US" sz="1000" err="1">
                <a:solidFill>
                  <a:srgbClr val="10B981"/>
                </a:solidFill>
                <a:latin typeface="프리젠테이션 6 SemiBold" pitchFamily="2" charset="-127"/>
                <a:ea typeface="프리젠테이션 6 SemiBold" pitchFamily="2" charset="-127"/>
              </a:rPr>
              <a:t>속성임베딩</a:t>
            </a:r>
            <a:endParaRPr lang="ko-KR" altLang="en-US" sz="1000">
              <a:solidFill>
                <a:srgbClr val="10B98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E2C6F8-7B20-E559-0585-46AAE61C0218}"/>
              </a:ext>
            </a:extLst>
          </p:cNvPr>
          <p:cNvSpPr txBox="1"/>
          <p:nvPr/>
        </p:nvSpPr>
        <p:spPr>
          <a:xfrm>
            <a:off x="4431488" y="2584573"/>
            <a:ext cx="12955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>
                <a:solidFill>
                  <a:srgbClr val="EF4444"/>
                </a:solidFill>
                <a:latin typeface="프리젠테이션 6 SemiBold" pitchFamily="2" charset="-127"/>
                <a:ea typeface="프리젠테이션 6 SemiBold" pitchFamily="2" charset="-127"/>
              </a:rPr>
              <a:t>H⁽ˡ⁻¹⁾[s₂] </a:t>
            </a:r>
            <a:r>
              <a:rPr lang="ko-KR" altLang="en-US" sz="1000" err="1">
                <a:solidFill>
                  <a:srgbClr val="EF4444"/>
                </a:solidFill>
                <a:latin typeface="프리젠테이션 6 SemiBold" pitchFamily="2" charset="-127"/>
                <a:ea typeface="프리젠테이션 6 SemiBold" pitchFamily="2" charset="-127"/>
              </a:rPr>
              <a:t>트렌드임베딩</a:t>
            </a:r>
            <a:endParaRPr lang="ko-KR" altLang="en-US" sz="1000">
              <a:solidFill>
                <a:srgbClr val="EF4444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0E9A1E1-37AF-DBAD-E0FD-BB5BCBD40B9C}"/>
              </a:ext>
            </a:extLst>
          </p:cNvPr>
          <p:cNvSpPr>
            <a:spLocks/>
          </p:cNvSpPr>
          <p:nvPr/>
        </p:nvSpPr>
        <p:spPr>
          <a:xfrm>
            <a:off x="2270040" y="2851172"/>
            <a:ext cx="5910949" cy="1692000"/>
          </a:xfrm>
          <a:prstGeom prst="roundRect">
            <a:avLst>
              <a:gd name="adj" fmla="val 3910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err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711938-C0B3-5CA9-72CB-CF3B1564F6FF}"/>
              </a:ext>
            </a:extLst>
          </p:cNvPr>
          <p:cNvSpPr txBox="1"/>
          <p:nvPr/>
        </p:nvSpPr>
        <p:spPr>
          <a:xfrm>
            <a:off x="2314491" y="2902694"/>
            <a:ext cx="2618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latin typeface="프리젠테이션 5 Medium" pitchFamily="2" charset="-127"/>
                <a:ea typeface="프리젠테이션 5 Medium" pitchFamily="2" charset="-127"/>
              </a:rPr>
              <a:t>(1)</a:t>
            </a:r>
            <a:r>
              <a:rPr lang="en-US" altLang="ko-KR" sz="1000">
                <a:latin typeface="프리젠테이션 5 Medium" pitchFamily="2" charset="-127"/>
                <a:ea typeface="프리젠테이션 5 Medium" pitchFamily="2" charset="-127"/>
              </a:rPr>
              <a:t> HETEROGENEOUS MUTUAL ATTENTION</a:t>
            </a:r>
            <a:endParaRPr lang="ko-KR" altLang="en-US" sz="100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09D8FD9-0CE5-116D-112B-30B2141ADE7B}"/>
              </a:ext>
            </a:extLst>
          </p:cNvPr>
          <p:cNvSpPr>
            <a:spLocks/>
          </p:cNvSpPr>
          <p:nvPr/>
        </p:nvSpPr>
        <p:spPr>
          <a:xfrm>
            <a:off x="2397826" y="3172521"/>
            <a:ext cx="3014334" cy="396000"/>
          </a:xfrm>
          <a:prstGeom prst="roundRect">
            <a:avLst>
              <a:gd name="adj" fmla="val 15927"/>
            </a:avLst>
          </a:prstGeom>
          <a:solidFill>
            <a:srgbClr val="FF8C42">
              <a:alpha val="10000"/>
            </a:srgbClr>
          </a:solidFill>
          <a:ln w="6350">
            <a:solidFill>
              <a:srgbClr val="FF8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Q-Linear </a:t>
            </a:r>
            <a:r>
              <a:rPr kumimoji="0" lang="el-GR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τ(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t)</a:t>
            </a:r>
            <a:b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</a:b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상품 쿼리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155385B-8610-AFE3-CA61-8ACFFB7A3419}"/>
              </a:ext>
            </a:extLst>
          </p:cNvPr>
          <p:cNvSpPr>
            <a:spLocks/>
          </p:cNvSpPr>
          <p:nvPr/>
        </p:nvSpPr>
        <p:spPr>
          <a:xfrm>
            <a:off x="2397826" y="3616348"/>
            <a:ext cx="3014334" cy="396000"/>
          </a:xfrm>
          <a:prstGeom prst="roundRect">
            <a:avLst>
              <a:gd name="adj" fmla="val 15927"/>
            </a:avLst>
          </a:prstGeom>
          <a:solidFill>
            <a:srgbClr val="10B981">
              <a:alpha val="10000"/>
            </a:srgbClr>
          </a:solidFill>
          <a:ln w="63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K-Linear </a:t>
            </a:r>
            <a:r>
              <a:rPr kumimoji="0" lang="el-GR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τ(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s₁)</a:t>
            </a:r>
            <a:b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</a:b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속성 키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16D93C54-A260-E51F-2063-14D7B77E308F}"/>
              </a:ext>
            </a:extLst>
          </p:cNvPr>
          <p:cNvSpPr>
            <a:spLocks/>
          </p:cNvSpPr>
          <p:nvPr/>
        </p:nvSpPr>
        <p:spPr>
          <a:xfrm>
            <a:off x="2397826" y="4060176"/>
            <a:ext cx="3014334" cy="396000"/>
          </a:xfrm>
          <a:prstGeom prst="roundRect">
            <a:avLst>
              <a:gd name="adj" fmla="val 15927"/>
            </a:avLst>
          </a:prstGeom>
          <a:solidFill>
            <a:srgbClr val="EF4444">
              <a:alpha val="10000"/>
            </a:srgbClr>
          </a:solidFill>
          <a:ln w="635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K-Linear τ(s₂)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트렌드 키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848C8248-16CD-DB12-FFB4-B18693ABE15D}"/>
              </a:ext>
            </a:extLst>
          </p:cNvPr>
          <p:cNvSpPr>
            <a:spLocks/>
          </p:cNvSpPr>
          <p:nvPr/>
        </p:nvSpPr>
        <p:spPr>
          <a:xfrm>
            <a:off x="2397826" y="5415733"/>
            <a:ext cx="3014334" cy="396000"/>
          </a:xfrm>
          <a:prstGeom prst="roundRect">
            <a:avLst>
              <a:gd name="adj" fmla="val 15927"/>
            </a:avLst>
          </a:prstGeom>
          <a:solidFill>
            <a:srgbClr val="10B981">
              <a:alpha val="10000"/>
            </a:srgbClr>
          </a:solidFill>
          <a:ln w="63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V-Linear </a:t>
            </a:r>
            <a:r>
              <a:rPr kumimoji="0" lang="el-GR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τ(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s₁)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속성 값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262CE81F-F562-F11C-314F-35717A8CA9BC}"/>
              </a:ext>
            </a:extLst>
          </p:cNvPr>
          <p:cNvSpPr>
            <a:spLocks/>
          </p:cNvSpPr>
          <p:nvPr/>
        </p:nvSpPr>
        <p:spPr>
          <a:xfrm>
            <a:off x="2397826" y="5859561"/>
            <a:ext cx="3014334" cy="396000"/>
          </a:xfrm>
          <a:prstGeom prst="roundRect">
            <a:avLst>
              <a:gd name="adj" fmla="val 15927"/>
            </a:avLst>
          </a:prstGeom>
          <a:solidFill>
            <a:srgbClr val="EF4444">
              <a:alpha val="10000"/>
            </a:srgbClr>
          </a:solidFill>
          <a:ln w="635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V-Linear τ(s₂)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트렌드 값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1A49508-9022-99C9-2853-5831B098AA51}"/>
              </a:ext>
            </a:extLst>
          </p:cNvPr>
          <p:cNvSpPr txBox="1"/>
          <p:nvPr/>
        </p:nvSpPr>
        <p:spPr>
          <a:xfrm>
            <a:off x="2314491" y="4720079"/>
            <a:ext cx="25955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latin typeface="프리젠테이션 5 Medium" pitchFamily="2" charset="-127"/>
                <a:ea typeface="프리젠테이션 5 Medium" pitchFamily="2" charset="-127"/>
              </a:rPr>
              <a:t>(2)</a:t>
            </a:r>
            <a:r>
              <a:rPr lang="en-US" altLang="ko-KR" sz="1000">
                <a:latin typeface="프리젠테이션 5 Medium" pitchFamily="2" charset="-127"/>
                <a:ea typeface="프리젠테이션 5 Medium" pitchFamily="2" charset="-127"/>
              </a:rPr>
              <a:t> HETEROGENEOUS MESSAGE PASSING</a:t>
            </a:r>
            <a:endParaRPr lang="ko-KR" altLang="en-US" sz="40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769EE5A-741B-8D9E-270B-416903B77693}"/>
              </a:ext>
            </a:extLst>
          </p:cNvPr>
          <p:cNvSpPr>
            <a:spLocks/>
          </p:cNvSpPr>
          <p:nvPr/>
        </p:nvSpPr>
        <p:spPr>
          <a:xfrm>
            <a:off x="5676819" y="3394434"/>
            <a:ext cx="1024647" cy="396000"/>
          </a:xfrm>
          <a:prstGeom prst="roundRect">
            <a:avLst>
              <a:gd name="adj" fmla="val 15927"/>
            </a:avLst>
          </a:prstGeom>
          <a:solidFill>
            <a:schemeClr val="bg2">
              <a:lumMod val="9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WATT φ(e₁)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포함관계 행렬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75F1C8D3-BA22-BB61-E8E9-FAAA67C9D28B}"/>
              </a:ext>
            </a:extLst>
          </p:cNvPr>
          <p:cNvSpPr>
            <a:spLocks/>
          </p:cNvSpPr>
          <p:nvPr/>
        </p:nvSpPr>
        <p:spPr>
          <a:xfrm>
            <a:off x="5676819" y="4060176"/>
            <a:ext cx="1024647" cy="396000"/>
          </a:xfrm>
          <a:prstGeom prst="roundRect">
            <a:avLst>
              <a:gd name="adj" fmla="val 15927"/>
            </a:avLst>
          </a:prstGeom>
          <a:solidFill>
            <a:schemeClr val="bg2">
              <a:lumMod val="9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WATT </a:t>
            </a:r>
            <a:r>
              <a:rPr kumimoji="0" lang="el-GR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φ(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e₂)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Lead-time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행렬</a:t>
            </a: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07EE579A-E28D-B21F-EA15-6F925511558D}"/>
              </a:ext>
            </a:extLst>
          </p:cNvPr>
          <p:cNvGrpSpPr/>
          <p:nvPr/>
        </p:nvGrpSpPr>
        <p:grpSpPr>
          <a:xfrm>
            <a:off x="5475032" y="3369761"/>
            <a:ext cx="138916" cy="447261"/>
            <a:chOff x="5452259" y="3404051"/>
            <a:chExt cx="138916" cy="447261"/>
          </a:xfrm>
        </p:grpSpPr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D8863467-52B1-D6F2-EA35-00E55C39113E}"/>
                </a:ext>
              </a:extLst>
            </p:cNvPr>
            <p:cNvCxnSpPr>
              <a:cxnSpLocks/>
            </p:cNvCxnSpPr>
            <p:nvPr/>
          </p:nvCxnSpPr>
          <p:spPr>
            <a:xfrm>
              <a:off x="5452259" y="3404051"/>
              <a:ext cx="138916" cy="131020"/>
            </a:xfrm>
            <a:prstGeom prst="straightConnector1">
              <a:avLst/>
            </a:prstGeom>
            <a:ln w="9525" cap="rnd">
              <a:solidFill>
                <a:schemeClr val="bg1">
                  <a:lumMod val="50000"/>
                </a:schemeClr>
              </a:solidFill>
              <a:round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화살표 연결선 90">
              <a:extLst>
                <a:ext uri="{FF2B5EF4-FFF2-40B4-BE49-F238E27FC236}">
                  <a16:creationId xmlns:a16="http://schemas.microsoft.com/office/drawing/2014/main" id="{B78EAF6B-C32E-43CC-D0D4-BCAF0426CE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2259" y="3720292"/>
              <a:ext cx="138916" cy="131020"/>
            </a:xfrm>
            <a:prstGeom prst="straightConnector1">
              <a:avLst/>
            </a:prstGeom>
            <a:ln w="9525" cap="rnd">
              <a:solidFill>
                <a:schemeClr val="bg1">
                  <a:lumMod val="50000"/>
                </a:schemeClr>
              </a:solidFill>
              <a:round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11F5D8FF-A9DF-0AA1-0760-974C10CBDB4B}"/>
              </a:ext>
            </a:extLst>
          </p:cNvPr>
          <p:cNvCxnSpPr>
            <a:cxnSpLocks/>
          </p:cNvCxnSpPr>
          <p:nvPr/>
        </p:nvCxnSpPr>
        <p:spPr>
          <a:xfrm>
            <a:off x="5475032" y="4258176"/>
            <a:ext cx="138916" cy="0"/>
          </a:xfrm>
          <a:prstGeom prst="straightConnector1">
            <a:avLst/>
          </a:prstGeom>
          <a:ln w="9525" cap="rnd">
            <a:solidFill>
              <a:schemeClr val="bg1">
                <a:lumMod val="50000"/>
              </a:schemeClr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0989948A-4063-746F-1554-FF8EA11FBFF9}"/>
              </a:ext>
            </a:extLst>
          </p:cNvPr>
          <p:cNvCxnSpPr>
            <a:cxnSpLocks/>
          </p:cNvCxnSpPr>
          <p:nvPr/>
        </p:nvCxnSpPr>
        <p:spPr>
          <a:xfrm>
            <a:off x="6772221" y="3592434"/>
            <a:ext cx="138916" cy="0"/>
          </a:xfrm>
          <a:prstGeom prst="straightConnector1">
            <a:avLst/>
          </a:prstGeom>
          <a:ln w="9525" cap="rnd">
            <a:solidFill>
              <a:schemeClr val="bg1">
                <a:lumMod val="50000"/>
              </a:schemeClr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F7A20F7A-F651-DCC7-8C41-59514B186BAE}"/>
              </a:ext>
            </a:extLst>
          </p:cNvPr>
          <p:cNvSpPr>
            <a:spLocks/>
          </p:cNvSpPr>
          <p:nvPr/>
        </p:nvSpPr>
        <p:spPr>
          <a:xfrm>
            <a:off x="6981892" y="3172521"/>
            <a:ext cx="1024647" cy="617911"/>
          </a:xfrm>
          <a:prstGeom prst="roundRect">
            <a:avLst>
              <a:gd name="adj" fmla="val 15927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Edge Scaled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Softmax</a:t>
            </a: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kumimoji="0" lang="el-GR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μ)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승자독식 경쟁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72FFB648-C50F-4975-55A3-3C5E9D05C763}"/>
              </a:ext>
            </a:extLst>
          </p:cNvPr>
          <p:cNvSpPr>
            <a:spLocks/>
          </p:cNvSpPr>
          <p:nvPr/>
        </p:nvSpPr>
        <p:spPr>
          <a:xfrm>
            <a:off x="6981892" y="3863779"/>
            <a:ext cx="1024647" cy="262385"/>
          </a:xfrm>
          <a:prstGeom prst="roundRect">
            <a:avLst>
              <a:gd name="adj" fmla="val 15927"/>
            </a:avLst>
          </a:prstGeom>
          <a:noFill/>
          <a:ln w="63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ko-KR" sz="10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Attn(s₁, e₁, t)</a:t>
            </a:r>
            <a:endParaRPr kumimoji="0" lang="ko-KR" altLang="en-US" sz="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AA064AB1-87E2-2C7A-CBC8-1614B33F2247}"/>
              </a:ext>
            </a:extLst>
          </p:cNvPr>
          <p:cNvSpPr>
            <a:spLocks/>
          </p:cNvSpPr>
          <p:nvPr/>
        </p:nvSpPr>
        <p:spPr>
          <a:xfrm>
            <a:off x="6981892" y="4199511"/>
            <a:ext cx="1024647" cy="262385"/>
          </a:xfrm>
          <a:prstGeom prst="roundRect">
            <a:avLst>
              <a:gd name="adj" fmla="val 15927"/>
            </a:avLst>
          </a:prstGeom>
          <a:noFill/>
          <a:ln w="63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ko-KR" sz="10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Attn(s₂, e₂, t)</a:t>
            </a:r>
            <a:endParaRPr kumimoji="0" lang="ko-KR" altLang="en-US" sz="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</a:endParaRP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3320CBDA-61CB-B36B-E30D-5313F8D15371}"/>
              </a:ext>
            </a:extLst>
          </p:cNvPr>
          <p:cNvCxnSpPr>
            <a:cxnSpLocks/>
          </p:cNvCxnSpPr>
          <p:nvPr/>
        </p:nvCxnSpPr>
        <p:spPr>
          <a:xfrm>
            <a:off x="6772221" y="4329037"/>
            <a:ext cx="138916" cy="0"/>
          </a:xfrm>
          <a:prstGeom prst="straightConnector1">
            <a:avLst/>
          </a:prstGeom>
          <a:ln w="9525" cap="rnd">
            <a:solidFill>
              <a:schemeClr val="bg1">
                <a:lumMod val="50000"/>
              </a:schemeClr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FD82B12D-5629-5B2A-72A5-5C4826D32C2E}"/>
              </a:ext>
            </a:extLst>
          </p:cNvPr>
          <p:cNvCxnSpPr>
            <a:cxnSpLocks/>
          </p:cNvCxnSpPr>
          <p:nvPr/>
        </p:nvCxnSpPr>
        <p:spPr>
          <a:xfrm>
            <a:off x="5475032" y="5613733"/>
            <a:ext cx="138916" cy="0"/>
          </a:xfrm>
          <a:prstGeom prst="straightConnector1">
            <a:avLst/>
          </a:prstGeom>
          <a:ln w="9525" cap="rnd">
            <a:solidFill>
              <a:schemeClr val="bg1">
                <a:lumMod val="50000"/>
              </a:schemeClr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9C3ADB41-18F4-5D64-C2B1-BCBC2D099ACB}"/>
              </a:ext>
            </a:extLst>
          </p:cNvPr>
          <p:cNvCxnSpPr>
            <a:cxnSpLocks/>
          </p:cNvCxnSpPr>
          <p:nvPr/>
        </p:nvCxnSpPr>
        <p:spPr>
          <a:xfrm>
            <a:off x="5475032" y="6057561"/>
            <a:ext cx="138916" cy="0"/>
          </a:xfrm>
          <a:prstGeom prst="straightConnector1">
            <a:avLst/>
          </a:prstGeom>
          <a:ln w="9525" cap="rnd">
            <a:solidFill>
              <a:schemeClr val="bg1">
                <a:lumMod val="50000"/>
              </a:schemeClr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61972BE5-AE02-2D46-5E79-353F552F9C41}"/>
              </a:ext>
            </a:extLst>
          </p:cNvPr>
          <p:cNvSpPr>
            <a:spLocks/>
          </p:cNvSpPr>
          <p:nvPr/>
        </p:nvSpPr>
        <p:spPr>
          <a:xfrm>
            <a:off x="5676819" y="5415733"/>
            <a:ext cx="1024647" cy="396000"/>
          </a:xfrm>
          <a:prstGeom prst="roundRect">
            <a:avLst>
              <a:gd name="adj" fmla="val 15927"/>
            </a:avLst>
          </a:prstGeom>
          <a:solidFill>
            <a:schemeClr val="bg2">
              <a:lumMod val="9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WMSG φ(e₁)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속성 메시지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E048C3CB-A666-EB89-9474-FF4E0AD3930C}"/>
              </a:ext>
            </a:extLst>
          </p:cNvPr>
          <p:cNvSpPr>
            <a:spLocks/>
          </p:cNvSpPr>
          <p:nvPr/>
        </p:nvSpPr>
        <p:spPr>
          <a:xfrm>
            <a:off x="5676819" y="5859561"/>
            <a:ext cx="1024647" cy="396000"/>
          </a:xfrm>
          <a:prstGeom prst="roundRect">
            <a:avLst>
              <a:gd name="adj" fmla="val 15927"/>
            </a:avLst>
          </a:prstGeom>
          <a:solidFill>
            <a:schemeClr val="bg2">
              <a:lumMod val="9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WMSG φ(e₂)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3 Light" pitchFamily="2" charset="-127"/>
                <a:ea typeface="프리젠테이션 3 Light" pitchFamily="2" charset="-127"/>
                <a:cs typeface="+mn-cs"/>
              </a:rPr>
              <a:t>트렌드 메시지</a:t>
            </a: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9AD36D00-FDEF-B7D2-3F10-BFE776CF840A}"/>
              </a:ext>
            </a:extLst>
          </p:cNvPr>
          <p:cNvSpPr>
            <a:spLocks/>
          </p:cNvSpPr>
          <p:nvPr/>
        </p:nvSpPr>
        <p:spPr>
          <a:xfrm>
            <a:off x="6981892" y="5482541"/>
            <a:ext cx="1024647" cy="262385"/>
          </a:xfrm>
          <a:prstGeom prst="roundRect">
            <a:avLst>
              <a:gd name="adj" fmla="val 15927"/>
            </a:avLst>
          </a:prstGeom>
          <a:noFill/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ko-KR" sz="10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MSG(s₁, e₁, t)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82B8608F-0CE3-E1BD-70BD-79DCE9BA036B}"/>
              </a:ext>
            </a:extLst>
          </p:cNvPr>
          <p:cNvSpPr>
            <a:spLocks/>
          </p:cNvSpPr>
          <p:nvPr/>
        </p:nvSpPr>
        <p:spPr>
          <a:xfrm>
            <a:off x="6981892" y="5926369"/>
            <a:ext cx="1024647" cy="262385"/>
          </a:xfrm>
          <a:prstGeom prst="roundRect">
            <a:avLst>
              <a:gd name="adj" fmla="val 15927"/>
            </a:avLst>
          </a:prstGeom>
          <a:noFill/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ko-KR" sz="10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MSG(s₂, e₂, t)</a:t>
            </a:r>
            <a:endParaRPr kumimoji="0" lang="ko-KR" altLang="en-US" sz="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프리젠테이션 3 Light" pitchFamily="2" charset="-127"/>
              <a:ea typeface="프리젠테이션 3 Light" pitchFamily="2" charset="-127"/>
            </a:endParaRPr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F3D25A1E-2137-61B9-B169-1A27A5E2D89B}"/>
              </a:ext>
            </a:extLst>
          </p:cNvPr>
          <p:cNvCxnSpPr>
            <a:cxnSpLocks/>
          </p:cNvCxnSpPr>
          <p:nvPr/>
        </p:nvCxnSpPr>
        <p:spPr>
          <a:xfrm>
            <a:off x="6772221" y="5613733"/>
            <a:ext cx="138916" cy="0"/>
          </a:xfrm>
          <a:prstGeom prst="straightConnector1">
            <a:avLst/>
          </a:prstGeom>
          <a:ln w="9525" cap="rnd">
            <a:solidFill>
              <a:schemeClr val="bg1">
                <a:lumMod val="50000"/>
              </a:schemeClr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246B12B6-F897-E87B-0E45-849DA18D76AA}"/>
              </a:ext>
            </a:extLst>
          </p:cNvPr>
          <p:cNvCxnSpPr>
            <a:cxnSpLocks/>
          </p:cNvCxnSpPr>
          <p:nvPr/>
        </p:nvCxnSpPr>
        <p:spPr>
          <a:xfrm>
            <a:off x="6772221" y="6057561"/>
            <a:ext cx="138916" cy="0"/>
          </a:xfrm>
          <a:prstGeom prst="straightConnector1">
            <a:avLst/>
          </a:prstGeom>
          <a:ln w="9525" cap="rnd">
            <a:solidFill>
              <a:schemeClr val="bg1">
                <a:lumMod val="50000"/>
              </a:schemeClr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71850FDE-CA15-56AA-A152-C1CA509BA186}"/>
              </a:ext>
            </a:extLst>
          </p:cNvPr>
          <p:cNvSpPr>
            <a:spLocks/>
          </p:cNvSpPr>
          <p:nvPr/>
        </p:nvSpPr>
        <p:spPr>
          <a:xfrm>
            <a:off x="8294405" y="2851172"/>
            <a:ext cx="1627555" cy="3507110"/>
          </a:xfrm>
          <a:prstGeom prst="roundRect">
            <a:avLst>
              <a:gd name="adj" fmla="val 3910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err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FB2D481-9315-D205-9F8D-D8B625BB1519}"/>
              </a:ext>
            </a:extLst>
          </p:cNvPr>
          <p:cNvSpPr txBox="1"/>
          <p:nvPr/>
        </p:nvSpPr>
        <p:spPr>
          <a:xfrm>
            <a:off x="8360056" y="2902694"/>
            <a:ext cx="6270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latin typeface="프리젠테이션 5 Medium" pitchFamily="2" charset="-127"/>
                <a:ea typeface="프리젠테이션 5 Medium" pitchFamily="2" charset="-127"/>
              </a:rPr>
              <a:t>(3)</a:t>
            </a:r>
            <a:r>
              <a:rPr lang="en-US" altLang="ko-KR" sz="1000">
                <a:latin typeface="프리젠테이션 5 Medium" pitchFamily="2" charset="-127"/>
                <a:ea typeface="프리젠테이션 5 Medium" pitchFamily="2" charset="-127"/>
              </a:rPr>
              <a:t> AGG</a:t>
            </a:r>
            <a:endParaRPr lang="ko-KR" altLang="en-US" sz="1000"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3624A65C-B31D-4752-A842-710BD3F0F306}"/>
              </a:ext>
            </a:extLst>
          </p:cNvPr>
          <p:cNvGrpSpPr/>
          <p:nvPr/>
        </p:nvGrpSpPr>
        <p:grpSpPr>
          <a:xfrm>
            <a:off x="8684829" y="3148915"/>
            <a:ext cx="846707" cy="3048349"/>
            <a:chOff x="8684829" y="3292806"/>
            <a:chExt cx="846707" cy="3048349"/>
          </a:xfrm>
        </p:grpSpPr>
        <p:grpSp>
          <p:nvGrpSpPr>
            <p:cNvPr id="125" name="그룹 124">
              <a:extLst>
                <a:ext uri="{FF2B5EF4-FFF2-40B4-BE49-F238E27FC236}">
                  <a16:creationId xmlns:a16="http://schemas.microsoft.com/office/drawing/2014/main" id="{5360B2D9-7CD2-D5DD-1580-483E940C3B2E}"/>
                </a:ext>
              </a:extLst>
            </p:cNvPr>
            <p:cNvGrpSpPr/>
            <p:nvPr/>
          </p:nvGrpSpPr>
          <p:grpSpPr>
            <a:xfrm>
              <a:off x="8767383" y="3292806"/>
              <a:ext cx="681598" cy="533990"/>
              <a:chOff x="8767383" y="3229306"/>
              <a:chExt cx="681598" cy="533990"/>
            </a:xfrm>
          </p:grpSpPr>
          <p:sp>
            <p:nvSpPr>
              <p:cNvPr id="116" name="타원 115">
                <a:extLst>
                  <a:ext uri="{FF2B5EF4-FFF2-40B4-BE49-F238E27FC236}">
                    <a16:creationId xmlns:a16="http://schemas.microsoft.com/office/drawing/2014/main" id="{0E538154-57CD-E073-FB22-D6E83AD46134}"/>
                  </a:ext>
                </a:extLst>
              </p:cNvPr>
              <p:cNvSpPr/>
              <p:nvPr/>
            </p:nvSpPr>
            <p:spPr>
              <a:xfrm>
                <a:off x="8946182" y="3229306"/>
                <a:ext cx="324000" cy="32400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>
                    <a:solidFill>
                      <a:sysClr val="windowText" lastClr="000000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⊕</a:t>
                </a:r>
                <a:endParaRPr lang="en-US" altLang="ko-KR" sz="1100">
                  <a:solidFill>
                    <a:sysClr val="windowText" lastClr="000000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F101203D-CD2A-08F1-3F0D-B9749B023C66}"/>
                  </a:ext>
                </a:extLst>
              </p:cNvPr>
              <p:cNvSpPr txBox="1"/>
              <p:nvPr/>
            </p:nvSpPr>
            <p:spPr>
              <a:xfrm>
                <a:off x="8767383" y="3517075"/>
                <a:ext cx="68159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000">
                    <a:latin typeface="프리젠테이션 3 Light" pitchFamily="2" charset="-127"/>
                    <a:ea typeface="프리젠테이션 3 Light" pitchFamily="2" charset="-127"/>
                  </a:rPr>
                  <a:t>메시지 합산</a:t>
                </a:r>
              </a:p>
            </p:txBody>
          </p:sp>
        </p:grpSp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1F607B6C-CF58-E119-32EE-68876BE2DB37}"/>
                </a:ext>
              </a:extLst>
            </p:cNvPr>
            <p:cNvSpPr>
              <a:spLocks/>
            </p:cNvSpPr>
            <p:nvPr/>
          </p:nvSpPr>
          <p:spPr>
            <a:xfrm>
              <a:off x="8842161" y="4592502"/>
              <a:ext cx="532043" cy="180000"/>
            </a:xfrm>
            <a:prstGeom prst="roundRect">
              <a:avLst>
                <a:gd name="adj" fmla="val 9044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err="1">
                  <a:solidFill>
                    <a:schemeClr val="tx1"/>
                  </a:solidFill>
                  <a:latin typeface="프리젠테이션 3 Light" pitchFamily="2" charset="-127"/>
                  <a:ea typeface="프리젠테이션 3 Light" pitchFamily="2" charset="-127"/>
                </a:rPr>
                <a:t>ReLU</a:t>
              </a:r>
              <a:endParaRPr lang="ko-KR" altLang="en-US" sz="6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endParaRPr>
            </a:p>
          </p:txBody>
        </p:sp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47F4300A-7620-1463-5F83-96B6628D25F9}"/>
                </a:ext>
              </a:extLst>
            </p:cNvPr>
            <p:cNvSpPr>
              <a:spLocks/>
            </p:cNvSpPr>
            <p:nvPr/>
          </p:nvSpPr>
          <p:spPr>
            <a:xfrm>
              <a:off x="8684829" y="4977260"/>
              <a:ext cx="846707" cy="324000"/>
            </a:xfrm>
            <a:prstGeom prst="roundRect">
              <a:avLst>
                <a:gd name="adj" fmla="val 9044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프리젠테이션 3 Light" pitchFamily="2" charset="-127"/>
                  <a:ea typeface="프리젠테이션 3 Light" pitchFamily="2" charset="-127"/>
                </a:rPr>
                <a:t>A-Linear</a:t>
              </a:r>
            </a:p>
            <a:p>
              <a:pPr algn="ctr"/>
              <a:r>
                <a:rPr lang="el-GR" altLang="ko-KR" sz="1000">
                  <a:solidFill>
                    <a:schemeClr val="tx1"/>
                  </a:solidFill>
                  <a:latin typeface="프리젠테이션 3 Light" pitchFamily="2" charset="-127"/>
                  <a:ea typeface="프리젠테이션 3 Light" pitchFamily="2" charset="-127"/>
                </a:rPr>
                <a:t>τ(</a:t>
              </a:r>
              <a:r>
                <a:rPr lang="en-US" altLang="ko-KR" sz="1000">
                  <a:solidFill>
                    <a:schemeClr val="tx1"/>
                  </a:solidFill>
                  <a:latin typeface="프리젠테이션 3 Light" pitchFamily="2" charset="-127"/>
                  <a:ea typeface="프리젠테이션 3 Light" pitchFamily="2" charset="-127"/>
                </a:rPr>
                <a:t>t)</a:t>
              </a:r>
              <a:endParaRPr lang="ko-KR" altLang="en-US" sz="6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endParaRPr>
            </a:p>
          </p:txBody>
        </p:sp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id="{65FD0E70-6A45-F570-2D58-0A89C3062E65}"/>
                </a:ext>
              </a:extLst>
            </p:cNvPr>
            <p:cNvGrpSpPr/>
            <p:nvPr/>
          </p:nvGrpSpPr>
          <p:grpSpPr>
            <a:xfrm>
              <a:off x="8684829" y="3929954"/>
              <a:ext cx="846707" cy="533990"/>
              <a:chOff x="8684829" y="3229306"/>
              <a:chExt cx="846707" cy="533990"/>
            </a:xfrm>
          </p:grpSpPr>
          <p:sp>
            <p:nvSpPr>
              <p:cNvPr id="127" name="타원 126">
                <a:extLst>
                  <a:ext uri="{FF2B5EF4-FFF2-40B4-BE49-F238E27FC236}">
                    <a16:creationId xmlns:a16="http://schemas.microsoft.com/office/drawing/2014/main" id="{7C704D23-A0AA-7212-CDB0-5E1E7521FBC2}"/>
                  </a:ext>
                </a:extLst>
              </p:cNvPr>
              <p:cNvSpPr/>
              <p:nvPr/>
            </p:nvSpPr>
            <p:spPr>
              <a:xfrm>
                <a:off x="8946182" y="3229306"/>
                <a:ext cx="324000" cy="32400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>
                    <a:solidFill>
                      <a:schemeClr val="tx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⊗</a:t>
                </a:r>
                <a:endParaRPr lang="en-US" altLang="ko-KR" sz="105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82D8A75A-5877-DEF0-03BF-919F3D16A1FA}"/>
                  </a:ext>
                </a:extLst>
              </p:cNvPr>
              <p:cNvSpPr txBox="1"/>
              <p:nvPr/>
            </p:nvSpPr>
            <p:spPr>
              <a:xfrm>
                <a:off x="8684829" y="3517075"/>
                <a:ext cx="84670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000" err="1">
                    <a:latin typeface="프리젠테이션 3 Light" pitchFamily="2" charset="-127"/>
                    <a:ea typeface="프리젠테이션 3 Light" pitchFamily="2" charset="-127"/>
                  </a:rPr>
                  <a:t>어텐션</a:t>
                </a:r>
                <a:r>
                  <a:rPr lang="en-US" altLang="ko-KR" sz="1000">
                    <a:latin typeface="프리젠테이션 3 Light" pitchFamily="2" charset="-127"/>
                    <a:ea typeface="프리젠테이션 3 Light" pitchFamily="2" charset="-127"/>
                  </a:rPr>
                  <a:t>×</a:t>
                </a:r>
                <a:r>
                  <a:rPr lang="ko-KR" altLang="en-US" sz="1000">
                    <a:latin typeface="프리젠테이션 3 Light" pitchFamily="2" charset="-127"/>
                    <a:ea typeface="프리젠테이션 3 Light" pitchFamily="2" charset="-127"/>
                  </a:rPr>
                  <a:t>메시지</a:t>
                </a:r>
              </a:p>
            </p:txBody>
          </p:sp>
        </p:grp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256B2A5B-C794-4DB6-2DB7-89899480F340}"/>
                </a:ext>
              </a:extLst>
            </p:cNvPr>
            <p:cNvGrpSpPr/>
            <p:nvPr/>
          </p:nvGrpSpPr>
          <p:grpSpPr>
            <a:xfrm>
              <a:off x="8772995" y="5506018"/>
              <a:ext cx="670375" cy="533990"/>
              <a:chOff x="8772993" y="3229306"/>
              <a:chExt cx="670375" cy="533990"/>
            </a:xfrm>
          </p:grpSpPr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CBF62A95-07A0-D5AD-41C1-8A196F852AFD}"/>
                  </a:ext>
                </a:extLst>
              </p:cNvPr>
              <p:cNvSpPr/>
              <p:nvPr/>
            </p:nvSpPr>
            <p:spPr>
              <a:xfrm>
                <a:off x="8946182" y="3229306"/>
                <a:ext cx="324000" cy="32400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>
                    <a:solidFill>
                      <a:sysClr val="windowText" lastClr="000000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⊕</a:t>
                </a:r>
                <a:endParaRPr lang="en-US" altLang="ko-KR" sz="1100">
                  <a:solidFill>
                    <a:sysClr val="windowText" lastClr="000000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1A7C4CAA-D624-E580-D739-909EE2ABD4FD}"/>
                  </a:ext>
                </a:extLst>
              </p:cNvPr>
              <p:cNvSpPr txBox="1"/>
              <p:nvPr/>
            </p:nvSpPr>
            <p:spPr>
              <a:xfrm>
                <a:off x="8772993" y="3517075"/>
                <a:ext cx="67037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000">
                    <a:latin typeface="프리젠테이션 3 Light" pitchFamily="2" charset="-127"/>
                    <a:ea typeface="프리젠테이션 3 Light" pitchFamily="2" charset="-127"/>
                  </a:rPr>
                  <a:t>Residual</a:t>
                </a:r>
                <a:endParaRPr lang="ko-KR" altLang="en-US" sz="400">
                  <a:latin typeface="프리젠테이션 3 Light" pitchFamily="2" charset="-127"/>
                  <a:ea typeface="프리젠테이션 3 Light" pitchFamily="2" charset="-127"/>
                </a:endParaRPr>
              </a:p>
            </p:txBody>
          </p:sp>
        </p:grpSp>
        <p:sp>
          <p:nvSpPr>
            <p:cNvPr id="135" name="사각형: 둥근 모서리 134">
              <a:extLst>
                <a:ext uri="{FF2B5EF4-FFF2-40B4-BE49-F238E27FC236}">
                  <a16:creationId xmlns:a16="http://schemas.microsoft.com/office/drawing/2014/main" id="{857039F4-FCEA-CDB3-DDA7-9247AB6F1340}"/>
                </a:ext>
              </a:extLst>
            </p:cNvPr>
            <p:cNvSpPr>
              <a:spLocks/>
            </p:cNvSpPr>
            <p:nvPr/>
          </p:nvSpPr>
          <p:spPr>
            <a:xfrm>
              <a:off x="8842161" y="6162215"/>
              <a:ext cx="532043" cy="178940"/>
            </a:xfrm>
            <a:prstGeom prst="roundRect">
              <a:avLst>
                <a:gd name="adj" fmla="val 9044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err="1">
                  <a:solidFill>
                    <a:schemeClr val="tx1"/>
                  </a:solidFill>
                  <a:latin typeface="프리젠테이션 3 Light" pitchFamily="2" charset="-127"/>
                  <a:ea typeface="프리젠테이션 3 Light" pitchFamily="2" charset="-127"/>
                </a:rPr>
                <a:t>H⁽ˡ</a:t>
              </a:r>
              <a:r>
                <a:rPr lang="en-US" altLang="ko-KR" sz="1000">
                  <a:solidFill>
                    <a:schemeClr val="tx1"/>
                  </a:solidFill>
                  <a:latin typeface="프리젠테이션 3 Light" pitchFamily="2" charset="-127"/>
                  <a:ea typeface="프리젠테이션 3 Light" pitchFamily="2" charset="-127"/>
                </a:rPr>
                <a:t>⁾[t]</a:t>
              </a:r>
              <a:endParaRPr lang="ko-KR" altLang="en-US" sz="6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endParaRPr>
            </a:p>
          </p:txBody>
        </p:sp>
        <p:cxnSp>
          <p:nvCxnSpPr>
            <p:cNvPr id="136" name="직선 화살표 연결선 135">
              <a:extLst>
                <a:ext uri="{FF2B5EF4-FFF2-40B4-BE49-F238E27FC236}">
                  <a16:creationId xmlns:a16="http://schemas.microsoft.com/office/drawing/2014/main" id="{B8D4ED8B-5CA9-E3AD-E0E7-1F5E0118E9C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038724" y="3849800"/>
              <a:ext cx="138916" cy="0"/>
            </a:xfrm>
            <a:prstGeom prst="straightConnector1">
              <a:avLst/>
            </a:prstGeom>
            <a:ln w="9525" cap="rnd">
              <a:solidFill>
                <a:schemeClr val="bg1">
                  <a:lumMod val="75000"/>
                </a:schemeClr>
              </a:solidFill>
              <a:round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화살표 연결선 136">
              <a:extLst>
                <a:ext uri="{FF2B5EF4-FFF2-40B4-BE49-F238E27FC236}">
                  <a16:creationId xmlns:a16="http://schemas.microsoft.com/office/drawing/2014/main" id="{72F5C03C-F1F8-3884-D35F-3345396F7DB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038724" y="4493298"/>
              <a:ext cx="138916" cy="0"/>
            </a:xfrm>
            <a:prstGeom prst="straightConnector1">
              <a:avLst/>
            </a:prstGeom>
            <a:ln w="9525" cap="rnd">
              <a:solidFill>
                <a:schemeClr val="bg1">
                  <a:lumMod val="75000"/>
                </a:schemeClr>
              </a:solidFill>
              <a:round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화살표 연결선 137">
              <a:extLst>
                <a:ext uri="{FF2B5EF4-FFF2-40B4-BE49-F238E27FC236}">
                  <a16:creationId xmlns:a16="http://schemas.microsoft.com/office/drawing/2014/main" id="{6C5A88AF-DCEC-DD5A-8F83-A9CFF1D8161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038724" y="4884406"/>
              <a:ext cx="138916" cy="0"/>
            </a:xfrm>
            <a:prstGeom prst="straightConnector1">
              <a:avLst/>
            </a:prstGeom>
            <a:ln w="9525" cap="rnd">
              <a:solidFill>
                <a:schemeClr val="bg1">
                  <a:lumMod val="75000"/>
                </a:schemeClr>
              </a:solidFill>
              <a:round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직선 화살표 연결선 138">
              <a:extLst>
                <a:ext uri="{FF2B5EF4-FFF2-40B4-BE49-F238E27FC236}">
                  <a16:creationId xmlns:a16="http://schemas.microsoft.com/office/drawing/2014/main" id="{72B8F538-A955-3DB2-0B49-212AA77E274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038724" y="5406814"/>
              <a:ext cx="138916" cy="0"/>
            </a:xfrm>
            <a:prstGeom prst="straightConnector1">
              <a:avLst/>
            </a:prstGeom>
            <a:ln w="9525" cap="rnd">
              <a:solidFill>
                <a:schemeClr val="bg1">
                  <a:lumMod val="75000"/>
                </a:schemeClr>
              </a:solidFill>
              <a:round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직선 화살표 연결선 139">
              <a:extLst>
                <a:ext uri="{FF2B5EF4-FFF2-40B4-BE49-F238E27FC236}">
                  <a16:creationId xmlns:a16="http://schemas.microsoft.com/office/drawing/2014/main" id="{22DBEF59-228B-E06D-FAEC-E0455F315FE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038724" y="6069362"/>
              <a:ext cx="138916" cy="0"/>
            </a:xfrm>
            <a:prstGeom prst="straightConnector1">
              <a:avLst/>
            </a:prstGeom>
            <a:ln w="9525" cap="rnd">
              <a:solidFill>
                <a:schemeClr val="bg1">
                  <a:lumMod val="75000"/>
                </a:schemeClr>
              </a:solidFill>
              <a:round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D1BD9971-116D-ED29-6953-22ED07BFC0F1}"/>
              </a:ext>
            </a:extLst>
          </p:cNvPr>
          <p:cNvGrpSpPr/>
          <p:nvPr/>
        </p:nvGrpSpPr>
        <p:grpSpPr>
          <a:xfrm>
            <a:off x="781386" y="2657599"/>
            <a:ext cx="1080000" cy="3724239"/>
            <a:chOff x="781386" y="2728949"/>
            <a:chExt cx="1080000" cy="3724239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00BE6D6-C66B-9542-9984-E9A32DC1184A}"/>
                </a:ext>
              </a:extLst>
            </p:cNvPr>
            <p:cNvSpPr/>
            <p:nvPr/>
          </p:nvSpPr>
          <p:spPr>
            <a:xfrm>
              <a:off x="1058767" y="2728949"/>
              <a:ext cx="525239" cy="525239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400">
                  <a:solidFill>
                    <a:sysClr val="windowText" lastClr="000000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t</a:t>
              </a:r>
            </a:p>
            <a:p>
              <a:pPr algn="ctr"/>
              <a:r>
                <a:rPr lang="ko-KR" altLang="en-US" sz="1050">
                  <a:solidFill>
                    <a:sysClr val="windowText" lastClr="000000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상품</a:t>
              </a:r>
              <a:endParaRPr lang="en-US" altLang="ko-KR" sz="1050">
                <a:solidFill>
                  <a:sysClr val="windowText" lastClr="000000"/>
                </a:solidFill>
                <a:latin typeface="프리젠테이션 4 Regular" pitchFamily="2" charset="-127"/>
                <a:ea typeface="프리젠테이션 4 Regular" pitchFamily="2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6740025-F495-451F-810A-89F5B59204B8}"/>
                </a:ext>
              </a:extLst>
            </p:cNvPr>
            <p:cNvSpPr txBox="1"/>
            <p:nvPr/>
          </p:nvSpPr>
          <p:spPr>
            <a:xfrm>
              <a:off x="865660" y="3263302"/>
              <a:ext cx="9156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>
                  <a:latin typeface="프리젠테이션 3 Light" pitchFamily="2" charset="-127"/>
                  <a:ea typeface="프리젠테이션 3 Light" pitchFamily="2" charset="-127"/>
                </a:rPr>
                <a:t>Node type: </a:t>
              </a:r>
              <a:r>
                <a:rPr lang="el-GR" altLang="ko-KR" sz="900">
                  <a:latin typeface="프리젠테이션 3 Light" pitchFamily="2" charset="-127"/>
                  <a:ea typeface="프리젠테이션 3 Light" pitchFamily="2" charset="-127"/>
                </a:rPr>
                <a:t>τ</a:t>
              </a:r>
              <a:r>
                <a:rPr lang="en-US" altLang="ko-KR" sz="900">
                  <a:latin typeface="프리젠테이션 3 Light" pitchFamily="2" charset="-127"/>
                  <a:ea typeface="프리젠테이션 3 Light" pitchFamily="2" charset="-127"/>
                </a:rPr>
                <a:t>(t)</a:t>
              </a:r>
            </a:p>
            <a:p>
              <a:pPr algn="ctr"/>
              <a:r>
                <a:rPr lang="en-US" altLang="ko-KR" sz="900">
                  <a:latin typeface="프리젠테이션 3 Light" pitchFamily="2" charset="-127"/>
                  <a:ea typeface="프리젠테이션 3 Light" pitchFamily="2" charset="-127"/>
                </a:rPr>
                <a:t>H⁽ˡ⁻¹⁾[t]</a:t>
              </a:r>
              <a:endParaRPr lang="ko-KR" altLang="en-US" sz="900">
                <a:latin typeface="프리젠테이션 3 Light" pitchFamily="2" charset="-127"/>
                <a:ea typeface="프리젠테이션 3 Light" pitchFamily="2" charset="-127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6901EDC3-4B76-C4DA-C77D-A1170B0064B1}"/>
                </a:ext>
              </a:extLst>
            </p:cNvPr>
            <p:cNvSpPr/>
            <p:nvPr/>
          </p:nvSpPr>
          <p:spPr>
            <a:xfrm flipV="1">
              <a:off x="781386" y="3641748"/>
              <a:ext cx="1080000" cy="72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err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EC4A8555-2A8B-EE42-B3FE-19186A53F9FE}"/>
                </a:ext>
              </a:extLst>
            </p:cNvPr>
            <p:cNvSpPr txBox="1"/>
            <p:nvPr/>
          </p:nvSpPr>
          <p:spPr>
            <a:xfrm>
              <a:off x="828791" y="3658062"/>
              <a:ext cx="989373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>
                  <a:solidFill>
                    <a:srgbClr val="10B98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e₁ = (s₁, t)</a:t>
              </a:r>
            </a:p>
            <a:p>
              <a:pPr algn="ctr"/>
              <a:r>
                <a:rPr lang="en-US" altLang="ko-KR" sz="900">
                  <a:latin typeface="프리젠테이션 3 Light" pitchFamily="2" charset="-127"/>
                  <a:ea typeface="프리젠테이션 3 Light" pitchFamily="2" charset="-127"/>
                </a:rPr>
                <a:t>Edge type: </a:t>
              </a:r>
              <a:r>
                <a:rPr lang="el-GR" altLang="ko-KR" sz="900">
                  <a:latin typeface="프리젠테이션 3 Light" pitchFamily="2" charset="-127"/>
                  <a:ea typeface="프리젠테이션 3 Light" pitchFamily="2" charset="-127"/>
                </a:rPr>
                <a:t>φ(</a:t>
              </a:r>
              <a:r>
                <a:rPr lang="en-US" altLang="ko-KR" sz="900">
                  <a:latin typeface="프리젠테이션 3 Light" pitchFamily="2" charset="-127"/>
                  <a:ea typeface="프리젠테이션 3 Light" pitchFamily="2" charset="-127"/>
                </a:rPr>
                <a:t>e₁)</a:t>
              </a:r>
            </a:p>
            <a:p>
              <a:pPr algn="ctr"/>
              <a:r>
                <a:rPr lang="ko-KR" altLang="en-US" sz="900">
                  <a:solidFill>
                    <a:srgbClr val="10B98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포함관계</a:t>
              </a:r>
            </a:p>
          </p:txBody>
        </p:sp>
        <p:sp>
          <p:nvSpPr>
            <p:cNvPr id="149" name="사각형: 둥근 모서리 148">
              <a:extLst>
                <a:ext uri="{FF2B5EF4-FFF2-40B4-BE49-F238E27FC236}">
                  <a16:creationId xmlns:a16="http://schemas.microsoft.com/office/drawing/2014/main" id="{6DE01D7B-90F5-F4E0-CB92-52654ED70397}"/>
                </a:ext>
              </a:extLst>
            </p:cNvPr>
            <p:cNvSpPr>
              <a:spLocks/>
            </p:cNvSpPr>
            <p:nvPr/>
          </p:nvSpPr>
          <p:spPr>
            <a:xfrm>
              <a:off x="788680" y="4175007"/>
              <a:ext cx="1072706" cy="489460"/>
            </a:xfrm>
            <a:prstGeom prst="roundRect">
              <a:avLst>
                <a:gd name="adj" fmla="val 15927"/>
              </a:avLst>
            </a:prstGeom>
            <a:solidFill>
              <a:srgbClr val="10B981">
                <a:alpha val="10000"/>
              </a:srgbClr>
            </a:solidFill>
            <a:ln w="6350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000">
                  <a:solidFill>
                    <a:prstClr val="black"/>
                  </a:solidFill>
                  <a:latin typeface="프리젠테이션 3 Light" pitchFamily="2" charset="-127"/>
                  <a:ea typeface="프리젠테이션 3 Light" pitchFamily="2" charset="-127"/>
                </a:rPr>
                <a:t>s₁</a:t>
              </a:r>
            </a:p>
            <a:p>
              <a:pPr lvl="0" algn="ctr">
                <a:defRPr/>
              </a:pPr>
              <a:r>
                <a:rPr lang="ko-KR" altLang="en-US" sz="1000">
                  <a:solidFill>
                    <a:prstClr val="black"/>
                  </a:solidFill>
                  <a:latin typeface="프리젠테이션 3 Light" pitchFamily="2" charset="-127"/>
                  <a:ea typeface="프리젠테이션 3 Light" pitchFamily="2" charset="-127"/>
                </a:rPr>
                <a:t>속성 노드</a:t>
              </a:r>
            </a:p>
            <a:p>
              <a:pPr lvl="0" algn="ctr">
                <a:defRPr/>
              </a:pPr>
              <a:r>
                <a:rPr lang="ko-KR" altLang="en-US" sz="800">
                  <a:solidFill>
                    <a:schemeClr val="bg1">
                      <a:lumMod val="50000"/>
                    </a:schemeClr>
                  </a:solidFill>
                  <a:latin typeface="프리젠테이션 3 Light" pitchFamily="2" charset="-127"/>
                  <a:ea typeface="프리젠테이션 3 Light" pitchFamily="2" charset="-127"/>
                </a:rPr>
                <a:t>맛</a:t>
              </a:r>
              <a:r>
                <a:rPr lang="en-US" altLang="ko-KR" sz="800">
                  <a:solidFill>
                    <a:schemeClr val="bg1">
                      <a:lumMod val="50000"/>
                    </a:schemeClr>
                  </a:solidFill>
                  <a:latin typeface="프리젠테이션 3 Light" pitchFamily="2" charset="-127"/>
                  <a:ea typeface="프리젠테이션 3 Light" pitchFamily="2" charset="-127"/>
                </a:rPr>
                <a:t>·</a:t>
              </a:r>
              <a:r>
                <a:rPr lang="ko-KR" altLang="en-US" sz="800" err="1">
                  <a:solidFill>
                    <a:schemeClr val="bg1">
                      <a:lumMod val="50000"/>
                    </a:schemeClr>
                  </a:solidFill>
                  <a:latin typeface="프리젠테이션 3 Light" pitchFamily="2" charset="-127"/>
                  <a:ea typeface="프리젠테이션 3 Light" pitchFamily="2" charset="-127"/>
                </a:rPr>
                <a:t>식감</a:t>
              </a:r>
              <a:r>
                <a:rPr lang="en-US" altLang="ko-KR" sz="800">
                  <a:solidFill>
                    <a:schemeClr val="bg1">
                      <a:lumMod val="50000"/>
                    </a:schemeClr>
                  </a:solidFill>
                  <a:latin typeface="프리젠테이션 3 Light" pitchFamily="2" charset="-127"/>
                  <a:ea typeface="프리젠테이션 3 Light" pitchFamily="2" charset="-127"/>
                </a:rPr>
                <a:t>·</a:t>
              </a:r>
              <a:r>
                <a:rPr lang="ko-KR" altLang="en-US" sz="800">
                  <a:solidFill>
                    <a:schemeClr val="bg1">
                      <a:lumMod val="50000"/>
                    </a:schemeClr>
                  </a:solidFill>
                  <a:latin typeface="프리젠테이션 3 Light" pitchFamily="2" charset="-127"/>
                  <a:ea typeface="프리젠테이션 3 Light" pitchFamily="2" charset="-127"/>
                </a:rPr>
                <a:t>용량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342DC03B-7A84-AF2A-04EC-565961034ECF}"/>
                </a:ext>
              </a:extLst>
            </p:cNvPr>
            <p:cNvSpPr txBox="1"/>
            <p:nvPr/>
          </p:nvSpPr>
          <p:spPr>
            <a:xfrm>
              <a:off x="1009129" y="4673581"/>
              <a:ext cx="6286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l-GR" altLang="ko-KR" sz="900">
                  <a:latin typeface="프리젠테이션 3 Light" pitchFamily="2" charset="-127"/>
                  <a:ea typeface="프리젠테이션 3 Light" pitchFamily="2" charset="-127"/>
                </a:rPr>
                <a:t>τ(</a:t>
              </a:r>
              <a:r>
                <a:rPr lang="en-US" altLang="ko-KR" sz="900">
                  <a:latin typeface="프리젠테이션 3 Light" pitchFamily="2" charset="-127"/>
                  <a:ea typeface="프리젠테이션 3 Light" pitchFamily="2" charset="-127"/>
                </a:rPr>
                <a:t>s₁)</a:t>
              </a:r>
            </a:p>
            <a:p>
              <a:pPr algn="ctr"/>
              <a:r>
                <a:rPr lang="en-US" altLang="ko-KR" sz="900">
                  <a:latin typeface="프리젠테이션 3 Light" pitchFamily="2" charset="-127"/>
                  <a:ea typeface="프리젠테이션 3 Light" pitchFamily="2" charset="-127"/>
                </a:rPr>
                <a:t>H⁽ˡ⁻¹⁾[s₁]</a:t>
              </a:r>
              <a:endParaRPr lang="ko-KR" altLang="en-US" sz="900">
                <a:latin typeface="프리젠테이션 3 Light" pitchFamily="2" charset="-127"/>
                <a:ea typeface="프리젠테이션 3 Light" pitchFamily="2" charset="-127"/>
              </a:endParaRPr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FCB3404B-3021-5635-A80D-E73C20BEC91A}"/>
                </a:ext>
              </a:extLst>
            </p:cNvPr>
            <p:cNvSpPr/>
            <p:nvPr/>
          </p:nvSpPr>
          <p:spPr>
            <a:xfrm flipV="1">
              <a:off x="781386" y="5052027"/>
              <a:ext cx="1080000" cy="72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B2314D7-1F3F-DBDF-86D2-92EF2DB8CCA0}"/>
                </a:ext>
              </a:extLst>
            </p:cNvPr>
            <p:cNvSpPr txBox="1"/>
            <p:nvPr/>
          </p:nvSpPr>
          <p:spPr>
            <a:xfrm>
              <a:off x="828791" y="5068341"/>
              <a:ext cx="989373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>
                  <a:solidFill>
                    <a:srgbClr val="EF4444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e₂ = (s₂, t)</a:t>
              </a:r>
            </a:p>
            <a:p>
              <a:pPr algn="ctr"/>
              <a:r>
                <a:rPr lang="en-US" altLang="ko-KR" sz="900">
                  <a:latin typeface="프리젠테이션 3 Light" pitchFamily="2" charset="-127"/>
                  <a:ea typeface="프리젠테이션 3 Light" pitchFamily="2" charset="-127"/>
                </a:rPr>
                <a:t>Edge type: φ(e₂)</a:t>
              </a:r>
            </a:p>
            <a:p>
              <a:pPr algn="ctr"/>
              <a:r>
                <a:rPr lang="en-US" altLang="ko-KR" sz="900">
                  <a:solidFill>
                    <a:srgbClr val="EF4444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Lead-time </a:t>
              </a:r>
              <a:r>
                <a:rPr lang="en-US" altLang="ko-KR" sz="900" err="1">
                  <a:solidFill>
                    <a:srgbClr val="EF4444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Δt</a:t>
              </a:r>
              <a:endParaRPr lang="ko-KR" altLang="en-US" sz="900">
                <a:solidFill>
                  <a:srgbClr val="EF4444"/>
                </a:solidFill>
                <a:latin typeface="프리젠테이션 4 Regular" pitchFamily="2" charset="-127"/>
                <a:ea typeface="프리젠테이션 4 Regular" pitchFamily="2" charset="-127"/>
              </a:endParaRPr>
            </a:p>
          </p:txBody>
        </p:sp>
        <p:sp>
          <p:nvSpPr>
            <p:cNvPr id="154" name="사각형: 둥근 모서리 153">
              <a:extLst>
                <a:ext uri="{FF2B5EF4-FFF2-40B4-BE49-F238E27FC236}">
                  <a16:creationId xmlns:a16="http://schemas.microsoft.com/office/drawing/2014/main" id="{470F7CE3-C649-289A-A0FC-7669524736B4}"/>
                </a:ext>
              </a:extLst>
            </p:cNvPr>
            <p:cNvSpPr>
              <a:spLocks/>
            </p:cNvSpPr>
            <p:nvPr/>
          </p:nvSpPr>
          <p:spPr>
            <a:xfrm>
              <a:off x="788680" y="5585286"/>
              <a:ext cx="1072706" cy="489460"/>
            </a:xfrm>
            <a:prstGeom prst="roundRect">
              <a:avLst>
                <a:gd name="adj" fmla="val 15927"/>
              </a:avLst>
            </a:prstGeom>
            <a:solidFill>
              <a:srgbClr val="EF4444">
                <a:alpha val="10000"/>
              </a:srgbClr>
            </a:solidFill>
            <a:ln w="6350">
              <a:solidFill>
                <a:srgbClr val="EF444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000">
                  <a:solidFill>
                    <a:prstClr val="black"/>
                  </a:solidFill>
                  <a:latin typeface="프리젠테이션 3 Light" pitchFamily="2" charset="-127"/>
                  <a:ea typeface="프리젠테이션 3 Light" pitchFamily="2" charset="-127"/>
                </a:rPr>
                <a:t>s₂</a:t>
              </a:r>
            </a:p>
            <a:p>
              <a:pPr lvl="0" algn="ctr">
                <a:defRPr/>
              </a:pPr>
              <a:r>
                <a:rPr lang="en-US" altLang="ko-KR" sz="1000">
                  <a:solidFill>
                    <a:prstClr val="black"/>
                  </a:solidFill>
                  <a:latin typeface="프리젠테이션 3 Light" pitchFamily="2" charset="-127"/>
                  <a:ea typeface="프리젠테이션 3 Light" pitchFamily="2" charset="-127"/>
                </a:rPr>
                <a:t>TPO/</a:t>
              </a:r>
              <a:r>
                <a:rPr lang="ko-KR" altLang="en-US" sz="1000">
                  <a:solidFill>
                    <a:prstClr val="black"/>
                  </a:solidFill>
                  <a:latin typeface="프리젠테이션 3 Light" pitchFamily="2" charset="-127"/>
                  <a:ea typeface="프리젠테이션 3 Light" pitchFamily="2" charset="-127"/>
                </a:rPr>
                <a:t>트렌드</a:t>
              </a:r>
            </a:p>
            <a:p>
              <a:pPr lvl="0" algn="ctr">
                <a:defRPr/>
              </a:pPr>
              <a:r>
                <a:rPr lang="en-US" altLang="ko-KR" sz="800">
                  <a:solidFill>
                    <a:schemeClr val="bg1">
                      <a:lumMod val="50000"/>
                    </a:schemeClr>
                  </a:solidFill>
                  <a:latin typeface="프리젠테이션 3 Light" pitchFamily="2" charset="-127"/>
                  <a:ea typeface="프리젠테이션 3 Light" pitchFamily="2" charset="-127"/>
                </a:rPr>
                <a:t>SNS·</a:t>
              </a:r>
              <a:r>
                <a:rPr lang="ko-KR" altLang="en-US" sz="800">
                  <a:solidFill>
                    <a:schemeClr val="bg1">
                      <a:lumMod val="50000"/>
                    </a:schemeClr>
                  </a:solidFill>
                  <a:latin typeface="프리젠테이션 3 Light" pitchFamily="2" charset="-127"/>
                  <a:ea typeface="프리젠테이션 3 Light" pitchFamily="2" charset="-127"/>
                </a:rPr>
                <a:t>행사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05C7A58D-03CB-845C-B2CD-3F0949CF6F1C}"/>
                </a:ext>
              </a:extLst>
            </p:cNvPr>
            <p:cNvSpPr txBox="1"/>
            <p:nvPr/>
          </p:nvSpPr>
          <p:spPr>
            <a:xfrm>
              <a:off x="1009129" y="6083856"/>
              <a:ext cx="6286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l-GR" altLang="ko-KR" sz="900">
                  <a:latin typeface="프리젠테이션 3 Light" pitchFamily="2" charset="-127"/>
                  <a:ea typeface="프리젠테이션 3 Light" pitchFamily="2" charset="-127"/>
                </a:rPr>
                <a:t>τ(</a:t>
              </a:r>
              <a:r>
                <a:rPr lang="en-US" altLang="ko-KR" sz="900">
                  <a:latin typeface="프리젠테이션 3 Light" pitchFamily="2" charset="-127"/>
                  <a:ea typeface="프리젠테이션 3 Light" pitchFamily="2" charset="-127"/>
                </a:rPr>
                <a:t>s₂)</a:t>
              </a:r>
            </a:p>
            <a:p>
              <a:pPr algn="ctr"/>
              <a:r>
                <a:rPr lang="en-US" altLang="ko-KR" sz="900">
                  <a:latin typeface="프리젠테이션 3 Light" pitchFamily="2" charset="-127"/>
                  <a:ea typeface="프리젠테이션 3 Light" pitchFamily="2" charset="-127"/>
                </a:rPr>
                <a:t>H⁽ˡ⁻¹⁾[s₂]</a:t>
              </a:r>
              <a:endParaRPr lang="ko-KR" altLang="en-US" sz="900">
                <a:latin typeface="프리젠테이션 3 Light" pitchFamily="2" charset="-127"/>
                <a:ea typeface="프리젠테이션 3 Light" pitchFamily="2" charset="-127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C434814D-4C00-9C71-B103-52DE4A42AF15}"/>
              </a:ext>
            </a:extLst>
          </p:cNvPr>
          <p:cNvSpPr txBox="1"/>
          <p:nvPr/>
        </p:nvSpPr>
        <p:spPr>
          <a:xfrm>
            <a:off x="5832554" y="6461135"/>
            <a:ext cx="59403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" altLang="ko-Kore-KR" sz="7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reesentation 3 Light" pitchFamily="2" charset="-127"/>
                <a:ea typeface="Freesentation 3 Light" pitchFamily="2" charset="-127"/>
              </a:rPr>
              <a:t>Ziniu Hu, Yuxiao Dong, Kuansan Wang, and Yizhou Sun. 2020. Heterogeneous Graph Transformer, April 20-24. </a:t>
            </a:r>
            <a:r>
              <a:rPr lang="en" altLang="ko-Kore-KR" sz="700" u="sng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reesentation 3 Light" pitchFamily="2" charset="-127"/>
                <a:ea typeface="Freesentation 3 Light" pitchFamily="2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https://doi.org/10.1145/3366423.3380027</a:t>
            </a:r>
            <a:endParaRPr lang="en" altLang="ko-Kore-KR" sz="700">
              <a:solidFill>
                <a:schemeClr val="tx1">
                  <a:lumMod val="50000"/>
                  <a:lumOff val="50000"/>
                </a:schemeClr>
              </a:solidFill>
              <a:effectLst/>
              <a:latin typeface="Freesentation 3 Light" pitchFamily="2" charset="-127"/>
              <a:ea typeface="Freesentation 3 Light" pitchFamily="2" charset="-127"/>
            </a:endParaRPr>
          </a:p>
        </p:txBody>
      </p:sp>
      <p:sp>
        <p:nvSpPr>
          <p:cNvPr id="5" name="슬라이드 번호 개체 틀 1">
            <a:extLst>
              <a:ext uri="{FF2B5EF4-FFF2-40B4-BE49-F238E27FC236}">
                <a16:creationId xmlns:a16="http://schemas.microsoft.com/office/drawing/2014/main" id="{3030152D-C104-0FD4-9900-10CE0595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8783" y="6356350"/>
            <a:ext cx="2743200" cy="365125"/>
          </a:xfrm>
        </p:spPr>
        <p:txBody>
          <a:bodyPr/>
          <a:lstStyle/>
          <a:p>
            <a:fld id="{051A2888-50A6-4659-9E30-8B27A4C58FE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638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0E131-B5EB-3337-288D-F20A82203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9CC5EEFD-427A-62C7-351B-B403DCFBBB6F}"/>
              </a:ext>
            </a:extLst>
          </p:cNvPr>
          <p:cNvSpPr/>
          <p:nvPr/>
        </p:nvSpPr>
        <p:spPr>
          <a:xfrm>
            <a:off x="6150631" y="2902914"/>
            <a:ext cx="5428522" cy="3610689"/>
          </a:xfrm>
          <a:prstGeom prst="rect">
            <a:avLst/>
          </a:prstGeom>
          <a:solidFill>
            <a:srgbClr val="D0F1E6">
              <a:alpha val="66446"/>
            </a:srgbClr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ko-KR" altLang="en-US" sz="1200" b="1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7F6AA6-2C96-6F93-DD5F-86F0D859F7F9}"/>
              </a:ext>
            </a:extLst>
          </p:cNvPr>
          <p:cNvSpPr txBox="1"/>
          <p:nvPr/>
        </p:nvSpPr>
        <p:spPr>
          <a:xfrm>
            <a:off x="518319" y="862399"/>
            <a:ext cx="11157744" cy="755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2000"/>
              </a:lnSpc>
            </a:pP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중간 발표는 네트워크 생성 및 기초 분석까지 진행하였으며</a:t>
            </a:r>
            <a:r>
              <a:rPr kumimoji="1" lang="en-US" altLang="ko-KR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, </a:t>
            </a: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기말 발표는 실제 </a:t>
            </a:r>
            <a:r>
              <a:rPr kumimoji="1" lang="en-US" altLang="ko-KR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MD</a:t>
            </a: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가 활용할 수 있도록 </a:t>
            </a:r>
            <a:endParaRPr kumimoji="1" lang="en-US" altLang="ko-KR" sz="2000"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50" charset="-127"/>
            </a:endParaRPr>
          </a:p>
          <a:p>
            <a:pPr>
              <a:lnSpc>
                <a:spcPct val="112000"/>
              </a:lnSpc>
            </a:pPr>
            <a:r>
              <a:rPr kumimoji="1" lang="ko-KR" altLang="en-US" sz="2000"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50" charset="-127"/>
              </a:rPr>
              <a:t>성공 방정식의 가중치를 반영한 직관적인 대시보드를 구현할 계획입니다</a:t>
            </a:r>
            <a:endParaRPr kumimoji="1" lang="en-US" altLang="ko-KR" sz="2000">
              <a:latin typeface="프리젠테이션 6 SemiBold" pitchFamily="2" charset="-127"/>
              <a:ea typeface="프리젠테이션 6 SemiBold" pitchFamily="2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7BC3ED-DB15-4D18-D2F6-CED6ADE582EC}"/>
              </a:ext>
            </a:extLst>
          </p:cNvPr>
          <p:cNvSpPr txBox="1"/>
          <p:nvPr/>
        </p:nvSpPr>
        <p:spPr>
          <a:xfrm>
            <a:off x="512060" y="407377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solidFill>
                  <a:srgbClr val="10B981"/>
                </a:solidFill>
                <a:latin typeface="프리젠테이션 6 SemiBold" pitchFamily="2" charset="-127"/>
                <a:ea typeface="프리젠테이션 6 SemiBold" pitchFamily="2" charset="-127"/>
              </a:rPr>
              <a:t>로드맵 정리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5AB6255A-3920-D396-D3D3-BDE5AA1E2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A2888-50A6-4659-9E30-8B27A4C58FE7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A16FA0F-B97E-9220-E8A3-5ECB0F39A6C3}"/>
              </a:ext>
            </a:extLst>
          </p:cNvPr>
          <p:cNvGrpSpPr/>
          <p:nvPr/>
        </p:nvGrpSpPr>
        <p:grpSpPr>
          <a:xfrm>
            <a:off x="518319" y="1898341"/>
            <a:ext cx="11060833" cy="348516"/>
            <a:chOff x="518319" y="1898341"/>
            <a:chExt cx="11060833" cy="348516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0843959-9D41-DAF0-5D8A-9B0307CD52AD}"/>
                </a:ext>
              </a:extLst>
            </p:cNvPr>
            <p:cNvSpPr/>
            <p:nvPr/>
          </p:nvSpPr>
          <p:spPr>
            <a:xfrm flipV="1">
              <a:off x="612277" y="2236057"/>
              <a:ext cx="10872000" cy="108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err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CA36AC0-D97F-8F6C-517B-A7F8BADE99D5}"/>
                </a:ext>
              </a:extLst>
            </p:cNvPr>
            <p:cNvSpPr txBox="1"/>
            <p:nvPr/>
          </p:nvSpPr>
          <p:spPr>
            <a:xfrm>
              <a:off x="518319" y="1898341"/>
              <a:ext cx="13227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>
                  <a:solidFill>
                    <a:srgbClr val="3F3F3F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프로젝트 로드맵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52BC94B-E934-F2F9-D021-BA3EAF902EAF}"/>
                </a:ext>
              </a:extLst>
            </p:cNvPr>
            <p:cNvSpPr/>
            <p:nvPr/>
          </p:nvSpPr>
          <p:spPr>
            <a:xfrm flipV="1">
              <a:off x="6395152" y="2236057"/>
              <a:ext cx="5184000" cy="108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err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</p:grpSp>
      <p:pic>
        <p:nvPicPr>
          <p:cNvPr id="10" name="그림 9" descr="텍스트, 웹사이트, 웹 페이지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AC13C0-63E7-8CE1-83C4-C52DB6B04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" t="14998"/>
          <a:stretch>
            <a:fillRect/>
          </a:stretch>
        </p:blipFill>
        <p:spPr>
          <a:xfrm>
            <a:off x="357578" y="7443795"/>
            <a:ext cx="8906277" cy="3711559"/>
          </a:xfrm>
          <a:prstGeom prst="rect">
            <a:avLst/>
          </a:prstGeom>
        </p:spPr>
      </p:pic>
      <p:sp>
        <p:nvSpPr>
          <p:cNvPr id="13" name="화살표: 오각형 22">
            <a:extLst>
              <a:ext uri="{FF2B5EF4-FFF2-40B4-BE49-F238E27FC236}">
                <a16:creationId xmlns:a16="http://schemas.microsoft.com/office/drawing/2014/main" id="{0CF85566-E237-3C34-BD48-BC791E1A0941}"/>
              </a:ext>
            </a:extLst>
          </p:cNvPr>
          <p:cNvSpPr/>
          <p:nvPr/>
        </p:nvSpPr>
        <p:spPr>
          <a:xfrm>
            <a:off x="612277" y="2602107"/>
            <a:ext cx="2829600" cy="251999"/>
          </a:xfrm>
          <a:prstGeom prst="homePlat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200" b="1">
                <a:latin typeface="Freesentation 6 SemiBold" pitchFamily="2" charset="-127"/>
                <a:ea typeface="Freesentation 6 SemiBold" pitchFamily="2" charset="-127"/>
                <a:cs typeface="Pretendard" panose="02000503000000020004" pitchFamily="2" charset="-127"/>
              </a:rPr>
              <a:t>데이터 수집 </a:t>
            </a:r>
            <a:r>
              <a:rPr lang="en-US" altLang="ko-KR" sz="1200" b="1">
                <a:latin typeface="Freesentation 6 SemiBold" pitchFamily="2" charset="-127"/>
                <a:ea typeface="Freesentation 6 SemiBold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b="1" err="1">
                <a:latin typeface="Freesentation 6 SemiBold" pitchFamily="2" charset="-127"/>
                <a:ea typeface="Freesentation 6 SemiBold" pitchFamily="2" charset="-127"/>
                <a:cs typeface="Pretendard" panose="02000503000000020004" pitchFamily="2" charset="-127"/>
              </a:rPr>
              <a:t>전처리</a:t>
            </a:r>
            <a:endParaRPr lang="ko-KR" altLang="en-US" sz="1200" b="1">
              <a:latin typeface="Freesentation 6 SemiBold" pitchFamily="2" charset="-127"/>
              <a:ea typeface="Freesentation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화살표: 갈매기형 수장 29">
            <a:extLst>
              <a:ext uri="{FF2B5EF4-FFF2-40B4-BE49-F238E27FC236}">
                <a16:creationId xmlns:a16="http://schemas.microsoft.com/office/drawing/2014/main" id="{48BCAC70-C0ED-27BB-3D41-D5E8D2F1DFA6}"/>
              </a:ext>
            </a:extLst>
          </p:cNvPr>
          <p:cNvSpPr/>
          <p:nvPr/>
        </p:nvSpPr>
        <p:spPr>
          <a:xfrm>
            <a:off x="6141592" y="2602107"/>
            <a:ext cx="2829600" cy="251999"/>
          </a:xfrm>
          <a:prstGeom prst="chevron">
            <a:avLst>
              <a:gd name="adj" fmla="val 47660"/>
            </a:avLst>
          </a:prstGeom>
          <a:solidFill>
            <a:srgbClr val="10B9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atin typeface="Freesentation 6 SemiBold" pitchFamily="2" charset="-127"/>
                <a:ea typeface="Freesentation 6 SemiBold" pitchFamily="2" charset="-127"/>
                <a:cs typeface="Pretendard" panose="02000503000000020004" pitchFamily="2" charset="-127"/>
              </a:rPr>
              <a:t>HGT </a:t>
            </a:r>
            <a:r>
              <a:rPr lang="ko-KR" altLang="en-US" sz="1200" b="1">
                <a:latin typeface="Freesentation 6 SemiBold" pitchFamily="2" charset="-127"/>
                <a:ea typeface="Freesentation 6 SemiBold" pitchFamily="2" charset="-127"/>
                <a:cs typeface="Pretendard" panose="02000503000000020004" pitchFamily="2" charset="-127"/>
              </a:rPr>
              <a:t>모델 학습</a:t>
            </a:r>
          </a:p>
        </p:txBody>
      </p:sp>
      <p:sp>
        <p:nvSpPr>
          <p:cNvPr id="15" name="화살표: 갈매기형 수장 30">
            <a:extLst>
              <a:ext uri="{FF2B5EF4-FFF2-40B4-BE49-F238E27FC236}">
                <a16:creationId xmlns:a16="http://schemas.microsoft.com/office/drawing/2014/main" id="{74C6EF5D-8F88-58AF-7439-7DB8CC6B6548}"/>
              </a:ext>
            </a:extLst>
          </p:cNvPr>
          <p:cNvSpPr/>
          <p:nvPr/>
        </p:nvSpPr>
        <p:spPr>
          <a:xfrm>
            <a:off x="8905803" y="2602107"/>
            <a:ext cx="2772000" cy="251999"/>
          </a:xfrm>
          <a:prstGeom prst="chevron">
            <a:avLst>
              <a:gd name="adj" fmla="val 47660"/>
            </a:avLst>
          </a:prstGeom>
          <a:solidFill>
            <a:srgbClr val="10B9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atin typeface="Freesentation 6 SemiBold" pitchFamily="2" charset="-127"/>
                <a:ea typeface="Freesentation 6 SemiBold" pitchFamily="2" charset="-127"/>
                <a:cs typeface="Pretendard" panose="02000503000000020004" pitchFamily="2" charset="-127"/>
              </a:rPr>
              <a:t>XAI </a:t>
            </a:r>
            <a:r>
              <a:rPr lang="ko-KR" altLang="en-US" sz="1200" b="1">
                <a:latin typeface="Freesentation 6 SemiBold" pitchFamily="2" charset="-127"/>
                <a:ea typeface="Freesentation 6 SemiBold" pitchFamily="2" charset="-127"/>
                <a:cs typeface="Pretendard" panose="02000503000000020004" pitchFamily="2" charset="-127"/>
              </a:rPr>
              <a:t>대시보드 시각화</a:t>
            </a:r>
          </a:p>
        </p:txBody>
      </p:sp>
      <p:sp>
        <p:nvSpPr>
          <p:cNvPr id="16" name="화살표: 갈매기형 수장 29">
            <a:extLst>
              <a:ext uri="{FF2B5EF4-FFF2-40B4-BE49-F238E27FC236}">
                <a16:creationId xmlns:a16="http://schemas.microsoft.com/office/drawing/2014/main" id="{E1D6FDBC-3655-AEB7-7231-A2A786749E38}"/>
              </a:ext>
            </a:extLst>
          </p:cNvPr>
          <p:cNvSpPr/>
          <p:nvPr/>
        </p:nvSpPr>
        <p:spPr>
          <a:xfrm>
            <a:off x="3376488" y="2602107"/>
            <a:ext cx="2830493" cy="251999"/>
          </a:xfrm>
          <a:prstGeom prst="chevron">
            <a:avLst>
              <a:gd name="adj" fmla="val 47660"/>
            </a:avLst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atin typeface="Freesentation 6 SemiBold" pitchFamily="2" charset="-127"/>
                <a:ea typeface="Freesentation 6 SemiBold" pitchFamily="2" charset="-127"/>
                <a:cs typeface="Pretendard" panose="02000503000000020004" pitchFamily="2" charset="-127"/>
              </a:rPr>
              <a:t>네트워크 생성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901BB03-9082-81C0-F0AA-0A4B49A421D9}"/>
              </a:ext>
            </a:extLst>
          </p:cNvPr>
          <p:cNvSpPr/>
          <p:nvPr/>
        </p:nvSpPr>
        <p:spPr>
          <a:xfrm>
            <a:off x="612276" y="2310898"/>
            <a:ext cx="5467618" cy="252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중간 발표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CFBDBC2-6495-0BDD-888B-0F58D7F2090C}"/>
              </a:ext>
            </a:extLst>
          </p:cNvPr>
          <p:cNvSpPr/>
          <p:nvPr/>
        </p:nvSpPr>
        <p:spPr>
          <a:xfrm>
            <a:off x="6141593" y="2310898"/>
            <a:ext cx="5437560" cy="252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기말 발표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ACE9583-5694-F566-DE58-4B34C458AA62}"/>
              </a:ext>
            </a:extLst>
          </p:cNvPr>
          <p:cNvSpPr/>
          <p:nvPr/>
        </p:nvSpPr>
        <p:spPr>
          <a:xfrm>
            <a:off x="633359" y="2982410"/>
            <a:ext cx="180000" cy="180000"/>
          </a:xfrm>
          <a:prstGeom prst="rect">
            <a:avLst/>
          </a:prstGeom>
          <a:solidFill>
            <a:srgbClr val="0C1F2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algn="ctr"/>
            <a:r>
              <a:rPr kumimoji="1" lang="en-US" altLang="ko-KR" sz="11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1</a:t>
            </a:r>
            <a:endParaRPr kumimoji="1" lang="ko-KR" altLang="en-US" sz="110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BC8FA6F-0A2B-3D73-DB05-F105C84F3896}"/>
              </a:ext>
            </a:extLst>
          </p:cNvPr>
          <p:cNvSpPr txBox="1"/>
          <p:nvPr/>
        </p:nvSpPr>
        <p:spPr>
          <a:xfrm>
            <a:off x="829465" y="2982410"/>
            <a:ext cx="1556986" cy="231923"/>
          </a:xfrm>
          <a:prstGeom prst="rect">
            <a:avLst/>
          </a:prstGeom>
          <a:noFill/>
        </p:spPr>
        <p:txBody>
          <a:bodyPr wrap="none" tIns="0" rIns="90000" bIns="46800" rtlCol="0">
            <a:spAutoFit/>
          </a:bodyPr>
          <a:lstStyle/>
          <a:p>
            <a:r>
              <a:rPr lang="ko-KR" altLang="en-US" sz="1200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내부 </a:t>
            </a:r>
            <a:r>
              <a:rPr lang="en-US" altLang="ko-KR" sz="1200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POS </a:t>
            </a:r>
            <a:r>
              <a:rPr lang="ko-KR" altLang="en-US" sz="1200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데이터 </a:t>
            </a:r>
            <a:r>
              <a:rPr lang="ko-KR" altLang="en-US" sz="1200" err="1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전처리</a:t>
            </a:r>
            <a:endParaRPr lang="ko-KR" altLang="en-US" sz="1200">
              <a:solidFill>
                <a:srgbClr val="F04444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B8301CA-904E-5D4E-633A-ACFC6E3232B5}"/>
                  </a:ext>
                </a:extLst>
              </p:cNvPr>
              <p:cNvSpPr txBox="1"/>
              <p:nvPr/>
            </p:nvSpPr>
            <p:spPr>
              <a:xfrm>
                <a:off x="829465" y="3136731"/>
                <a:ext cx="2324442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오프라인</a:t>
                </a:r>
                <a:r>
                  <a:rPr kumimoji="1" lang="en-US" altLang="ko-KR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ko-KR" altLang="en-US" sz="10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프리젠테이션 3 Light" pitchFamily="2" charset="-127"/>
                        <a:cs typeface="Pretendard Light" panose="02000403000000020004" pitchFamily="50" charset="-127"/>
                      </a:rPr>
                      <m:t>∙ </m:t>
                    </m:r>
                  </m:oMath>
                </a14:m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온라인 </a:t>
                </a:r>
                <a:r>
                  <a:rPr kumimoji="1" lang="en-US" altLang="ko-KR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POS + </a:t>
                </a:r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상품 마스터 공통 적용</a:t>
                </a: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B8301CA-904E-5D4E-633A-ACFC6E323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465" y="3136731"/>
                <a:ext cx="2324442" cy="246221"/>
              </a:xfrm>
              <a:prstGeom prst="rect">
                <a:avLst/>
              </a:prstGeom>
              <a:blipFill>
                <a:blip r:embed="rId3"/>
                <a:stretch>
                  <a:fillRect t="-2500" b="-7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직사각형 90">
            <a:extLst>
              <a:ext uri="{FF2B5EF4-FFF2-40B4-BE49-F238E27FC236}">
                <a16:creationId xmlns:a16="http://schemas.microsoft.com/office/drawing/2014/main" id="{CCB8BE29-C1AB-3FB2-0277-38F8D23B3ED4}"/>
              </a:ext>
            </a:extLst>
          </p:cNvPr>
          <p:cNvSpPr/>
          <p:nvPr/>
        </p:nvSpPr>
        <p:spPr>
          <a:xfrm>
            <a:off x="643088" y="4777501"/>
            <a:ext cx="180000" cy="180000"/>
          </a:xfrm>
          <a:prstGeom prst="rect">
            <a:avLst/>
          </a:prstGeom>
          <a:solidFill>
            <a:srgbClr val="0C1F2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algn="ctr"/>
            <a:r>
              <a:rPr kumimoji="1" lang="en-US" altLang="ko-KR" sz="11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2</a:t>
            </a:r>
            <a:endParaRPr kumimoji="1" lang="ko-KR" altLang="en-US" sz="110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555498B-A311-5C4E-9A16-B2B5E5B96B63}"/>
              </a:ext>
            </a:extLst>
          </p:cNvPr>
          <p:cNvSpPr txBox="1"/>
          <p:nvPr/>
        </p:nvSpPr>
        <p:spPr>
          <a:xfrm>
            <a:off x="802618" y="4777501"/>
            <a:ext cx="1468820" cy="231923"/>
          </a:xfrm>
          <a:prstGeom prst="rect">
            <a:avLst/>
          </a:prstGeom>
          <a:noFill/>
        </p:spPr>
        <p:txBody>
          <a:bodyPr wrap="none" tIns="0" rIns="90000" bIns="46800" rtlCol="0">
            <a:spAutoFit/>
          </a:bodyPr>
          <a:lstStyle/>
          <a:p>
            <a:r>
              <a:rPr lang="ko-KR" altLang="en-US" sz="1200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외부 데이터 수집 </a:t>
            </a:r>
            <a:r>
              <a:rPr lang="en-US" altLang="ko-KR" sz="1200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+ </a:t>
            </a:r>
            <a:r>
              <a:rPr lang="ko-KR" altLang="en-US" sz="1200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정제</a:t>
            </a:r>
            <a:endParaRPr lang="ko-KR" altLang="en-US" sz="1200">
              <a:solidFill>
                <a:srgbClr val="F04444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8FFE785-7033-2A54-EAA1-E2DF1BFC6EC0}"/>
                  </a:ext>
                </a:extLst>
              </p:cNvPr>
              <p:cNvSpPr txBox="1"/>
              <p:nvPr/>
            </p:nvSpPr>
            <p:spPr>
              <a:xfrm>
                <a:off x="802618" y="4931822"/>
                <a:ext cx="2324442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ko-KR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SNS </a:t>
                </a:r>
                <a14:m>
                  <m:oMath xmlns:m="http://schemas.openxmlformats.org/officeDocument/2006/math">
                    <m:r>
                      <a:rPr kumimoji="1" lang="ko-KR" altLang="en-US" sz="10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프리젠테이션 3 Light" pitchFamily="2" charset="-127"/>
                        <a:cs typeface="Pretendard Light" panose="02000403000000020004" pitchFamily="50" charset="-127"/>
                      </a:rPr>
                      <m:t>∙</m:t>
                    </m:r>
                  </m:oMath>
                </a14:m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 블로그 </a:t>
                </a:r>
                <a:r>
                  <a:rPr kumimoji="1" lang="ko-KR" altLang="en-US" sz="1000" err="1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크롤링</a:t>
                </a:r>
                <a:r>
                  <a:rPr kumimoji="1" lang="en-US" altLang="ko-KR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/ 2025.01~12</a:t>
                </a:r>
                <a:endParaRPr kumimoji="1" lang="ko-KR" altLang="en-US" sz="1000">
                  <a:solidFill>
                    <a:schemeClr val="bg2">
                      <a:lumMod val="50000"/>
                    </a:schemeClr>
                  </a:solidFill>
                  <a:latin typeface="프리젠테이션 3 Light" pitchFamily="2" charset="-127"/>
                  <a:ea typeface="프리젠테이션 3 Light" pitchFamily="2" charset="-127"/>
                  <a:cs typeface="Pretendard Light" panose="02000403000000020004" pitchFamily="50" charset="-127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8FFE785-7033-2A54-EAA1-E2DF1BFC6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18" y="4931822"/>
                <a:ext cx="2324442" cy="246221"/>
              </a:xfrm>
              <a:prstGeom prst="rect">
                <a:avLst/>
              </a:prstGeom>
              <a:blipFill>
                <a:blip r:embed="rId4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64E3419B-D695-3883-A6FB-0C09B055DC68}"/>
              </a:ext>
            </a:extLst>
          </p:cNvPr>
          <p:cNvSpPr/>
          <p:nvPr/>
        </p:nvSpPr>
        <p:spPr>
          <a:xfrm>
            <a:off x="621287" y="3389134"/>
            <a:ext cx="1296000" cy="216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0" bIns="0" rtlCol="0" anchor="ctr"/>
          <a:lstStyle/>
          <a:p>
            <a:r>
              <a:rPr kumimoji="1" lang="en-US" altLang="ko-KR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01  </a:t>
            </a:r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데이터 병합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82CC8F-0444-0244-17D8-F9F6A931F470}"/>
              </a:ext>
            </a:extLst>
          </p:cNvPr>
          <p:cNvSpPr/>
          <p:nvPr/>
        </p:nvSpPr>
        <p:spPr>
          <a:xfrm>
            <a:off x="621287" y="3650368"/>
            <a:ext cx="1296000" cy="216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0" bIns="0" rtlCol="0" anchor="ctr"/>
          <a:lstStyle/>
          <a:p>
            <a:r>
              <a:rPr kumimoji="1" lang="en-US" altLang="ko-KR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03  </a:t>
            </a:r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거래 고유키 생성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BD79C0-1FB0-7979-6587-DF761254B6CB}"/>
              </a:ext>
            </a:extLst>
          </p:cNvPr>
          <p:cNvSpPr/>
          <p:nvPr/>
        </p:nvSpPr>
        <p:spPr>
          <a:xfrm>
            <a:off x="621287" y="3911602"/>
            <a:ext cx="2632576" cy="216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0" bIns="0" rtlCol="0" anchor="ctr"/>
          <a:lstStyle/>
          <a:p>
            <a:r>
              <a:rPr kumimoji="1" lang="en-US" altLang="ko-KR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05  </a:t>
            </a:r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대분류 식품 카테고리 필터링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B845D40-7D0C-BFE5-519E-6BFD1F5EF8A8}"/>
              </a:ext>
            </a:extLst>
          </p:cNvPr>
          <p:cNvSpPr/>
          <p:nvPr/>
        </p:nvSpPr>
        <p:spPr>
          <a:xfrm>
            <a:off x="1957863" y="3389134"/>
            <a:ext cx="1296000" cy="216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0" bIns="0" rtlCol="0" anchor="ctr"/>
          <a:lstStyle/>
          <a:p>
            <a:r>
              <a:rPr kumimoji="1" lang="en-US" altLang="ko-KR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02  </a:t>
            </a:r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시간 파생변수 생성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11B1BEA-CDB3-A828-4F2E-3B4F2EA03512}"/>
              </a:ext>
            </a:extLst>
          </p:cNvPr>
          <p:cNvSpPr/>
          <p:nvPr/>
        </p:nvSpPr>
        <p:spPr>
          <a:xfrm>
            <a:off x="1957863" y="3650368"/>
            <a:ext cx="1296000" cy="216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0" bIns="0" rtlCol="0" anchor="ctr"/>
          <a:lstStyle/>
          <a:p>
            <a:r>
              <a:rPr kumimoji="1" lang="en-US" altLang="ko-KR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04  </a:t>
            </a:r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이상치 제거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07BBFFF-AD49-671C-8AD7-41C8A3A50A73}"/>
              </a:ext>
            </a:extLst>
          </p:cNvPr>
          <p:cNvSpPr/>
          <p:nvPr/>
        </p:nvSpPr>
        <p:spPr>
          <a:xfrm>
            <a:off x="621287" y="4172836"/>
            <a:ext cx="2632576" cy="216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0" bIns="0" rtlCol="0" anchor="ctr"/>
          <a:lstStyle/>
          <a:p>
            <a:r>
              <a:rPr kumimoji="1" lang="en-US" altLang="ko-KR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06  </a:t>
            </a:r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대분류별 상위 </a:t>
            </a:r>
            <a:r>
              <a:rPr kumimoji="1" lang="en-US" altLang="ko-KR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1% </a:t>
            </a:r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이상치 제거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3A0D4DF2-87B8-8219-3273-95FE3275FAD1}"/>
                  </a:ext>
                </a:extLst>
              </p:cNvPr>
              <p:cNvSpPr/>
              <p:nvPr/>
            </p:nvSpPr>
            <p:spPr>
              <a:xfrm>
                <a:off x="621287" y="4434072"/>
                <a:ext cx="2632576" cy="216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72000" tIns="0" rIns="0" bIns="0" rtlCol="0" anchor="ctr"/>
              <a:lstStyle/>
              <a:p>
                <a:r>
                  <a:rPr kumimoji="1" lang="en-US" altLang="ko-KR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07  </a:t>
                </a:r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거래 단위 </a:t>
                </a:r>
                <a14:m>
                  <m:oMath xmlns:m="http://schemas.openxmlformats.org/officeDocument/2006/math">
                    <m:r>
                      <a:rPr kumimoji="1" lang="en-US" altLang="ko-KR" sz="90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→</m:t>
                    </m:r>
                    <m:r>
                      <a:rPr kumimoji="1" lang="en-US" altLang="ko-KR" sz="900" i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 </m:t>
                    </m:r>
                  </m:oMath>
                </a14:m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상품 단위 변환</a:t>
                </a:r>
                <a:endParaRPr kumimoji="1" lang="en-US" altLang="ko-KR" sz="900">
                  <a:solidFill>
                    <a:schemeClr val="bg1">
                      <a:lumMod val="50000"/>
                    </a:schemeClr>
                  </a:solidFill>
                  <a:latin typeface="Freesentation 3 Light" pitchFamily="2" charset="-127"/>
                  <a:ea typeface="Cambria Math" panose="02040503050406030204" pitchFamily="18" charset="0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3A0D4DF2-87B8-8219-3273-95FE3275FA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87" y="4434072"/>
                <a:ext cx="2632576" cy="216000"/>
              </a:xfrm>
              <a:prstGeom prst="rect">
                <a:avLst/>
              </a:prstGeom>
              <a:blipFill>
                <a:blip r:embed="rId5"/>
                <a:stretch>
                  <a:fillRect b="-10811"/>
                </a:stretch>
              </a:blipFill>
              <a:ln w="63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직사각형 28">
            <a:extLst>
              <a:ext uri="{FF2B5EF4-FFF2-40B4-BE49-F238E27FC236}">
                <a16:creationId xmlns:a16="http://schemas.microsoft.com/office/drawing/2014/main" id="{6EDECC07-1041-FE40-F998-75787B49F167}"/>
              </a:ext>
            </a:extLst>
          </p:cNvPr>
          <p:cNvSpPr/>
          <p:nvPr/>
        </p:nvSpPr>
        <p:spPr>
          <a:xfrm>
            <a:off x="618447" y="5187448"/>
            <a:ext cx="2632576" cy="216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0" bIns="0" rtlCol="0" anchor="ctr"/>
          <a:lstStyle/>
          <a:p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인스타 트렌드 매거진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985926-5A12-1379-4322-2EA4CC15F25F}"/>
              </a:ext>
            </a:extLst>
          </p:cNvPr>
          <p:cNvSpPr/>
          <p:nvPr/>
        </p:nvSpPr>
        <p:spPr>
          <a:xfrm>
            <a:off x="618447" y="5448682"/>
            <a:ext cx="2632576" cy="216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0" bIns="0" rtlCol="0" anchor="ctr"/>
          <a:lstStyle/>
          <a:p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편의점 </a:t>
            </a:r>
            <a:r>
              <a:rPr kumimoji="1" lang="en-US" altLang="ko-KR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사 공식 </a:t>
            </a:r>
            <a:r>
              <a:rPr kumimoji="1" lang="en-US" altLang="ko-KR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SNS</a:t>
            </a:r>
            <a:endParaRPr kumimoji="1" lang="ko-KR" altLang="en-US" sz="900">
              <a:solidFill>
                <a:schemeClr val="bg1">
                  <a:lumMod val="50000"/>
                </a:schemeClr>
              </a:solidFill>
              <a:latin typeface="Freesentation 3 Light" pitchFamily="2" charset="-127"/>
              <a:ea typeface="Freesentation 3 Light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23130B0-EC07-DA5E-DD2F-88262E9D8E46}"/>
              </a:ext>
            </a:extLst>
          </p:cNvPr>
          <p:cNvSpPr/>
          <p:nvPr/>
        </p:nvSpPr>
        <p:spPr>
          <a:xfrm>
            <a:off x="618447" y="5709918"/>
            <a:ext cx="2632576" cy="216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0" bIns="0" rtlCol="0" anchor="ctr"/>
          <a:lstStyle/>
          <a:p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네이버 블로그</a:t>
            </a:r>
            <a:endParaRPr kumimoji="1" lang="en-US" altLang="ko-KR" sz="900">
              <a:solidFill>
                <a:schemeClr val="bg1">
                  <a:lumMod val="50000"/>
                </a:schemeClr>
              </a:solidFill>
              <a:latin typeface="Freesentation 3 Light" pitchFamily="2" charset="-127"/>
              <a:ea typeface="Cambria Math" panose="02040503050406030204" pitchFamily="18" charset="0"/>
              <a:cs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7B620B-4A08-455D-735A-A2485D5E9F6A}"/>
              </a:ext>
            </a:extLst>
          </p:cNvPr>
          <p:cNvSpPr/>
          <p:nvPr/>
        </p:nvSpPr>
        <p:spPr>
          <a:xfrm>
            <a:off x="3437537" y="2992095"/>
            <a:ext cx="180000" cy="180000"/>
          </a:xfrm>
          <a:prstGeom prst="rect">
            <a:avLst/>
          </a:prstGeom>
          <a:solidFill>
            <a:srgbClr val="0C1F2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algn="ctr"/>
            <a:r>
              <a:rPr kumimoji="1" lang="en-US" altLang="ko-KR" sz="11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1</a:t>
            </a:r>
            <a:endParaRPr kumimoji="1" lang="ko-KR" altLang="en-US" sz="110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19C3C2-C9FD-42C8-E22D-FCB9768C2C09}"/>
              </a:ext>
            </a:extLst>
          </p:cNvPr>
          <p:cNvSpPr txBox="1"/>
          <p:nvPr/>
        </p:nvSpPr>
        <p:spPr>
          <a:xfrm>
            <a:off x="3633643" y="2992095"/>
            <a:ext cx="1177074" cy="231923"/>
          </a:xfrm>
          <a:prstGeom prst="rect">
            <a:avLst/>
          </a:prstGeom>
          <a:noFill/>
        </p:spPr>
        <p:txBody>
          <a:bodyPr wrap="none" tIns="0" rIns="90000" bIns="46800" rtlCol="0">
            <a:spAutoFit/>
          </a:bodyPr>
          <a:lstStyle/>
          <a:p>
            <a:r>
              <a:rPr lang="ko-KR" altLang="en-US" sz="1200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분석 카테고리 선정</a:t>
            </a:r>
            <a:endParaRPr lang="ko-KR" altLang="en-US" sz="1200">
              <a:solidFill>
                <a:srgbClr val="F04444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0EF21A-ED26-E1A4-0693-C4A48B614B91}"/>
              </a:ext>
            </a:extLst>
          </p:cNvPr>
          <p:cNvSpPr txBox="1"/>
          <p:nvPr/>
        </p:nvSpPr>
        <p:spPr>
          <a:xfrm>
            <a:off x="3633643" y="3146416"/>
            <a:ext cx="23244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1000">
                <a:solidFill>
                  <a:schemeClr val="bg2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50" charset="-127"/>
              </a:rPr>
              <a:t>파레토 법칙 </a:t>
            </a:r>
            <a:r>
              <a:rPr kumimoji="1" lang="en-US" altLang="ko-KR" sz="1000">
                <a:solidFill>
                  <a:schemeClr val="bg2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50" charset="-127"/>
              </a:rPr>
              <a:t>+ PB </a:t>
            </a:r>
            <a:r>
              <a:rPr kumimoji="1" lang="ko-KR" altLang="en-US" sz="1000">
                <a:solidFill>
                  <a:schemeClr val="bg2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50" charset="-127"/>
              </a:rPr>
              <a:t>존재 여부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9E00AEEE-E064-CD5B-24DA-F4E96AA923ED}"/>
                  </a:ext>
                </a:extLst>
              </p:cNvPr>
              <p:cNvSpPr/>
              <p:nvPr/>
            </p:nvSpPr>
            <p:spPr>
              <a:xfrm>
                <a:off x="3399829" y="3395534"/>
                <a:ext cx="2632576" cy="38999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72000" tIns="0" rIns="0" bIns="0" rtlCol="0" anchor="ctr"/>
              <a:lstStyle/>
              <a:p>
                <a:pPr marL="171450" indent="-171450">
                  <a:buFontTx/>
                  <a:buChar char="-"/>
                </a:pPr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중분류 기준 매출 </a:t>
                </a:r>
                <a:r>
                  <a:rPr kumimoji="1" lang="en-US" altLang="ko-KR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80% </a:t>
                </a:r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견인하는 핵심 제품군 도출</a:t>
                </a:r>
                <a:endParaRPr kumimoji="1" lang="en-US" altLang="ko-KR" sz="900">
                  <a:solidFill>
                    <a:schemeClr val="bg1">
                      <a:lumMod val="50000"/>
                    </a:schemeClr>
                  </a:solidFill>
                  <a:latin typeface="Freesentation 3 Light" pitchFamily="2" charset="-127"/>
                  <a:ea typeface="Freesentation 3 Light" pitchFamily="2" charset="-127"/>
                  <a:cs typeface="Pretendard" panose="02000503000000020004" pitchFamily="2" charset="-127"/>
                </a:endParaRPr>
              </a:p>
              <a:p>
                <a:pPr marL="171450" indent="-171450">
                  <a:buFontTx/>
                  <a:buChar char="-"/>
                </a:pPr>
                <a:r>
                  <a:rPr kumimoji="1" lang="en-US" altLang="ko-KR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PB </a:t>
                </a:r>
                <a14:m>
                  <m:oMath xmlns:m="http://schemas.openxmlformats.org/officeDocument/2006/math">
                    <m:r>
                      <a:rPr kumimoji="1" lang="ko-KR" altLang="en-US" sz="9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프리젠테이션 3 Light" pitchFamily="2" charset="-127"/>
                        <a:cs typeface="Pretendard Light" panose="02000403000000020004" pitchFamily="50" charset="-127"/>
                      </a:rPr>
                      <m:t>∙</m:t>
                    </m:r>
                  </m:oMath>
                </a14:m>
                <a:r>
                  <a:rPr kumimoji="1" lang="ko-KR" altLang="en-US" sz="9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  </a:t>
                </a:r>
                <a:r>
                  <a:rPr kumimoji="1" lang="ko-KR" altLang="en-US" sz="900" err="1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콜라보</a:t>
                </a:r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 활성화 카테고리 추출</a:t>
                </a:r>
                <a:r>
                  <a:rPr kumimoji="1" lang="en-US" altLang="ko-KR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, </a:t>
                </a:r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최종 타겟 </a:t>
                </a:r>
                <a:r>
                  <a:rPr kumimoji="1" lang="en-US" altLang="ko-KR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43</a:t>
                </a:r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개 선정</a:t>
                </a:r>
              </a:p>
            </p:txBody>
          </p:sp>
        </mc:Choice>
        <mc:Fallback xmlns="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9E00AEEE-E064-CD5B-24DA-F4E96AA923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829" y="3395534"/>
                <a:ext cx="2632576" cy="389998"/>
              </a:xfrm>
              <a:prstGeom prst="rect">
                <a:avLst/>
              </a:prstGeom>
              <a:blipFill>
                <a:blip r:embed="rId6"/>
                <a:stretch>
                  <a:fillRect l="-462" t="-1538" r="-21247" b="-6154"/>
                </a:stretch>
              </a:blipFill>
              <a:ln w="63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직사각형 56">
            <a:extLst>
              <a:ext uri="{FF2B5EF4-FFF2-40B4-BE49-F238E27FC236}">
                <a16:creationId xmlns:a16="http://schemas.microsoft.com/office/drawing/2014/main" id="{408CBAB7-7734-1E50-044C-137632FA89DB}"/>
              </a:ext>
            </a:extLst>
          </p:cNvPr>
          <p:cNvSpPr/>
          <p:nvPr/>
        </p:nvSpPr>
        <p:spPr>
          <a:xfrm>
            <a:off x="3437537" y="5670203"/>
            <a:ext cx="180000" cy="180000"/>
          </a:xfrm>
          <a:prstGeom prst="rect">
            <a:avLst/>
          </a:prstGeom>
          <a:solidFill>
            <a:srgbClr val="0C1F2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algn="ctr"/>
            <a:r>
              <a:rPr kumimoji="1" lang="en-US" altLang="ko-KR" sz="11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4</a:t>
            </a:r>
            <a:endParaRPr kumimoji="1" lang="ko-KR" altLang="en-US" sz="110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48F53BD-D6D0-B614-5A15-61DBA4AE7E53}"/>
              </a:ext>
            </a:extLst>
          </p:cNvPr>
          <p:cNvSpPr txBox="1"/>
          <p:nvPr/>
        </p:nvSpPr>
        <p:spPr>
          <a:xfrm>
            <a:off x="3633643" y="5670203"/>
            <a:ext cx="1556986" cy="231923"/>
          </a:xfrm>
          <a:prstGeom prst="rect">
            <a:avLst/>
          </a:prstGeom>
          <a:noFill/>
        </p:spPr>
        <p:txBody>
          <a:bodyPr wrap="none" tIns="0" rIns="90000" bIns="46800" rtlCol="0">
            <a:spAutoFit/>
          </a:bodyPr>
          <a:lstStyle/>
          <a:p>
            <a:r>
              <a:rPr lang="ko-KR" altLang="en-US" sz="1200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이기종 정보 네트워크 생성</a:t>
            </a:r>
            <a:endParaRPr lang="ko-KR" altLang="en-US" sz="1200">
              <a:solidFill>
                <a:srgbClr val="F04444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8BE1426-4BF1-F94C-77EE-050A857CCBBF}"/>
                  </a:ext>
                </a:extLst>
              </p:cNvPr>
              <p:cNvSpPr txBox="1"/>
              <p:nvPr/>
            </p:nvSpPr>
            <p:spPr>
              <a:xfrm>
                <a:off x="3633643" y="5824524"/>
                <a:ext cx="2324442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ko-KR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5</a:t>
                </a:r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종 노드 연결</a:t>
                </a:r>
                <a:r>
                  <a:rPr kumimoji="1" lang="en-US" altLang="ko-KR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ko-KR" altLang="en-US" sz="10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프리젠테이션 3 Light" pitchFamily="2" charset="-127"/>
                        <a:cs typeface="Pretendard Light" panose="02000403000000020004" pitchFamily="50" charset="-127"/>
                      </a:rPr>
                      <m:t>∙</m:t>
                    </m:r>
                  </m:oMath>
                </a14:m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 학습 준비 완료</a:t>
                </a: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8BE1426-4BF1-F94C-77EE-050A857CC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643" y="5824524"/>
                <a:ext cx="2324442" cy="246221"/>
              </a:xfrm>
              <a:prstGeom prst="rect">
                <a:avLst/>
              </a:prstGeom>
              <a:blipFill>
                <a:blip r:embed="rId7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A6BBD541-C58A-29EC-FF12-676530DF3F19}"/>
                  </a:ext>
                </a:extLst>
              </p:cNvPr>
              <p:cNvSpPr/>
              <p:nvPr/>
            </p:nvSpPr>
            <p:spPr>
              <a:xfrm>
                <a:off x="3399829" y="6073642"/>
                <a:ext cx="2632576" cy="38999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72000" tIns="0" rIns="0" bIns="0" rtlCol="0" anchor="ctr"/>
              <a:lstStyle/>
              <a:p>
                <a:pPr marL="171450" indent="-171450">
                  <a:buFontTx/>
                  <a:buChar char="-"/>
                </a:pPr>
                <a:r>
                  <a:rPr kumimoji="1" lang="en-US" altLang="ko-KR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5</a:t>
                </a:r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종 노드 연결</a:t>
                </a:r>
                <a:r>
                  <a:rPr kumimoji="1" lang="en-US" altLang="ko-KR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: </a:t>
                </a:r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상품 ∙ 속성 ∙ </a:t>
                </a:r>
                <a:r>
                  <a:rPr kumimoji="1" lang="ko-KR" altLang="en-US" sz="900" err="1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소비맥락</a:t>
                </a:r>
                <a:r>
                  <a:rPr kumimoji="1" lang="en-US" altLang="ko-KR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(TPO)</a:t>
                </a:r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 ∙</a:t>
                </a:r>
                <a:r>
                  <a:rPr kumimoji="1" lang="en-US" altLang="ko-KR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 </a:t>
                </a:r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트렌드 ∙ 행사</a:t>
                </a:r>
                <a:endParaRPr kumimoji="1" lang="en-US" altLang="ko-KR" sz="900">
                  <a:solidFill>
                    <a:schemeClr val="bg1">
                      <a:lumMod val="50000"/>
                    </a:schemeClr>
                  </a:solidFill>
                  <a:latin typeface="Freesentation 3 Light" pitchFamily="2" charset="-127"/>
                  <a:ea typeface="Freesentation 3 Light" pitchFamily="2" charset="-127"/>
                  <a:cs typeface="Pretendard" panose="02000503000000020004" pitchFamily="2" charset="-127"/>
                </a:endParaRPr>
              </a:p>
              <a:p>
                <a:pPr marL="171450" indent="-171450">
                  <a:buFontTx/>
                  <a:buChar char="-"/>
                </a:pPr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연결 관계 설정</a:t>
                </a:r>
                <a:r>
                  <a:rPr kumimoji="1" lang="en-US" altLang="ko-KR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: </a:t>
                </a:r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상품 속성 포함 관계</a:t>
                </a:r>
                <a:r>
                  <a:rPr kumimoji="1" lang="en-US" altLang="ko-KR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, </a:t>
                </a:r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트렌드 </a:t>
                </a:r>
                <a14:m>
                  <m:oMath xmlns:m="http://schemas.openxmlformats.org/officeDocument/2006/math">
                    <m:r>
                      <a:rPr kumimoji="1" lang="en-US" altLang="ko-KR" sz="9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Light" panose="02000403000000020004" pitchFamily="50" charset="-127"/>
                      </a:rPr>
                      <m:t>→</m:t>
                    </m:r>
                    <m:r>
                      <a:rPr kumimoji="1" lang="en-US" altLang="ko-KR" sz="90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Light" panose="02000403000000020004" pitchFamily="50" charset="-127"/>
                      </a:rPr>
                      <m:t> </m:t>
                    </m:r>
                  </m:oMath>
                </a14:m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상품 시간차</a:t>
                </a:r>
              </a:p>
            </p:txBody>
          </p:sp>
        </mc:Choice>
        <mc:Fallback xmlns=""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A6BBD541-C58A-29EC-FF12-676530DF3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829" y="6073642"/>
                <a:ext cx="2632576" cy="389998"/>
              </a:xfrm>
              <a:prstGeom prst="rect">
                <a:avLst/>
              </a:prstGeom>
              <a:blipFill>
                <a:blip r:embed="rId8"/>
                <a:stretch>
                  <a:fillRect l="-462" r="-27483" b="-6154"/>
                </a:stretch>
              </a:blipFill>
              <a:ln w="63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52456F36-A712-3ECE-5399-1E957EDC99F6}"/>
              </a:ext>
            </a:extLst>
          </p:cNvPr>
          <p:cNvSpPr/>
          <p:nvPr/>
        </p:nvSpPr>
        <p:spPr>
          <a:xfrm>
            <a:off x="3437537" y="3884798"/>
            <a:ext cx="180000" cy="180000"/>
          </a:xfrm>
          <a:prstGeom prst="rect">
            <a:avLst/>
          </a:prstGeom>
          <a:solidFill>
            <a:srgbClr val="0C1F2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algn="ctr"/>
            <a:r>
              <a:rPr kumimoji="1" lang="en-US" altLang="ko-KR" sz="11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2</a:t>
            </a:r>
            <a:endParaRPr kumimoji="1" lang="ko-KR" altLang="en-US" sz="110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FCA616F-F8EB-3C12-6F24-0F6640F4B74D}"/>
              </a:ext>
            </a:extLst>
          </p:cNvPr>
          <p:cNvSpPr txBox="1"/>
          <p:nvPr/>
        </p:nvSpPr>
        <p:spPr>
          <a:xfrm>
            <a:off x="3633643" y="3884798"/>
            <a:ext cx="1294093" cy="231923"/>
          </a:xfrm>
          <a:prstGeom prst="rect">
            <a:avLst/>
          </a:prstGeom>
          <a:noFill/>
        </p:spPr>
        <p:txBody>
          <a:bodyPr wrap="none" tIns="0" rIns="90000" bIns="46800" rtlCol="0">
            <a:spAutoFit/>
          </a:bodyPr>
          <a:lstStyle/>
          <a:p>
            <a:r>
              <a:rPr lang="ko-KR" altLang="en-US" sz="1200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판매 패턴 클러스터링</a:t>
            </a:r>
            <a:endParaRPr lang="ko-KR" altLang="en-US" sz="1200">
              <a:solidFill>
                <a:srgbClr val="F04444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DEE7AC0-7105-B8AE-EDF3-F58BE025A4E4}"/>
                  </a:ext>
                </a:extLst>
              </p:cNvPr>
              <p:cNvSpPr txBox="1"/>
              <p:nvPr/>
            </p:nvSpPr>
            <p:spPr>
              <a:xfrm>
                <a:off x="3633643" y="4039119"/>
                <a:ext cx="2324442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출시 후 </a:t>
                </a:r>
                <a:r>
                  <a:rPr kumimoji="1" lang="en-US" altLang="ko-KR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8</a:t>
                </a:r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주 생애주기 </a:t>
                </a:r>
                <a14:m>
                  <m:oMath xmlns:m="http://schemas.openxmlformats.org/officeDocument/2006/math">
                    <m:r>
                      <a:rPr kumimoji="1" lang="en-US" altLang="ko-KR" sz="10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Light" panose="02000403000000020004" pitchFamily="50" charset="-127"/>
                      </a:rPr>
                      <m:t>→</m:t>
                    </m:r>
                  </m:oMath>
                </a14:m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 </a:t>
                </a:r>
                <a:r>
                  <a:rPr kumimoji="1" lang="en-US" altLang="ko-KR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3</a:t>
                </a:r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개 유형 분류</a:t>
                </a: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DEE7AC0-7105-B8AE-EDF3-F58BE025A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643" y="4039119"/>
                <a:ext cx="2324442" cy="246221"/>
              </a:xfrm>
              <a:prstGeom prst="rect">
                <a:avLst/>
              </a:prstGeom>
              <a:blipFill>
                <a:blip r:embed="rId9"/>
                <a:stretch>
                  <a:fillRect t="-2500" b="-7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C9BA8645-93C8-3442-E982-A49AB359D34E}"/>
                  </a:ext>
                </a:extLst>
              </p:cNvPr>
              <p:cNvSpPr/>
              <p:nvPr/>
            </p:nvSpPr>
            <p:spPr>
              <a:xfrm>
                <a:off x="3399829" y="4288237"/>
                <a:ext cx="2632576" cy="38999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72000" tIns="0" rIns="0" bIns="0" rtlCol="0" anchor="ctr"/>
              <a:lstStyle/>
              <a:p>
                <a:pPr marL="171450" indent="-171450">
                  <a:buFontTx/>
                  <a:buChar char="-"/>
                </a:pPr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출시 첫날 판매량 기준으로 판매 추이를 </a:t>
                </a:r>
                <a:r>
                  <a:rPr kumimoji="1" lang="ko-KR" altLang="en-US" sz="900" err="1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상대값으로</a:t>
                </a:r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 변환</a:t>
                </a:r>
                <a:endParaRPr kumimoji="1" lang="en-US" altLang="ko-KR" sz="900">
                  <a:solidFill>
                    <a:schemeClr val="bg1">
                      <a:lumMod val="50000"/>
                    </a:schemeClr>
                  </a:solidFill>
                  <a:latin typeface="Freesentation 3 Light" pitchFamily="2" charset="-127"/>
                  <a:ea typeface="Freesentation 3 Light" pitchFamily="2" charset="-127"/>
                  <a:cs typeface="Pretendard" panose="02000503000000020004" pitchFamily="2" charset="-127"/>
                </a:endParaRPr>
              </a:p>
              <a:p>
                <a:pPr marL="171450" indent="-171450">
                  <a:buFontTx/>
                  <a:buChar char="-"/>
                </a:pPr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유사도 기반 군집화 </a:t>
                </a:r>
                <a14:m>
                  <m:oMath xmlns:m="http://schemas.openxmlformats.org/officeDocument/2006/math">
                    <m:r>
                      <a:rPr kumimoji="1" lang="en-US" altLang="ko-KR" sz="9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Light" panose="02000403000000020004" pitchFamily="50" charset="-127"/>
                      </a:rPr>
                      <m:t>→ </m:t>
                    </m:r>
                  </m:oMath>
                </a14:m>
                <a:r>
                  <a:rPr kumimoji="1" lang="ko-KR" altLang="en-US" sz="900">
                    <a:solidFill>
                      <a:schemeClr val="bg1">
                        <a:lumMod val="50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지속 흥행 ∙ 단기 흥행 ∙ 균일 수요 </a:t>
                </a:r>
                <a:endParaRPr kumimoji="1" lang="en-US" altLang="ko-KR" sz="900">
                  <a:solidFill>
                    <a:schemeClr val="bg1">
                      <a:lumMod val="50000"/>
                    </a:schemeClr>
                  </a:solidFill>
                  <a:latin typeface="Freesentation 3 Light" pitchFamily="2" charset="-127"/>
                  <a:ea typeface="Freesentation 3 Light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C9BA8645-93C8-3442-E982-A49AB359D3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829" y="4288237"/>
                <a:ext cx="2632576" cy="389998"/>
              </a:xfrm>
              <a:prstGeom prst="rect">
                <a:avLst/>
              </a:prstGeom>
              <a:blipFill>
                <a:blip r:embed="rId10"/>
                <a:stretch>
                  <a:fillRect l="-462" r="-22171" b="-6154"/>
                </a:stretch>
              </a:blipFill>
              <a:ln w="63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13695B51-93EC-0B68-C0C7-3F8B9D83FDBC}"/>
              </a:ext>
            </a:extLst>
          </p:cNvPr>
          <p:cNvSpPr/>
          <p:nvPr/>
        </p:nvSpPr>
        <p:spPr>
          <a:xfrm>
            <a:off x="3437537" y="4777501"/>
            <a:ext cx="180000" cy="180000"/>
          </a:xfrm>
          <a:prstGeom prst="rect">
            <a:avLst/>
          </a:prstGeom>
          <a:solidFill>
            <a:srgbClr val="0C1F2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algn="ctr"/>
            <a:r>
              <a:rPr kumimoji="1" lang="en-US" altLang="ko-KR" sz="11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3</a:t>
            </a:r>
            <a:endParaRPr kumimoji="1" lang="ko-KR" altLang="en-US" sz="110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65B578A-3117-9757-146A-EFA9C1069112}"/>
              </a:ext>
            </a:extLst>
          </p:cNvPr>
          <p:cNvSpPr txBox="1"/>
          <p:nvPr/>
        </p:nvSpPr>
        <p:spPr>
          <a:xfrm>
            <a:off x="3633643" y="4777501"/>
            <a:ext cx="1177074" cy="231923"/>
          </a:xfrm>
          <a:prstGeom prst="rect">
            <a:avLst/>
          </a:prstGeom>
          <a:noFill/>
        </p:spPr>
        <p:txBody>
          <a:bodyPr wrap="none" tIns="0" rIns="90000" bIns="46800" rtlCol="0">
            <a:spAutoFit/>
          </a:bodyPr>
          <a:lstStyle/>
          <a:p>
            <a:r>
              <a:rPr lang="ko-KR" altLang="en-US" sz="1200" err="1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메가트렌드</a:t>
            </a:r>
            <a:r>
              <a:rPr lang="ko-KR" altLang="en-US" sz="1200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 군집화</a:t>
            </a:r>
            <a:endParaRPr lang="ko-KR" altLang="en-US" sz="1200">
              <a:solidFill>
                <a:srgbClr val="F04444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8E3B3358-731F-1DEA-62BB-476186BD1AE8}"/>
                  </a:ext>
                </a:extLst>
              </p:cNvPr>
              <p:cNvSpPr txBox="1"/>
              <p:nvPr/>
            </p:nvSpPr>
            <p:spPr>
              <a:xfrm>
                <a:off x="3633643" y="4931822"/>
                <a:ext cx="2324442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ko-KR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SNS </a:t>
                </a:r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키워드 네트워크 </a:t>
                </a:r>
                <a14:m>
                  <m:oMath xmlns:m="http://schemas.openxmlformats.org/officeDocument/2006/math">
                    <m:r>
                      <a:rPr kumimoji="1" lang="en-US" altLang="ko-KR" sz="10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Light" panose="02000403000000020004" pitchFamily="50" charset="-127"/>
                      </a:rPr>
                      <m:t>→</m:t>
                    </m:r>
                  </m:oMath>
                </a14:m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 트렌드 노드 생성</a:t>
                </a: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8E3B3358-731F-1DEA-62BB-476186BD1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643" y="4931822"/>
                <a:ext cx="2324442" cy="246221"/>
              </a:xfrm>
              <a:prstGeom prst="rect">
                <a:avLst/>
              </a:prstGeom>
              <a:blipFill>
                <a:blip r:embed="rId11"/>
                <a:stretch>
                  <a:fillRect b="-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900369C9-19BE-601E-4B8C-1E8D30469849}"/>
              </a:ext>
            </a:extLst>
          </p:cNvPr>
          <p:cNvSpPr/>
          <p:nvPr/>
        </p:nvSpPr>
        <p:spPr>
          <a:xfrm>
            <a:off x="3399829" y="5180940"/>
            <a:ext cx="2632576" cy="3899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0" bIns="0" rtlCol="0" anchor="ctr"/>
          <a:lstStyle/>
          <a:p>
            <a:pPr marL="171450" indent="-171450">
              <a:buFontTx/>
              <a:buChar char="-"/>
            </a:pPr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군집 탐지 알고리즘으로 </a:t>
            </a:r>
            <a:r>
              <a:rPr kumimoji="1" lang="en-US" altLang="ko-KR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34</a:t>
            </a:r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개 트렌드 군집 추출</a:t>
            </a:r>
            <a:endParaRPr kumimoji="1" lang="en-US" altLang="ko-KR" sz="900">
              <a:solidFill>
                <a:schemeClr val="bg1">
                  <a:lumMod val="50000"/>
                </a:schemeClr>
              </a:solidFill>
              <a:latin typeface="Freesentation 3 Light" pitchFamily="2" charset="-127"/>
              <a:ea typeface="Freesentation 3 Light" pitchFamily="2" charset="-127"/>
              <a:cs typeface="Pretendard" panose="02000503000000020004" pitchFamily="2" charset="-127"/>
            </a:endParaRPr>
          </a:p>
          <a:p>
            <a:pPr marL="171450" indent="-171450">
              <a:buFontTx/>
              <a:buChar char="-"/>
            </a:pPr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최종 소비 맥락 ∙ 속성 키워드 </a:t>
            </a:r>
            <a:r>
              <a:rPr kumimoji="1" lang="en-US" altLang="ko-KR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497</a:t>
            </a:r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개 </a:t>
            </a:r>
            <a:r>
              <a:rPr kumimoji="1" lang="en-US" altLang="ko-KR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+ </a:t>
            </a:r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제품명 </a:t>
            </a:r>
            <a:r>
              <a:rPr kumimoji="1" lang="en-US" altLang="ko-KR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448</a:t>
            </a:r>
            <a:r>
              <a:rPr kumimoji="1" lang="ko-KR" altLang="en-US" sz="900">
                <a:solidFill>
                  <a:schemeClr val="bg1">
                    <a:lumMod val="50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개 확정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A2EB656D-42E8-E5CC-59D4-A4E6B7FBB4FC}"/>
              </a:ext>
            </a:extLst>
          </p:cNvPr>
          <p:cNvSpPr/>
          <p:nvPr/>
        </p:nvSpPr>
        <p:spPr>
          <a:xfrm>
            <a:off x="6251639" y="2988031"/>
            <a:ext cx="180000" cy="180000"/>
          </a:xfrm>
          <a:prstGeom prst="rect">
            <a:avLst/>
          </a:prstGeom>
          <a:solidFill>
            <a:srgbClr val="0C1F2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algn="ctr"/>
            <a:r>
              <a:rPr kumimoji="1" lang="en-US" altLang="ko-KR" sz="11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1</a:t>
            </a:r>
            <a:endParaRPr kumimoji="1" lang="ko-KR" altLang="en-US" sz="110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7861182-D26F-475B-E834-8116223B41E1}"/>
              </a:ext>
            </a:extLst>
          </p:cNvPr>
          <p:cNvSpPr txBox="1"/>
          <p:nvPr/>
        </p:nvSpPr>
        <p:spPr>
          <a:xfrm>
            <a:off x="6447745" y="2988031"/>
            <a:ext cx="943035" cy="231923"/>
          </a:xfrm>
          <a:prstGeom prst="rect">
            <a:avLst/>
          </a:prstGeom>
          <a:noFill/>
        </p:spPr>
        <p:txBody>
          <a:bodyPr wrap="none" tIns="0" rIns="90000" bIns="46800" rtlCol="0">
            <a:spAutoFit/>
          </a:bodyPr>
          <a:lstStyle/>
          <a:p>
            <a:r>
              <a:rPr lang="ko-KR" altLang="en-US" sz="1200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모델 학습 준비</a:t>
            </a:r>
            <a:endParaRPr lang="ko-KR" altLang="en-US" sz="1200">
              <a:solidFill>
                <a:srgbClr val="F04444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22400EB0-A93D-167A-2A33-3E155B04E3B5}"/>
                  </a:ext>
                </a:extLst>
              </p:cNvPr>
              <p:cNvSpPr txBox="1"/>
              <p:nvPr/>
            </p:nvSpPr>
            <p:spPr>
              <a:xfrm>
                <a:off x="6447745" y="3142352"/>
                <a:ext cx="2324442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히트 기준 정의</a:t>
                </a:r>
                <a14:m>
                  <m:oMath xmlns:m="http://schemas.openxmlformats.org/officeDocument/2006/math">
                    <m:r>
                      <a:rPr kumimoji="1" lang="ko-KR" altLang="en-US" sz="10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프리젠테이션 3 Light" pitchFamily="2" charset="-127"/>
                        <a:cs typeface="Pretendard Light" panose="02000403000000020004" pitchFamily="50" charset="-127"/>
                      </a:rPr>
                      <m:t> </m:t>
                    </m:r>
                    <m:r>
                      <a:rPr kumimoji="1" lang="ko-KR" altLang="en-US" sz="10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프리젠테이션 3 Light" pitchFamily="2" charset="-127"/>
                        <a:cs typeface="Pretendard Light" panose="02000403000000020004" pitchFamily="50" charset="-127"/>
                      </a:rPr>
                      <m:t>∙</m:t>
                    </m:r>
                  </m:oMath>
                </a14:m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  초기값 설정</a:t>
                </a: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22400EB0-A93D-167A-2A33-3E155B04E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745" y="3142352"/>
                <a:ext cx="2324442" cy="246221"/>
              </a:xfrm>
              <a:prstGeom prst="rect">
                <a:avLst/>
              </a:prstGeom>
              <a:blipFill>
                <a:blip r:embed="rId12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383B6EEB-ABA9-C5CA-61DA-D8A8607EAB93}"/>
              </a:ext>
            </a:extLst>
          </p:cNvPr>
          <p:cNvSpPr/>
          <p:nvPr/>
        </p:nvSpPr>
        <p:spPr>
          <a:xfrm>
            <a:off x="6213931" y="3391470"/>
            <a:ext cx="2632576" cy="3899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0" bIns="0" rtlCol="0" anchor="ctr"/>
          <a:lstStyle/>
          <a:p>
            <a:pPr marL="171450" indent="-171450">
              <a:buFontTx/>
              <a:buChar char="-"/>
            </a:pPr>
            <a:r>
              <a:rPr kumimoji="1" lang="ko-KR" altLang="en-US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히트 기준 설정</a:t>
            </a:r>
            <a:r>
              <a:rPr kumimoji="1" lang="en-US" altLang="ko-KR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출시 후 </a:t>
            </a:r>
            <a:r>
              <a:rPr kumimoji="1" lang="en-US" altLang="ko-KR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4</a:t>
            </a:r>
            <a:r>
              <a:rPr kumimoji="1" lang="ko-KR" altLang="en-US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주 내 중분류 상위 </a:t>
            </a:r>
            <a:r>
              <a:rPr kumimoji="1" lang="en-US" altLang="ko-KR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30%</a:t>
            </a:r>
          </a:p>
          <a:p>
            <a:pPr marL="171450" indent="-171450">
              <a:buFontTx/>
              <a:buChar char="-"/>
            </a:pPr>
            <a:r>
              <a:rPr kumimoji="1" lang="ko-KR" altLang="en-US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각 노드에 초기 </a:t>
            </a:r>
            <a:r>
              <a:rPr kumimoji="1" lang="ko-KR" altLang="en-US" sz="900" err="1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특성값</a:t>
            </a:r>
            <a:r>
              <a:rPr kumimoji="1" lang="ko-KR" altLang="en-US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 부여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7D32F504-52F7-A05A-CDB7-083ED51087F3}"/>
              </a:ext>
            </a:extLst>
          </p:cNvPr>
          <p:cNvSpPr/>
          <p:nvPr/>
        </p:nvSpPr>
        <p:spPr>
          <a:xfrm>
            <a:off x="6251639" y="5666139"/>
            <a:ext cx="180000" cy="180000"/>
          </a:xfrm>
          <a:prstGeom prst="rect">
            <a:avLst/>
          </a:prstGeom>
          <a:solidFill>
            <a:srgbClr val="0C1F2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algn="ctr"/>
            <a:r>
              <a:rPr kumimoji="1" lang="en-US" altLang="ko-KR" sz="11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4</a:t>
            </a:r>
            <a:endParaRPr kumimoji="1" lang="ko-KR" altLang="en-US" sz="110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10321D9-9179-C557-434E-88F00878D6F2}"/>
              </a:ext>
            </a:extLst>
          </p:cNvPr>
          <p:cNvSpPr txBox="1"/>
          <p:nvPr/>
        </p:nvSpPr>
        <p:spPr>
          <a:xfrm>
            <a:off x="6447745" y="5666139"/>
            <a:ext cx="1294093" cy="231923"/>
          </a:xfrm>
          <a:prstGeom prst="rect">
            <a:avLst/>
          </a:prstGeom>
          <a:noFill/>
        </p:spPr>
        <p:txBody>
          <a:bodyPr wrap="none" tIns="0" rIns="90000" bIns="46800" rtlCol="0">
            <a:spAutoFit/>
          </a:bodyPr>
          <a:lstStyle/>
          <a:p>
            <a:r>
              <a:rPr lang="ko-KR" altLang="en-US" sz="1200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시계열 네트워크 진화</a:t>
            </a:r>
            <a:endParaRPr lang="ko-KR" altLang="en-US" sz="1200">
              <a:solidFill>
                <a:srgbClr val="F04444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FFC5812B-BE79-FA0B-3EFE-AEAA9B48B627}"/>
                  </a:ext>
                </a:extLst>
              </p:cNvPr>
              <p:cNvSpPr txBox="1"/>
              <p:nvPr/>
            </p:nvSpPr>
            <p:spPr>
              <a:xfrm>
                <a:off x="6447745" y="5820460"/>
                <a:ext cx="2324442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초기 </a:t>
                </a:r>
                <a14:m>
                  <m:oMath xmlns:m="http://schemas.openxmlformats.org/officeDocument/2006/math">
                    <m:r>
                      <a:rPr kumimoji="1" lang="en-US" altLang="ko-KR" sz="10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Light" panose="02000403000000020004" pitchFamily="50" charset="-127"/>
                      </a:rPr>
                      <m:t>→</m:t>
                    </m:r>
                  </m:oMath>
                </a14:m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 중기 </a:t>
                </a:r>
                <a14:m>
                  <m:oMath xmlns:m="http://schemas.openxmlformats.org/officeDocument/2006/math">
                    <m:r>
                      <a:rPr kumimoji="1" lang="en-US" altLang="ko-KR" sz="10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Light" panose="02000403000000020004" pitchFamily="50" charset="-127"/>
                      </a:rPr>
                      <m:t>→</m:t>
                    </m:r>
                  </m:oMath>
                </a14:m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  히트 단계별 구조 변화</a:t>
                </a: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FFC5812B-BE79-FA0B-3EFE-AEAA9B48B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745" y="5820460"/>
                <a:ext cx="2324442" cy="246221"/>
              </a:xfrm>
              <a:prstGeom prst="rect">
                <a:avLst/>
              </a:prstGeom>
              <a:blipFill>
                <a:blip r:embed="rId13"/>
                <a:stretch>
                  <a:fillRect b="-7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C3363B00-4137-13F5-18EC-1CF9B7B4611B}"/>
              </a:ext>
            </a:extLst>
          </p:cNvPr>
          <p:cNvSpPr/>
          <p:nvPr/>
        </p:nvSpPr>
        <p:spPr>
          <a:xfrm>
            <a:off x="6213931" y="6069578"/>
            <a:ext cx="2632576" cy="3899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0" bIns="0" rtlCol="0" anchor="ctr"/>
          <a:lstStyle/>
          <a:p>
            <a:pPr marL="171450" indent="-171450">
              <a:buFontTx/>
              <a:buChar char="-"/>
            </a:pPr>
            <a:r>
              <a:rPr kumimoji="1" lang="ko-KR" altLang="en-US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시기별 구간으로 네트워크 스냅샷 분리</a:t>
            </a:r>
            <a:endParaRPr kumimoji="1" lang="en-US" altLang="ko-KR" sz="900">
              <a:solidFill>
                <a:schemeClr val="bg2">
                  <a:lumMod val="25000"/>
                </a:schemeClr>
              </a:solidFill>
              <a:latin typeface="Freesentation 3 Light" pitchFamily="2" charset="-127"/>
              <a:ea typeface="Freesentation 3 Light" pitchFamily="2" charset="-127"/>
              <a:cs typeface="Pretendard" panose="02000503000000020004" pitchFamily="2" charset="-127"/>
            </a:endParaRPr>
          </a:p>
          <a:p>
            <a:pPr marL="171450" indent="-171450">
              <a:buFontTx/>
              <a:buChar char="-"/>
            </a:pPr>
            <a:r>
              <a:rPr kumimoji="1" lang="ko-KR" altLang="en-US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온라인</a:t>
            </a:r>
            <a:r>
              <a:rPr kumimoji="1" lang="en-US" altLang="ko-KR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앱 ∙</a:t>
            </a:r>
            <a:r>
              <a:rPr kumimoji="1" lang="en-US" altLang="ko-KR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 SNS) </a:t>
            </a:r>
            <a:r>
              <a:rPr kumimoji="1" lang="ko-KR" altLang="en-US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반응과 오프라인 </a:t>
            </a:r>
            <a:r>
              <a:rPr kumimoji="1" lang="ko-KR" altLang="en-US" sz="900" err="1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실매출</a:t>
            </a:r>
            <a:r>
              <a:rPr kumimoji="1" lang="ko-KR" altLang="en-US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 동적 가중 조정 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9DEF503-0287-BCBF-88BC-90DA03E6F888}"/>
              </a:ext>
            </a:extLst>
          </p:cNvPr>
          <p:cNvSpPr/>
          <p:nvPr/>
        </p:nvSpPr>
        <p:spPr>
          <a:xfrm>
            <a:off x="6251639" y="3880734"/>
            <a:ext cx="180000" cy="180000"/>
          </a:xfrm>
          <a:prstGeom prst="rect">
            <a:avLst/>
          </a:prstGeom>
          <a:solidFill>
            <a:srgbClr val="0C1F2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algn="ctr"/>
            <a:r>
              <a:rPr kumimoji="1" lang="en-US" altLang="ko-KR" sz="11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2</a:t>
            </a:r>
            <a:endParaRPr kumimoji="1" lang="ko-KR" altLang="en-US" sz="110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F9E189B-81B1-28D1-72C9-749E0E2A4354}"/>
              </a:ext>
            </a:extLst>
          </p:cNvPr>
          <p:cNvSpPr txBox="1"/>
          <p:nvPr/>
        </p:nvSpPr>
        <p:spPr>
          <a:xfrm>
            <a:off x="6447745" y="3880734"/>
            <a:ext cx="1010361" cy="231923"/>
          </a:xfrm>
          <a:prstGeom prst="rect">
            <a:avLst/>
          </a:prstGeom>
          <a:noFill/>
        </p:spPr>
        <p:txBody>
          <a:bodyPr wrap="none" tIns="0" rIns="90000" bIns="46800" rtlCol="0">
            <a:spAutoFit/>
          </a:bodyPr>
          <a:lstStyle/>
          <a:p>
            <a:r>
              <a:rPr lang="en-US" altLang="ko-KR" sz="1200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HGT</a:t>
            </a:r>
            <a:r>
              <a:rPr lang="ko-KR" altLang="en-US" sz="1200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 모델 학습</a:t>
            </a:r>
            <a:endParaRPr lang="ko-KR" altLang="en-US" sz="1200">
              <a:solidFill>
                <a:srgbClr val="F04444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A2ED7A7-EE1A-778E-2075-9318222F64DD}"/>
              </a:ext>
            </a:extLst>
          </p:cNvPr>
          <p:cNvSpPr txBox="1"/>
          <p:nvPr/>
        </p:nvSpPr>
        <p:spPr>
          <a:xfrm>
            <a:off x="6447745" y="4035055"/>
            <a:ext cx="23244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1000">
                <a:solidFill>
                  <a:schemeClr val="bg2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50" charset="-127"/>
              </a:rPr>
              <a:t>성공 경로 가중치 자동 학습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51A29A3D-6631-0AE5-DDF1-AA62230A216B}"/>
                  </a:ext>
                </a:extLst>
              </p:cNvPr>
              <p:cNvSpPr/>
              <p:nvPr/>
            </p:nvSpPr>
            <p:spPr>
              <a:xfrm>
                <a:off x="6213931" y="4284173"/>
                <a:ext cx="2632576" cy="38999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72000" tIns="0" rIns="0" bIns="0" rtlCol="0" anchor="ctr"/>
              <a:lstStyle/>
              <a:p>
                <a:pPr marL="171450" indent="-171450">
                  <a:buFontTx/>
                  <a:buChar char="-"/>
                </a:pPr>
                <a:r>
                  <a:rPr kumimoji="1" lang="ko-KR" altLang="en-US" sz="900">
                    <a:solidFill>
                      <a:schemeClr val="bg2">
                        <a:lumMod val="25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노드 유형별 방식으로 정보를 주고받는 그래프 학습 모델 적용</a:t>
                </a:r>
                <a:endParaRPr kumimoji="1" lang="en-US" altLang="ko-KR" sz="900">
                  <a:solidFill>
                    <a:schemeClr val="bg2">
                      <a:lumMod val="25000"/>
                    </a:schemeClr>
                  </a:solidFill>
                  <a:latin typeface="Freesentation 3 Light" pitchFamily="2" charset="-127"/>
                  <a:ea typeface="Freesentation 3 Light" pitchFamily="2" charset="-127"/>
                  <a:cs typeface="Pretendard" panose="02000503000000020004" pitchFamily="2" charset="-127"/>
                </a:endParaRPr>
              </a:p>
              <a:p>
                <a:pPr marL="171450" indent="-171450">
                  <a:buFontTx/>
                  <a:buChar char="-"/>
                </a:pPr>
                <a:r>
                  <a:rPr kumimoji="1" lang="ko-KR" altLang="en-US" sz="900">
                    <a:solidFill>
                      <a:schemeClr val="bg2">
                        <a:lumMod val="25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실제 매출 정답과 </a:t>
                </a:r>
                <a:r>
                  <a:rPr kumimoji="1" lang="ko-KR" altLang="en-US" sz="900" err="1">
                    <a:solidFill>
                      <a:schemeClr val="bg2">
                        <a:lumMod val="25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예측값</a:t>
                </a:r>
                <a:r>
                  <a:rPr kumimoji="1" lang="ko-KR" altLang="en-US" sz="900">
                    <a:solidFill>
                      <a:schemeClr val="bg2">
                        <a:lumMod val="25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 비교</a:t>
                </a:r>
                <a:r>
                  <a:rPr kumimoji="1" lang="en-US" altLang="ko-KR" sz="900">
                    <a:solidFill>
                      <a:schemeClr val="bg2">
                        <a:lumMod val="25000"/>
                      </a:schemeClr>
                    </a:solidFill>
                    <a:ea typeface="Cambria Math" panose="02040503050406030204" pitchFamily="18" charset="0"/>
                    <a:cs typeface="Pretendard Light" panose="02000403000000020004" pitchFamily="50" charset="-127"/>
                  </a:rPr>
                  <a:t>:</a:t>
                </a:r>
                <a14:m>
                  <m:oMath xmlns:m="http://schemas.openxmlformats.org/officeDocument/2006/math">
                    <m:r>
                      <a:rPr kumimoji="1" lang="en-US" altLang="ko-KR" sz="900" i="1" dirty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Light" panose="02000403000000020004" pitchFamily="50" charset="-127"/>
                      </a:rPr>
                      <m:t> </m:t>
                    </m:r>
                  </m:oMath>
                </a14:m>
                <a:r>
                  <a:rPr kumimoji="1" lang="ko-KR" altLang="en-US" sz="900">
                    <a:solidFill>
                      <a:schemeClr val="bg2">
                        <a:lumMod val="25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오차 역방향 전파 활용</a:t>
                </a:r>
                <a:endParaRPr kumimoji="1" lang="en-US" altLang="ko-KR" sz="900">
                  <a:solidFill>
                    <a:schemeClr val="bg2">
                      <a:lumMod val="25000"/>
                    </a:schemeClr>
                  </a:solidFill>
                  <a:latin typeface="Freesentation 3 Light" pitchFamily="2" charset="-127"/>
                  <a:ea typeface="Cambria Math" panose="02040503050406030204" pitchFamily="18" charset="0"/>
                  <a:cs typeface="Pretendard Light" panose="02000403000000020004" pitchFamily="50" charset="-127"/>
                </a:endParaRPr>
              </a:p>
            </p:txBody>
          </p:sp>
        </mc:Choice>
        <mc:Fallback xmlns=""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51A29A3D-6631-0AE5-DDF1-AA62230A21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931" y="4284173"/>
                <a:ext cx="2632576" cy="389998"/>
              </a:xfrm>
              <a:prstGeom prst="rect">
                <a:avLst/>
              </a:prstGeom>
              <a:blipFill>
                <a:blip r:embed="rId14"/>
                <a:stretch>
                  <a:fillRect l="-231" t="-1538" r="-32333" b="-6154"/>
                </a:stretch>
              </a:blipFill>
              <a:ln w="63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1BE8F953-F5E2-FB77-7E45-CEE523235A86}"/>
              </a:ext>
            </a:extLst>
          </p:cNvPr>
          <p:cNvSpPr/>
          <p:nvPr/>
        </p:nvSpPr>
        <p:spPr>
          <a:xfrm>
            <a:off x="6251639" y="4773437"/>
            <a:ext cx="180000" cy="180000"/>
          </a:xfrm>
          <a:prstGeom prst="rect">
            <a:avLst/>
          </a:prstGeom>
          <a:solidFill>
            <a:srgbClr val="0C1F2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algn="ctr"/>
            <a:r>
              <a:rPr kumimoji="1" lang="en-US" altLang="ko-KR" sz="11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3</a:t>
            </a:r>
            <a:endParaRPr kumimoji="1" lang="ko-KR" altLang="en-US" sz="110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D8EC2F7-6FF7-193E-18BF-26EB21733389}"/>
              </a:ext>
            </a:extLst>
          </p:cNvPr>
          <p:cNvSpPr txBox="1"/>
          <p:nvPr/>
        </p:nvSpPr>
        <p:spPr>
          <a:xfrm>
            <a:off x="6447745" y="4773437"/>
            <a:ext cx="1528132" cy="231923"/>
          </a:xfrm>
          <a:prstGeom prst="rect">
            <a:avLst/>
          </a:prstGeom>
          <a:noFill/>
        </p:spPr>
        <p:txBody>
          <a:bodyPr wrap="none" tIns="0" rIns="90000" bIns="46800" rtlCol="0">
            <a:spAutoFit/>
          </a:bodyPr>
          <a:lstStyle/>
          <a:p>
            <a:r>
              <a:rPr lang="ko-KR" altLang="en-US" sz="1200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클러스터별 네트워크 분석</a:t>
            </a:r>
            <a:endParaRPr lang="ko-KR" altLang="en-US" sz="1200">
              <a:solidFill>
                <a:srgbClr val="F04444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73E534DF-A230-0BA7-3B63-17139AA1C966}"/>
                  </a:ext>
                </a:extLst>
              </p:cNvPr>
              <p:cNvSpPr txBox="1"/>
              <p:nvPr/>
            </p:nvSpPr>
            <p:spPr>
              <a:xfrm>
                <a:off x="6447745" y="4927758"/>
                <a:ext cx="2324442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지속 흥행 </a:t>
                </a:r>
                <a14:m>
                  <m:oMath xmlns:m="http://schemas.openxmlformats.org/officeDocument/2006/math">
                    <m:r>
                      <a:rPr kumimoji="1" lang="ko-KR" altLang="en-US" sz="10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프리젠테이션 3 Light" pitchFamily="2" charset="-127"/>
                        <a:cs typeface="Pretendard Light" panose="02000403000000020004" pitchFamily="50" charset="-127"/>
                      </a:rPr>
                      <m:t>∙</m:t>
                    </m:r>
                  </m:oMath>
                </a14:m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 단기 흥행 </a:t>
                </a:r>
                <a14:m>
                  <m:oMath xmlns:m="http://schemas.openxmlformats.org/officeDocument/2006/math">
                    <m:r>
                      <a:rPr kumimoji="1" lang="ko-KR" altLang="en-US" sz="10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프리젠테이션 3 Light" pitchFamily="2" charset="-127"/>
                        <a:cs typeface="Pretendard Light" panose="02000403000000020004" pitchFamily="50" charset="-127"/>
                      </a:rPr>
                      <m:t>∙</m:t>
                    </m:r>
                  </m:oMath>
                </a14:m>
                <a:r>
                  <a:rPr kumimoji="1" lang="ko-KR" altLang="en-US" sz="1000">
                    <a:solidFill>
                      <a:schemeClr val="bg2">
                        <a:lumMod val="50000"/>
                      </a:schemeClr>
                    </a:solidFill>
                    <a:latin typeface="프리젠테이션 3 Light" pitchFamily="2" charset="-127"/>
                    <a:ea typeface="프리젠테이션 3 Light" pitchFamily="2" charset="-127"/>
                    <a:cs typeface="Pretendard Light" panose="02000403000000020004" pitchFamily="50" charset="-127"/>
                  </a:rPr>
                  <a:t> 균일 수요 성공 패턴 비교</a:t>
                </a:r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73E534DF-A230-0BA7-3B63-17139AA1C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745" y="4927758"/>
                <a:ext cx="2324442" cy="246221"/>
              </a:xfrm>
              <a:prstGeom prst="rect">
                <a:avLst/>
              </a:prstGeom>
              <a:blipFill>
                <a:blip r:embed="rId15"/>
                <a:stretch>
                  <a:fillRect b="-70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7BD73E6D-EB9C-0092-B27F-C46F4B387576}"/>
                  </a:ext>
                </a:extLst>
              </p:cNvPr>
              <p:cNvSpPr/>
              <p:nvPr/>
            </p:nvSpPr>
            <p:spPr>
              <a:xfrm>
                <a:off x="6213931" y="5176876"/>
                <a:ext cx="2632576" cy="38999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72000" tIns="0" rIns="0" bIns="0" rtlCol="0" anchor="ctr"/>
              <a:lstStyle/>
              <a:p>
                <a:pPr marL="171450" indent="-171450">
                  <a:buFontTx/>
                  <a:buChar char="-"/>
                </a:pPr>
                <a:r>
                  <a:rPr kumimoji="1" lang="ko-KR" altLang="en-US" sz="900">
                    <a:solidFill>
                      <a:schemeClr val="bg2">
                        <a:lumMod val="25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유형별 핵심 연결 경로 비교 </a:t>
                </a:r>
                <a14:m>
                  <m:oMath xmlns:m="http://schemas.openxmlformats.org/officeDocument/2006/math">
                    <m:r>
                      <a:rPr kumimoji="1" lang="en-US" altLang="ko-KR" sz="900" i="1" dirty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Light" panose="02000403000000020004" pitchFamily="50" charset="-127"/>
                      </a:rPr>
                      <m:t>→ </m:t>
                    </m:r>
                    <m:r>
                      <a:rPr kumimoji="1" lang="en-US" altLang="ko-KR" sz="900" i="1" dirty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Light" panose="02000403000000020004" pitchFamily="50" charset="-127"/>
                      </a:rPr>
                      <m:t> </m:t>
                    </m:r>
                  </m:oMath>
                </a14:m>
                <a:r>
                  <a:rPr kumimoji="1" lang="ko-KR" altLang="en-US" sz="900">
                    <a:solidFill>
                      <a:schemeClr val="bg2">
                        <a:lumMod val="25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카테고리별 성공방정식 도출</a:t>
                </a:r>
                <a:endParaRPr kumimoji="1" lang="en-US" altLang="ko-KR" sz="900">
                  <a:solidFill>
                    <a:schemeClr val="bg2">
                      <a:lumMod val="25000"/>
                    </a:schemeClr>
                  </a:solidFill>
                  <a:latin typeface="Freesentation 3 Light" pitchFamily="2" charset="-127"/>
                  <a:ea typeface="Cambria Math" panose="02040503050406030204" pitchFamily="18" charset="0"/>
                  <a:cs typeface="Pretendard Light" panose="02000403000000020004" pitchFamily="50" charset="-127"/>
                </a:endParaRPr>
              </a:p>
            </p:txBody>
          </p:sp>
        </mc:Choice>
        <mc:Fallback xmlns=""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7BD73E6D-EB9C-0092-B27F-C46F4B3875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931" y="5176876"/>
                <a:ext cx="2632576" cy="389998"/>
              </a:xfrm>
              <a:prstGeom prst="rect">
                <a:avLst/>
              </a:prstGeom>
              <a:blipFill>
                <a:blip r:embed="rId16"/>
                <a:stretch>
                  <a:fillRect l="-231" r="-27714"/>
                </a:stretch>
              </a:blipFill>
              <a:ln w="63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0A3DC48B-9240-0499-9387-D2F34223935C}"/>
              </a:ext>
            </a:extLst>
          </p:cNvPr>
          <p:cNvSpPr/>
          <p:nvPr/>
        </p:nvSpPr>
        <p:spPr>
          <a:xfrm>
            <a:off x="9008849" y="2982626"/>
            <a:ext cx="180000" cy="180000"/>
          </a:xfrm>
          <a:prstGeom prst="rect">
            <a:avLst/>
          </a:prstGeom>
          <a:solidFill>
            <a:srgbClr val="0C1F2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algn="ctr"/>
            <a:r>
              <a:rPr kumimoji="1" lang="en-US" altLang="ko-KR" sz="11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1</a:t>
            </a:r>
            <a:endParaRPr kumimoji="1" lang="ko-KR" altLang="en-US" sz="110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645C5D7-8137-71CA-013C-E44043CF7A5B}"/>
              </a:ext>
            </a:extLst>
          </p:cNvPr>
          <p:cNvSpPr txBox="1"/>
          <p:nvPr/>
        </p:nvSpPr>
        <p:spPr>
          <a:xfrm>
            <a:off x="9204955" y="2982626"/>
            <a:ext cx="1322947" cy="231923"/>
          </a:xfrm>
          <a:prstGeom prst="rect">
            <a:avLst/>
          </a:prstGeom>
          <a:noFill/>
        </p:spPr>
        <p:txBody>
          <a:bodyPr wrap="none" tIns="0" rIns="90000" bIns="46800" rtlCol="0">
            <a:spAutoFit/>
          </a:bodyPr>
          <a:lstStyle/>
          <a:p>
            <a:r>
              <a:rPr lang="ko-KR" altLang="en-US" sz="1200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성공 이유 설명 레이어</a:t>
            </a:r>
            <a:endParaRPr lang="ko-KR" altLang="en-US" sz="1200">
              <a:solidFill>
                <a:srgbClr val="F04444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BED259C-B563-09AB-89C8-25CF5C20BBEB}"/>
              </a:ext>
            </a:extLst>
          </p:cNvPr>
          <p:cNvSpPr txBox="1"/>
          <p:nvPr/>
        </p:nvSpPr>
        <p:spPr>
          <a:xfrm>
            <a:off x="9204955" y="3136947"/>
            <a:ext cx="23244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1000">
                <a:solidFill>
                  <a:schemeClr val="bg2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50" charset="-127"/>
              </a:rPr>
              <a:t>모델 예측 근거를 사람이 읽을 수 있게 변환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직사각형 131">
                <a:extLst>
                  <a:ext uri="{FF2B5EF4-FFF2-40B4-BE49-F238E27FC236}">
                    <a16:creationId xmlns:a16="http://schemas.microsoft.com/office/drawing/2014/main" id="{7732BB68-B059-A359-A77B-AF60D9EA1A98}"/>
                  </a:ext>
                </a:extLst>
              </p:cNvPr>
              <p:cNvSpPr/>
              <p:nvPr/>
            </p:nvSpPr>
            <p:spPr>
              <a:xfrm>
                <a:off x="8971141" y="3386065"/>
                <a:ext cx="2558256" cy="38999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72000" tIns="0" rIns="0" bIns="0" rtlCol="0" anchor="ctr"/>
              <a:lstStyle/>
              <a:p>
                <a:pPr marL="171450" indent="-171450">
                  <a:buFontTx/>
                  <a:buChar char="-"/>
                </a:pPr>
                <a:r>
                  <a:rPr kumimoji="1" lang="ko-KR" altLang="en-US" sz="900">
                    <a:solidFill>
                      <a:schemeClr val="bg2">
                        <a:lumMod val="25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히트 예측에 기여한 경로별 영향도 자동 추출</a:t>
                </a:r>
                <a:endParaRPr kumimoji="1" lang="en-US" altLang="ko-KR" sz="900">
                  <a:solidFill>
                    <a:schemeClr val="bg2">
                      <a:lumMod val="25000"/>
                    </a:schemeClr>
                  </a:solidFill>
                  <a:latin typeface="Freesentation 3 Light" pitchFamily="2" charset="-127"/>
                  <a:ea typeface="Freesentation 3 Light" pitchFamily="2" charset="-127"/>
                  <a:cs typeface="Pretendard" panose="02000503000000020004" pitchFamily="2" charset="-127"/>
                </a:endParaRPr>
              </a:p>
              <a:p>
                <a:pPr marL="171450" indent="-171450">
                  <a:buFontTx/>
                  <a:buChar char="-"/>
                </a:pPr>
                <a:r>
                  <a:rPr kumimoji="1" lang="ko-KR" altLang="en-US" sz="900">
                    <a:solidFill>
                      <a:schemeClr val="bg2">
                        <a:lumMod val="25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부진 상품의 실패 원인 진단 </a:t>
                </a:r>
                <a14:m>
                  <m:oMath xmlns:m="http://schemas.openxmlformats.org/officeDocument/2006/math">
                    <m:r>
                      <a:rPr kumimoji="1" lang="en-US" altLang="ko-KR" sz="900" i="1" dirty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Light" panose="02000403000000020004" pitchFamily="50" charset="-127"/>
                      </a:rPr>
                      <m:t>→</m:t>
                    </m:r>
                  </m:oMath>
                </a14:m>
                <a:r>
                  <a:rPr kumimoji="1" lang="ko-KR" altLang="en-US" sz="900">
                    <a:solidFill>
                      <a:schemeClr val="bg2">
                        <a:lumMod val="25000"/>
                      </a:schemeClr>
                    </a:solidFill>
                    <a:latin typeface="Freesentation 3 Light" pitchFamily="2" charset="-127"/>
                    <a:ea typeface="Freesentation 3 Light" pitchFamily="2" charset="-127"/>
                    <a:cs typeface="Pretendard" panose="02000503000000020004" pitchFamily="2" charset="-127"/>
                  </a:rPr>
                  <a:t> 대체 트렌드 주입 경로 제시</a:t>
                </a:r>
              </a:p>
            </p:txBody>
          </p:sp>
        </mc:Choice>
        <mc:Fallback xmlns="">
          <p:sp>
            <p:nvSpPr>
              <p:cNvPr id="132" name="직사각형 131">
                <a:extLst>
                  <a:ext uri="{FF2B5EF4-FFF2-40B4-BE49-F238E27FC236}">
                    <a16:creationId xmlns:a16="http://schemas.microsoft.com/office/drawing/2014/main" id="{7732BB68-B059-A359-A77B-AF60D9EA1A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1141" y="3386065"/>
                <a:ext cx="2558256" cy="389998"/>
              </a:xfrm>
              <a:prstGeom prst="rect">
                <a:avLst/>
              </a:prstGeom>
              <a:blipFill>
                <a:blip r:embed="rId17"/>
                <a:stretch>
                  <a:fillRect l="-476" r="-29762" b="-6154"/>
                </a:stretch>
              </a:blipFill>
              <a:ln w="63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7C151AAD-B801-8E18-F0C4-A3742251F46D}"/>
              </a:ext>
            </a:extLst>
          </p:cNvPr>
          <p:cNvSpPr/>
          <p:nvPr/>
        </p:nvSpPr>
        <p:spPr>
          <a:xfrm>
            <a:off x="9008849" y="3875329"/>
            <a:ext cx="180000" cy="180000"/>
          </a:xfrm>
          <a:prstGeom prst="rect">
            <a:avLst/>
          </a:prstGeom>
          <a:solidFill>
            <a:srgbClr val="0C1F2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algn="ctr"/>
            <a:r>
              <a:rPr kumimoji="1" lang="en-US" altLang="ko-KR" sz="11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2</a:t>
            </a:r>
            <a:endParaRPr kumimoji="1" lang="ko-KR" altLang="en-US" sz="110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CC4BA10-4331-75CC-0069-FA85F6CF7ECA}"/>
              </a:ext>
            </a:extLst>
          </p:cNvPr>
          <p:cNvSpPr txBox="1"/>
          <p:nvPr/>
        </p:nvSpPr>
        <p:spPr>
          <a:xfrm>
            <a:off x="9204955" y="3875329"/>
            <a:ext cx="1672402" cy="231923"/>
          </a:xfrm>
          <a:prstGeom prst="rect">
            <a:avLst/>
          </a:prstGeom>
          <a:noFill/>
        </p:spPr>
        <p:txBody>
          <a:bodyPr wrap="none" tIns="0" rIns="90000" bIns="46800" rtlCol="0">
            <a:spAutoFit/>
          </a:bodyPr>
          <a:lstStyle/>
          <a:p>
            <a:r>
              <a:rPr lang="en-US" altLang="ko-KR" sz="1200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MD </a:t>
            </a:r>
            <a:r>
              <a:rPr lang="ko-KR" altLang="en-US" sz="1200">
                <a:solidFill>
                  <a:srgbClr val="0C1F2D"/>
                </a:solidFill>
                <a:latin typeface="프리젠테이션 6 SemiBold" pitchFamily="2" charset="-127"/>
                <a:ea typeface="프리젠테이션 6 SemiBold" pitchFamily="2" charset="-127"/>
              </a:rPr>
              <a:t>신상품 기획 시뮬레이터</a:t>
            </a:r>
            <a:endParaRPr lang="ko-KR" altLang="en-US" sz="1200">
              <a:solidFill>
                <a:srgbClr val="F04444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DB0F624-2135-42FE-B9B8-71A6AB3DCBBA}"/>
              </a:ext>
            </a:extLst>
          </p:cNvPr>
          <p:cNvSpPr txBox="1"/>
          <p:nvPr/>
        </p:nvSpPr>
        <p:spPr>
          <a:xfrm>
            <a:off x="9204955" y="4029650"/>
            <a:ext cx="23244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000">
                <a:solidFill>
                  <a:schemeClr val="bg2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50" charset="-127"/>
              </a:rPr>
              <a:t>3</a:t>
            </a:r>
            <a:r>
              <a:rPr kumimoji="1" lang="ko-KR" altLang="en-US" sz="1000">
                <a:solidFill>
                  <a:schemeClr val="bg2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50" charset="-127"/>
              </a:rPr>
              <a:t>종 산출물 실시간 제공 대시보드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316C9E5A-24AE-6269-401D-56B1B9640944}"/>
              </a:ext>
            </a:extLst>
          </p:cNvPr>
          <p:cNvSpPr/>
          <p:nvPr/>
        </p:nvSpPr>
        <p:spPr>
          <a:xfrm>
            <a:off x="8971141" y="4278768"/>
            <a:ext cx="2558256" cy="52527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0" bIns="0" rtlCol="0" anchor="ctr"/>
          <a:lstStyle/>
          <a:p>
            <a:pPr marL="171450" indent="-171450">
              <a:buFontTx/>
              <a:buChar char="-"/>
            </a:pPr>
            <a:r>
              <a:rPr kumimoji="1" lang="ko-KR" altLang="en-US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신제품 창조</a:t>
            </a:r>
            <a:r>
              <a:rPr kumimoji="1" lang="en-US" altLang="ko-KR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트렌드 ∙ 속성 조합 </a:t>
            </a:r>
            <a:r>
              <a:rPr kumimoji="1" lang="ko-KR" altLang="en-US" sz="900" err="1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역제안</a:t>
            </a:r>
            <a:r>
              <a:rPr kumimoji="1" lang="en-US" altLang="ko-KR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성공 확률 즉시 반영</a:t>
            </a:r>
            <a:endParaRPr kumimoji="1" lang="en-US" altLang="ko-KR" sz="900">
              <a:solidFill>
                <a:schemeClr val="bg2">
                  <a:lumMod val="25000"/>
                </a:schemeClr>
              </a:solidFill>
              <a:latin typeface="Freesentation 3 Light" pitchFamily="2" charset="-127"/>
              <a:ea typeface="Freesentation 3 Light" pitchFamily="2" charset="-127"/>
              <a:cs typeface="Pretendard" panose="02000503000000020004" pitchFamily="2" charset="-127"/>
            </a:endParaRPr>
          </a:p>
          <a:p>
            <a:pPr marL="171450" indent="-171450">
              <a:buFontTx/>
              <a:buChar char="-"/>
            </a:pPr>
            <a:r>
              <a:rPr kumimoji="1" lang="ko-KR" altLang="en-US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히트 파생형</a:t>
            </a:r>
            <a:r>
              <a:rPr kumimoji="1" lang="en-US" altLang="ko-KR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잘 팔리는 상품 뼈대에 신규 트렌드 접목</a:t>
            </a:r>
            <a:endParaRPr kumimoji="1" lang="en-US" altLang="ko-KR" sz="900">
              <a:solidFill>
                <a:schemeClr val="bg2">
                  <a:lumMod val="25000"/>
                </a:schemeClr>
              </a:solidFill>
              <a:latin typeface="Freesentation 3 Light" pitchFamily="2" charset="-127"/>
              <a:ea typeface="Freesentation 3 Light" pitchFamily="2" charset="-127"/>
              <a:cs typeface="Pretendard" panose="02000503000000020004" pitchFamily="2" charset="-127"/>
            </a:endParaRPr>
          </a:p>
          <a:p>
            <a:pPr marL="171450" indent="-171450">
              <a:buFontTx/>
              <a:buChar char="-"/>
            </a:pPr>
            <a:r>
              <a:rPr kumimoji="1" lang="ko-KR" altLang="en-US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부진 리뉴얼</a:t>
            </a:r>
            <a:r>
              <a:rPr kumimoji="1" lang="en-US" altLang="ko-KR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900">
                <a:solidFill>
                  <a:schemeClr val="bg2">
                    <a:lumMod val="25000"/>
                  </a:schemeClr>
                </a:solidFill>
                <a:latin typeface="Freesentation 3 Light" pitchFamily="2" charset="-127"/>
                <a:ea typeface="Freesentation 3 Light" pitchFamily="2" charset="-127"/>
                <a:cs typeface="Pretendard" panose="02000503000000020004" pitchFamily="2" charset="-127"/>
              </a:rPr>
              <a:t>실패 원인 속성 제거 후 대체 요소 추천</a:t>
            </a:r>
          </a:p>
        </p:txBody>
      </p:sp>
    </p:spTree>
    <p:extLst>
      <p:ext uri="{BB962C8B-B14F-4D97-AF65-F5344CB8AC3E}">
        <p14:creationId xmlns:p14="http://schemas.microsoft.com/office/powerpoint/2010/main" val="1557086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1870</Words>
  <Application>Microsoft Office PowerPoint</Application>
  <PresentationFormat>와이드스크린</PresentationFormat>
  <Paragraphs>377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7" baseType="lpstr">
      <vt:lpstr>Freesentation 3 Light</vt:lpstr>
      <vt:lpstr>Freesentation 4 Regular</vt:lpstr>
      <vt:lpstr>Freesentation 6 SemiBold</vt:lpstr>
      <vt:lpstr>맑은 고딕</vt:lpstr>
      <vt:lpstr>프리젠테이션 3 Light</vt:lpstr>
      <vt:lpstr>프리젠테이션 4 Regular</vt:lpstr>
      <vt:lpstr>프리젠테이션 5 Medium</vt:lpstr>
      <vt:lpstr>프리젠테이션 6 SemiBold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송정현</dc:creator>
  <cp:lastModifiedBy>송정현</cp:lastModifiedBy>
  <cp:revision>1</cp:revision>
  <dcterms:created xsi:type="dcterms:W3CDTF">2026-08-29T00:33:38Z</dcterms:created>
  <dcterms:modified xsi:type="dcterms:W3CDTF">2026-08-29T00:51:04Z</dcterms:modified>
</cp:coreProperties>
</file>